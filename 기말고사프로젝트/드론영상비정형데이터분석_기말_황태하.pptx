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6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74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embeddedFontLst>
    <p:embeddedFont>
      <p:font typeface="Noto Sans KR" panose="020B0200000000000000" pitchFamily="50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858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3DE2-9EED-C070-01E4-31729A12E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4EB9C-0DC4-2C69-CB0B-2672D7401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90096-D98C-B64B-AA5E-0F01D9706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EB269-DDF3-0E6A-649C-B6C559F420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94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C1729-5317-4B29-9569-BC3442BA6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F4D4C-16AF-A946-9A83-5261DDD99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6463B-FC75-D5F3-A575-820061E5D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988FE-E072-E0CF-371F-508E64EC2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74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C39A4-7DCD-7AEB-CFA9-E43EB6A77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49FFF3-7A77-797C-E21F-24BA577D0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996D7-080D-86F8-3147-6E482D6B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E2EB2-81F1-F4D8-4402-7144732E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9B569B-A66E-1903-94DB-BAE983F8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3349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9EEF7-0882-3BFF-0F05-AC01CC9E7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8EB0A6-7403-D5D1-5710-6E9D97961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6AE6F-EE0D-45BD-5ACB-45514730F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777693-E867-F39A-92D8-C67B074A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2FBDA-A114-76ED-3993-465F6411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76953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6D5AB-273B-5A13-A486-1B1B1AD9B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218E08-A3FC-D6DB-0F68-4CA630257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B3DC16-D759-6805-B3E0-F87DD324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B7A200-932D-4599-926E-8CAC386B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A43B21-F3F4-AD70-C53F-B3F72B4E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2287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D4FA8A-6C06-99A6-5246-22318B45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CCF7E8-3CB0-3104-41CB-62B7737D2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156C3F-E5BC-769A-C031-6B6BAE01D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BF75FD-8C50-8D02-A1DC-B94D1F4A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1C296A-B403-8735-9D39-AF9049B4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BBF72C-147D-C0BE-399C-ED47860A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3560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BC18A-A803-4CF4-AC5E-69E19D6C5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525E5D-D73C-DD24-DE5D-0BA0BF0F8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932A3D-D95A-5D94-7BAE-D3466EB13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E81B14-0EE0-EBC9-7754-B6D81142E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F0D984-E261-C2A7-DA59-CB6265653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8DC783-95A2-905A-958C-CEE46534C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85BAD6-762B-DC1D-2FAF-517E79D08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51B513-3BC8-8178-1271-EEB494360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0913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858A4-71F6-9711-7AFA-27FFEEBA2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D7C5C5-1558-3378-243D-4A522A2B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194963-9E53-B27B-3D55-D4CFBC87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32321-2236-EE63-F6F1-1FA436DE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4623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13402E-6BA9-73EA-DF60-E5A78510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A534CDE-3C10-8E8E-2DA7-07DFCC78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91A2BF-C2E7-8404-C93E-C68913FC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1553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DA8E9-2BB9-44F9-3172-DC6C4A54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5DF358-7C83-EDDA-1312-EB7B0F249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C28F71-085B-E302-8C3B-52AE172FF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164F30-BB2D-E253-8500-A7CC2A67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693082-042E-3267-5C5B-8B2F8B50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62ABEA-DFE7-49A5-EF92-4FA12145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4552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7EF5A-CE46-4469-E615-B670486B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F02596-1467-3680-955F-BAB9DE895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E31582-CCAB-634E-FCBF-C31303E21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B303F1-0BD4-F51B-AA3A-A490ABF6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8F9B1C-3C63-DB09-74D5-AC7FE495B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87A3A2-1B78-D88C-38B8-FA167A468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4611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6A852-12CB-6A36-8861-98B8DBB6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F50C1C-39DC-0066-2DCA-F13C042E0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A449D-8298-53F1-E1D9-482032F6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045E09-B3E4-4FB6-9D00-08956C229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F00022-826C-3EC4-30E6-C0A5E7D7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0262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E1A8861-6C38-9F3E-7728-B28A19471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03E6C2-0C2A-FC5F-6247-7F53C103C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B71E99-65CE-93C9-88BB-7414AB0EC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8C8B2E-3888-2D43-7E8B-03AFE3B67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4B8573-78E2-C7FA-B289-D89E3F03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1290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76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BFD29D-60CB-D3EB-5E9C-59EACF9CD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3E48FD-D820-E3A8-D257-E1C210F0D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32468C-C35D-176D-0E68-27CF16EA58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7705B-7874-498D-B54F-B34BDFBCAED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2B8519-0E22-7664-E4CD-7CEAF6343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5C63A5-D0C6-9031-FBE7-4234478B6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E0A7F-AEE1-4D43-B323-FA363C5A75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739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7.png"/><Relationship Id="rId5" Type="http://schemas.openxmlformats.org/officeDocument/2006/relationships/image" Target="../media/image6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28.png"/><Relationship Id="rId5" Type="http://schemas.openxmlformats.org/officeDocument/2006/relationships/image" Target="../media/image6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7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6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55.png"/><Relationship Id="rId5" Type="http://schemas.openxmlformats.org/officeDocument/2006/relationships/image" Target="../media/image7.png"/><Relationship Id="rId10" Type="http://schemas.openxmlformats.org/officeDocument/2006/relationships/image" Target="../media/image54.png"/><Relationship Id="rId4" Type="http://schemas.openxmlformats.org/officeDocument/2006/relationships/image" Target="../media/image6.png"/><Relationship Id="rId9" Type="http://schemas.openxmlformats.org/officeDocument/2006/relationships/image" Target="../media/image53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1.png"/><Relationship Id="rId21" Type="http://schemas.openxmlformats.org/officeDocument/2006/relationships/image" Target="../media/image72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5" Type="http://schemas.openxmlformats.org/officeDocument/2006/relationships/image" Target="../media/image6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2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84.png"/><Relationship Id="rId5" Type="http://schemas.openxmlformats.org/officeDocument/2006/relationships/image" Target="../media/image6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19" Type="http://schemas.openxmlformats.org/officeDocument/2006/relationships/image" Target="../media/image92.png"/><Relationship Id="rId4" Type="http://schemas.openxmlformats.org/officeDocument/2006/relationships/image" Target="../media/image2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1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98.png"/><Relationship Id="rId5" Type="http://schemas.openxmlformats.org/officeDocument/2006/relationships/image" Target="../media/image6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2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2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7.png"/><Relationship Id="rId10" Type="http://schemas.openxmlformats.org/officeDocument/2006/relationships/image" Target="../media/image107.png"/><Relationship Id="rId4" Type="http://schemas.openxmlformats.org/officeDocument/2006/relationships/image" Target="../media/image6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16.png"/><Relationship Id="rId5" Type="http://schemas.openxmlformats.org/officeDocument/2006/relationships/image" Target="../media/image6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2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3" Type="http://schemas.openxmlformats.org/officeDocument/2006/relationships/image" Target="../media/image1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6.png"/><Relationship Id="rId5" Type="http://schemas.openxmlformats.org/officeDocument/2006/relationships/image" Target="../media/image6.png"/><Relationship Id="rId15" Type="http://schemas.openxmlformats.org/officeDocument/2006/relationships/image" Target="../media/image130.png"/><Relationship Id="rId10" Type="http://schemas.openxmlformats.org/officeDocument/2006/relationships/image" Target="../media/image125.png"/><Relationship Id="rId4" Type="http://schemas.openxmlformats.org/officeDocument/2006/relationships/image" Target="../media/image2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2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1.png"/><Relationship Id="rId5" Type="http://schemas.openxmlformats.org/officeDocument/2006/relationships/image" Target="../media/image7.png"/><Relationship Id="rId10" Type="http://schemas.openxmlformats.org/officeDocument/2006/relationships/image" Target="../media/image134.png"/><Relationship Id="rId4" Type="http://schemas.openxmlformats.org/officeDocument/2006/relationships/image" Target="../media/image6.png"/><Relationship Id="rId9" Type="http://schemas.openxmlformats.org/officeDocument/2006/relationships/image" Target="../media/image1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3" Type="http://schemas.openxmlformats.org/officeDocument/2006/relationships/image" Target="../media/image2.png"/><Relationship Id="rId21" Type="http://schemas.openxmlformats.org/officeDocument/2006/relationships/image" Target="../media/image78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5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7.png"/><Relationship Id="rId15" Type="http://schemas.openxmlformats.org/officeDocument/2006/relationships/image" Target="../media/image144.png"/><Relationship Id="rId23" Type="http://schemas.openxmlformats.org/officeDocument/2006/relationships/image" Target="../media/image150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4" Type="http://schemas.openxmlformats.org/officeDocument/2006/relationships/image" Target="../media/image6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2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7.png"/><Relationship Id="rId10" Type="http://schemas.openxmlformats.org/officeDocument/2006/relationships/image" Target="../media/image155.png"/><Relationship Id="rId4" Type="http://schemas.openxmlformats.org/officeDocument/2006/relationships/image" Target="../media/image6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18" Type="http://schemas.openxmlformats.org/officeDocument/2006/relationships/image" Target="../media/image171.png"/><Relationship Id="rId26" Type="http://schemas.openxmlformats.org/officeDocument/2006/relationships/image" Target="../media/image179.png"/><Relationship Id="rId3" Type="http://schemas.openxmlformats.org/officeDocument/2006/relationships/image" Target="../media/image1.png"/><Relationship Id="rId21" Type="http://schemas.openxmlformats.org/officeDocument/2006/relationships/image" Target="../media/image174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5" Type="http://schemas.openxmlformats.org/officeDocument/2006/relationships/image" Target="../media/image178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69.png"/><Relationship Id="rId20" Type="http://schemas.openxmlformats.org/officeDocument/2006/relationships/image" Target="../media/image173.png"/><Relationship Id="rId29" Type="http://schemas.openxmlformats.org/officeDocument/2006/relationships/image" Target="../media/image18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64.png"/><Relationship Id="rId24" Type="http://schemas.openxmlformats.org/officeDocument/2006/relationships/image" Target="../media/image177.png"/><Relationship Id="rId5" Type="http://schemas.openxmlformats.org/officeDocument/2006/relationships/image" Target="../media/image6.png"/><Relationship Id="rId15" Type="http://schemas.openxmlformats.org/officeDocument/2006/relationships/image" Target="../media/image168.png"/><Relationship Id="rId23" Type="http://schemas.openxmlformats.org/officeDocument/2006/relationships/image" Target="../media/image176.png"/><Relationship Id="rId28" Type="http://schemas.openxmlformats.org/officeDocument/2006/relationships/image" Target="../media/image181.png"/><Relationship Id="rId10" Type="http://schemas.openxmlformats.org/officeDocument/2006/relationships/image" Target="../media/image163.png"/><Relationship Id="rId19" Type="http://schemas.openxmlformats.org/officeDocument/2006/relationships/image" Target="../media/image172.png"/><Relationship Id="rId31" Type="http://schemas.openxmlformats.org/officeDocument/2006/relationships/image" Target="../media/image184.png"/><Relationship Id="rId4" Type="http://schemas.openxmlformats.org/officeDocument/2006/relationships/image" Target="../media/image2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Relationship Id="rId22" Type="http://schemas.openxmlformats.org/officeDocument/2006/relationships/image" Target="../media/image175.png"/><Relationship Id="rId27" Type="http://schemas.openxmlformats.org/officeDocument/2006/relationships/image" Target="../media/image180.png"/><Relationship Id="rId30" Type="http://schemas.openxmlformats.org/officeDocument/2006/relationships/image" Target="../media/image1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" Type="http://schemas.openxmlformats.org/officeDocument/2006/relationships/image" Target="../media/image1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9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89.png"/><Relationship Id="rId5" Type="http://schemas.openxmlformats.org/officeDocument/2006/relationships/image" Target="../media/image6.png"/><Relationship Id="rId15" Type="http://schemas.openxmlformats.org/officeDocument/2006/relationships/image" Target="../media/image193.png"/><Relationship Id="rId10" Type="http://schemas.openxmlformats.org/officeDocument/2006/relationships/image" Target="../media/image188.png"/><Relationship Id="rId19" Type="http://schemas.openxmlformats.org/officeDocument/2006/relationships/image" Target="../media/image197.png"/><Relationship Id="rId4" Type="http://schemas.openxmlformats.org/officeDocument/2006/relationships/image" Target="../media/image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4.png"/><Relationship Id="rId18" Type="http://schemas.openxmlformats.org/officeDocument/2006/relationships/image" Target="../media/image209.png"/><Relationship Id="rId3" Type="http://schemas.openxmlformats.org/officeDocument/2006/relationships/image" Target="../media/image1.png"/><Relationship Id="rId7" Type="http://schemas.openxmlformats.org/officeDocument/2006/relationships/image" Target="../media/image198.png"/><Relationship Id="rId12" Type="http://schemas.openxmlformats.org/officeDocument/2006/relationships/image" Target="../media/image203.png"/><Relationship Id="rId17" Type="http://schemas.openxmlformats.org/officeDocument/2006/relationships/image" Target="../media/image208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0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202.png"/><Relationship Id="rId5" Type="http://schemas.openxmlformats.org/officeDocument/2006/relationships/image" Target="../media/image6.png"/><Relationship Id="rId15" Type="http://schemas.openxmlformats.org/officeDocument/2006/relationships/image" Target="../media/image206.png"/><Relationship Id="rId10" Type="http://schemas.openxmlformats.org/officeDocument/2006/relationships/image" Target="../media/image201.png"/><Relationship Id="rId4" Type="http://schemas.openxmlformats.org/officeDocument/2006/relationships/image" Target="../media/image2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7.png"/><Relationship Id="rId18" Type="http://schemas.openxmlformats.org/officeDocument/2006/relationships/image" Target="../media/image222.png"/><Relationship Id="rId3" Type="http://schemas.openxmlformats.org/officeDocument/2006/relationships/image" Target="../media/image2.png"/><Relationship Id="rId21" Type="http://schemas.openxmlformats.org/officeDocument/2006/relationships/image" Target="../media/image225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17" Type="http://schemas.openxmlformats.org/officeDocument/2006/relationships/image" Target="../media/image22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20.png"/><Relationship Id="rId20" Type="http://schemas.openxmlformats.org/officeDocument/2006/relationships/image" Target="../media/image2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5" Type="http://schemas.openxmlformats.org/officeDocument/2006/relationships/image" Target="../media/image7.png"/><Relationship Id="rId15" Type="http://schemas.openxmlformats.org/officeDocument/2006/relationships/image" Target="../media/image219.png"/><Relationship Id="rId10" Type="http://schemas.openxmlformats.org/officeDocument/2006/relationships/image" Target="../media/image214.png"/><Relationship Id="rId19" Type="http://schemas.openxmlformats.org/officeDocument/2006/relationships/image" Target="../media/image223.png"/><Relationship Id="rId4" Type="http://schemas.openxmlformats.org/officeDocument/2006/relationships/image" Target="../media/image6.png"/><Relationship Id="rId9" Type="http://schemas.openxmlformats.org/officeDocument/2006/relationships/image" Target="../media/image213.png"/><Relationship Id="rId14" Type="http://schemas.openxmlformats.org/officeDocument/2006/relationships/image" Target="../media/image2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https://agents-download.skywork.ai/image/ppt/7468933538407161857/33ed034456677f9723b072ff114d34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487067"/>
            <a:ext cx="57150" cy="1333500"/>
          </a:xfrm>
          <a:prstGeom prst="rect">
            <a:avLst/>
          </a:prstGeom>
        </p:spPr>
      </p:pic>
      <p:sp>
        <p:nvSpPr>
          <p:cNvPr id="7" name="SK-1-text-6"/>
          <p:cNvSpPr/>
          <p:nvPr/>
        </p:nvSpPr>
        <p:spPr>
          <a:xfrm>
            <a:off x="762000" y="2077492"/>
            <a:ext cx="77057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kern="0" spc="216" dirty="0">
                <a:solidFill>
                  <a:srgbClr val="00E5FF"/>
                </a:solidFill>
              </a:rPr>
              <a:t>AI BIG DATA ANALYSIS REPORT</a:t>
            </a:r>
            <a:endParaRPr lang="en-US" sz="1350" dirty="0"/>
          </a:p>
        </p:txBody>
      </p:sp>
      <p:sp>
        <p:nvSpPr>
          <p:cNvPr id="8" name="SK-1-text-7"/>
          <p:cNvSpPr/>
          <p:nvPr/>
        </p:nvSpPr>
        <p:spPr>
          <a:xfrm>
            <a:off x="1047750" y="2487067"/>
            <a:ext cx="5311229" cy="14248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10"/>
              </a:lnSpc>
              <a:buNone/>
            </a:pPr>
            <a:r>
              <a:rPr lang="en-US" sz="5100" b="1" kern="0" spc="-1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호르무즈 해협 해외</a:t>
            </a:r>
            <a:endParaRPr lang="en-US" sz="5100" dirty="0"/>
          </a:p>
          <a:p>
            <a:pPr marL="0" indent="0">
              <a:lnSpc>
                <a:spcPts val="5610"/>
              </a:lnSpc>
              <a:buNone/>
            </a:pPr>
            <a:r>
              <a:rPr lang="en-US" sz="5100" b="1" kern="0" spc="-1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언론보도 분석</a:t>
            </a:r>
            <a:endParaRPr lang="en-US" sz="5100" dirty="0"/>
          </a:p>
        </p:txBody>
      </p:sp>
      <p:sp>
        <p:nvSpPr>
          <p:cNvPr id="9" name="SK-1-text-8"/>
          <p:cNvSpPr/>
          <p:nvPr/>
        </p:nvSpPr>
        <p:spPr>
          <a:xfrm>
            <a:off x="1047750" y="4140547"/>
            <a:ext cx="6477000" cy="6399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지정학적 위기에 따른 글로벌 미디어 의제 실증 분석 및</a:t>
            </a:r>
            <a:endParaRPr lang="en-US" sz="1800" dirty="0"/>
          </a:p>
          <a:p>
            <a:pPr marL="0" indent="0">
              <a:lnSpc>
                <a:spcPts val="2520"/>
              </a:lnSpc>
              <a:buNone/>
            </a:pPr>
            <a:r>
              <a:rPr lang="en-US" sz="18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처리 기반 인텔리전스 보고서</a:t>
            </a:r>
            <a:endParaRPr lang="en-US" sz="1800" dirty="0"/>
          </a:p>
        </p:txBody>
      </p:sp>
      <p:sp>
        <p:nvSpPr>
          <p:cNvPr id="10" name="SK-1-text-9"/>
          <p:cNvSpPr/>
          <p:nvPr/>
        </p:nvSpPr>
        <p:spPr>
          <a:xfrm>
            <a:off x="1047749" y="5152763"/>
            <a:ext cx="1228725" cy="4022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AI </a:t>
            </a:r>
            <a:r>
              <a:rPr lang="ko-KR" altLang="en-US" sz="1200" b="1" dirty="0">
                <a:solidFill>
                  <a:schemeClr val="bg1"/>
                </a:solidFill>
              </a:rPr>
              <a:t>빅데이터 학과</a:t>
            </a:r>
            <a:endParaRPr lang="en-US" altLang="ko-KR" sz="1200" b="1" dirty="0">
              <a:solidFill>
                <a:schemeClr val="bg1"/>
              </a:solidFill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altLang="ko-KR" sz="1200" b="1" dirty="0">
                <a:solidFill>
                  <a:schemeClr val="bg1"/>
                </a:solidFill>
              </a:rPr>
              <a:t>20221393 </a:t>
            </a:r>
            <a:r>
              <a:rPr lang="ko-KR" altLang="en-US" sz="1200" b="1" dirty="0">
                <a:solidFill>
                  <a:schemeClr val="bg1"/>
                </a:solidFill>
              </a:rPr>
              <a:t>학번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sp>
        <p:nvSpPr>
          <p:cNvPr id="11" name="SK-1-text-10"/>
          <p:cNvSpPr/>
          <p:nvPr/>
        </p:nvSpPr>
        <p:spPr>
          <a:xfrm>
            <a:off x="1047750" y="5704954"/>
            <a:ext cx="9429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E5FF"/>
                </a:solidFill>
              </a:rPr>
              <a:t>황태하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7703"/>
            <a:ext cx="5410200" cy="1023938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235" y="1742289"/>
            <a:ext cx="457200" cy="457200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507703"/>
            <a:ext cx="5410200" cy="1023938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985" y="1741203"/>
            <a:ext cx="457200" cy="457200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750343"/>
            <a:ext cx="5410200" cy="1023938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35" y="2973963"/>
            <a:ext cx="457200" cy="457200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759540"/>
            <a:ext cx="5410200" cy="1023938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017060"/>
            <a:ext cx="457200" cy="457200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78786"/>
            <a:ext cx="5410200" cy="1023938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4255034"/>
            <a:ext cx="457200" cy="457200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979069"/>
            <a:ext cx="5410200" cy="1023938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4255034"/>
            <a:ext cx="457200" cy="457200"/>
          </a:xfrm>
          <a:prstGeom prst="rect">
            <a:avLst/>
          </a:prstGeom>
        </p:spPr>
      </p:pic>
      <p:pic>
        <p:nvPicPr>
          <p:cNvPr id="18" name="SK-2-img-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6467475"/>
            <a:ext cx="11049000" cy="390525"/>
          </a:xfrm>
          <a:prstGeom prst="rect">
            <a:avLst/>
          </a:prstGeom>
        </p:spPr>
      </p:pic>
      <p:sp>
        <p:nvSpPr>
          <p:cNvPr id="20" name="SK-2-text-19"/>
          <p:cNvSpPr/>
          <p:nvPr/>
        </p:nvSpPr>
        <p:spPr>
          <a:xfrm>
            <a:off x="723900" y="381000"/>
            <a:ext cx="35661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400" dirty="0"/>
          </a:p>
        </p:txBody>
      </p:sp>
      <p:sp>
        <p:nvSpPr>
          <p:cNvPr id="21" name="SK-2-text-20"/>
          <p:cNvSpPr/>
          <p:nvPr/>
        </p:nvSpPr>
        <p:spPr>
          <a:xfrm>
            <a:off x="723900" y="914400"/>
            <a:ext cx="114681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ko-KR" alt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보고서의 전반적인 흐름 명시</a:t>
            </a:r>
            <a:r>
              <a:rPr lang="ko-KR" altLang="en-US" sz="1350" dirty="0"/>
              <a:t> </a:t>
            </a:r>
            <a:endParaRPr lang="en-US" sz="1350" dirty="0"/>
          </a:p>
        </p:txBody>
      </p:sp>
      <p:sp>
        <p:nvSpPr>
          <p:cNvPr id="22" name="SK-2-text-21"/>
          <p:cNvSpPr/>
          <p:nvPr/>
        </p:nvSpPr>
        <p:spPr>
          <a:xfrm>
            <a:off x="866775" y="1833933"/>
            <a:ext cx="85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E5FF"/>
                </a:solidFill>
              </a:rPr>
              <a:t>01</a:t>
            </a:r>
            <a:endParaRPr lang="en-US" sz="1500" dirty="0"/>
          </a:p>
        </p:txBody>
      </p:sp>
      <p:sp>
        <p:nvSpPr>
          <p:cNvPr id="23" name="SK-2-text-22"/>
          <p:cNvSpPr/>
          <p:nvPr/>
        </p:nvSpPr>
        <p:spPr>
          <a:xfrm>
            <a:off x="1403985" y="1708626"/>
            <a:ext cx="337375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 및 연구 목적</a:t>
            </a:r>
            <a:endParaRPr lang="en-US" sz="1650" dirty="0"/>
          </a:p>
        </p:txBody>
      </p:sp>
      <p:sp>
        <p:nvSpPr>
          <p:cNvPr id="24" name="SK-2-text-23"/>
          <p:cNvSpPr/>
          <p:nvPr/>
        </p:nvSpPr>
        <p:spPr>
          <a:xfrm>
            <a:off x="1409700" y="2028792"/>
            <a:ext cx="4991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호르무즈 위기 개요 및 분석의 당위성</a:t>
            </a:r>
            <a:endParaRPr lang="en-US" sz="1125" dirty="0"/>
          </a:p>
        </p:txBody>
      </p:sp>
      <p:sp>
        <p:nvSpPr>
          <p:cNvPr id="25" name="SK-2-text-24"/>
          <p:cNvSpPr/>
          <p:nvPr/>
        </p:nvSpPr>
        <p:spPr>
          <a:xfrm>
            <a:off x="6505575" y="1818205"/>
            <a:ext cx="85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E5FF"/>
                </a:solidFill>
              </a:rPr>
              <a:t>02</a:t>
            </a:r>
            <a:endParaRPr lang="en-US" sz="1500" dirty="0"/>
          </a:p>
        </p:txBody>
      </p:sp>
      <p:sp>
        <p:nvSpPr>
          <p:cNvPr id="26" name="SK-2-text-25"/>
          <p:cNvSpPr/>
          <p:nvPr/>
        </p:nvSpPr>
        <p:spPr>
          <a:xfrm>
            <a:off x="7054180" y="1742289"/>
            <a:ext cx="412813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기간 및 타임라인</a:t>
            </a:r>
            <a:endParaRPr lang="en-US" sz="1650" dirty="0"/>
          </a:p>
        </p:txBody>
      </p:sp>
      <p:sp>
        <p:nvSpPr>
          <p:cNvPr id="27" name="SK-2-text-26"/>
          <p:cNvSpPr/>
          <p:nvPr/>
        </p:nvSpPr>
        <p:spPr>
          <a:xfrm>
            <a:off x="7054180" y="2056143"/>
            <a:ext cx="4191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대상 기간 설정 및 주요 지정학적 사건</a:t>
            </a:r>
            <a:endParaRPr lang="en-US" sz="1125" dirty="0"/>
          </a:p>
        </p:txBody>
      </p:sp>
      <p:sp>
        <p:nvSpPr>
          <p:cNvPr id="28" name="SK-2-text-27"/>
          <p:cNvSpPr/>
          <p:nvPr/>
        </p:nvSpPr>
        <p:spPr>
          <a:xfrm>
            <a:off x="861060" y="3052730"/>
            <a:ext cx="85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E5FF"/>
                </a:solidFill>
              </a:rPr>
              <a:t>03</a:t>
            </a:r>
            <a:endParaRPr lang="en-US" sz="1500" dirty="0"/>
          </a:p>
        </p:txBody>
      </p:sp>
      <p:sp>
        <p:nvSpPr>
          <p:cNvPr id="29" name="SK-2-text-28"/>
          <p:cNvSpPr/>
          <p:nvPr/>
        </p:nvSpPr>
        <p:spPr>
          <a:xfrm>
            <a:off x="1409700" y="2978370"/>
            <a:ext cx="412813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과정 및 알고리즘</a:t>
            </a:r>
            <a:endParaRPr lang="en-US" sz="1650" dirty="0"/>
          </a:p>
        </p:txBody>
      </p:sp>
      <p:sp>
        <p:nvSpPr>
          <p:cNvPr id="30" name="SK-2-text-29"/>
          <p:cNvSpPr/>
          <p:nvPr/>
        </p:nvSpPr>
        <p:spPr>
          <a:xfrm>
            <a:off x="1409700" y="3298302"/>
            <a:ext cx="4705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시간 분할 알고리즘을 통한 데이터 확보</a:t>
            </a:r>
            <a:endParaRPr lang="en-US" sz="1125" dirty="0"/>
          </a:p>
        </p:txBody>
      </p:sp>
      <p:sp>
        <p:nvSpPr>
          <p:cNvPr id="31" name="SK-2-text-30"/>
          <p:cNvSpPr/>
          <p:nvPr/>
        </p:nvSpPr>
        <p:spPr>
          <a:xfrm>
            <a:off x="6505575" y="3080054"/>
            <a:ext cx="85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E5FF"/>
                </a:solidFill>
              </a:rPr>
              <a:t>04</a:t>
            </a:r>
            <a:endParaRPr lang="en-US" sz="1500" dirty="0"/>
          </a:p>
        </p:txBody>
      </p:sp>
      <p:sp>
        <p:nvSpPr>
          <p:cNvPr id="32" name="SK-2-text-31"/>
          <p:cNvSpPr/>
          <p:nvPr/>
        </p:nvSpPr>
        <p:spPr>
          <a:xfrm>
            <a:off x="7054180" y="3023948"/>
            <a:ext cx="337375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파이프라인</a:t>
            </a:r>
            <a:endParaRPr lang="en-US" sz="1650" dirty="0"/>
          </a:p>
        </p:txBody>
      </p:sp>
      <p:sp>
        <p:nvSpPr>
          <p:cNvPr id="33" name="SK-2-text-32"/>
          <p:cNvSpPr/>
          <p:nvPr/>
        </p:nvSpPr>
        <p:spPr>
          <a:xfrm>
            <a:off x="7048500" y="3339712"/>
            <a:ext cx="4648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 기반 4단계 텍스트 정제 및 불용어 처리</a:t>
            </a:r>
            <a:endParaRPr lang="en-US" sz="1125" dirty="0"/>
          </a:p>
        </p:txBody>
      </p:sp>
      <p:sp>
        <p:nvSpPr>
          <p:cNvPr id="34" name="SK-2-text-33"/>
          <p:cNvSpPr/>
          <p:nvPr/>
        </p:nvSpPr>
        <p:spPr>
          <a:xfrm>
            <a:off x="838200" y="4332827"/>
            <a:ext cx="85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E5FF"/>
                </a:solidFill>
              </a:rPr>
              <a:t>05</a:t>
            </a:r>
            <a:endParaRPr lang="en-US" sz="1500" dirty="0"/>
          </a:p>
        </p:txBody>
      </p:sp>
      <p:sp>
        <p:nvSpPr>
          <p:cNvPr id="35" name="SK-2-text-34"/>
          <p:cNvSpPr/>
          <p:nvPr/>
        </p:nvSpPr>
        <p:spPr>
          <a:xfrm>
            <a:off x="1412558" y="4257741"/>
            <a:ext cx="312229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ko-KR" alt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분석 진행</a:t>
            </a:r>
            <a:endParaRPr lang="en-US" sz="1650" dirty="0"/>
          </a:p>
        </p:txBody>
      </p:sp>
      <p:sp>
        <p:nvSpPr>
          <p:cNvPr id="36" name="SK-2-text-35"/>
          <p:cNvSpPr/>
          <p:nvPr/>
        </p:nvSpPr>
        <p:spPr>
          <a:xfrm>
            <a:off x="1409700" y="4576657"/>
            <a:ext cx="3848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ko-KR" altLang="en-US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워드 클라우드부터 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N-gram </a:t>
            </a:r>
            <a:r>
              <a:rPr lang="ko-KR" altLang="en-US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분석까지 </a:t>
            </a:r>
            <a:endParaRPr lang="en-US" sz="1125" dirty="0"/>
          </a:p>
        </p:txBody>
      </p:sp>
      <p:sp>
        <p:nvSpPr>
          <p:cNvPr id="37" name="SK-2-text-36"/>
          <p:cNvSpPr/>
          <p:nvPr/>
        </p:nvSpPr>
        <p:spPr>
          <a:xfrm>
            <a:off x="6477000" y="4321577"/>
            <a:ext cx="85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E5FF"/>
                </a:solidFill>
              </a:rPr>
              <a:t>06</a:t>
            </a:r>
            <a:endParaRPr lang="en-US" sz="1500" dirty="0"/>
          </a:p>
        </p:txBody>
      </p:sp>
      <p:sp>
        <p:nvSpPr>
          <p:cNvPr id="38" name="SK-2-text-37"/>
          <p:cNvSpPr/>
          <p:nvPr/>
        </p:nvSpPr>
        <p:spPr>
          <a:xfrm>
            <a:off x="7054180" y="4258190"/>
            <a:ext cx="488251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475"/>
              </a:lnSpc>
            </a:pPr>
            <a:r>
              <a:rPr lang="en-US" altLang="ko-KR" sz="16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분석</a:t>
            </a:r>
            <a:r>
              <a:rPr lang="en-US" altLang="ko-KR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6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결과</a:t>
            </a:r>
            <a:r>
              <a:rPr lang="en-US" altLang="ko-KR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6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종합</a:t>
            </a:r>
            <a:r>
              <a:rPr lang="en-US" altLang="ko-KR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6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결론</a:t>
            </a:r>
            <a:endParaRPr lang="en-US" altLang="ko-KR" sz="165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9" name="SK-2-text-38"/>
          <p:cNvSpPr/>
          <p:nvPr/>
        </p:nvSpPr>
        <p:spPr>
          <a:xfrm>
            <a:off x="7048500" y="4572515"/>
            <a:ext cx="4191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군사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충돌에서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에너지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위기로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이어지는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핵심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발견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사항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요약</a:t>
            </a:r>
            <a:endParaRPr lang="en-US" altLang="ko-KR" sz="1125" dirty="0">
              <a:solidFill>
                <a:srgbClr val="718096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50" name="SK-2-img-13" descr="preencoded.png">
            <a:extLst>
              <a:ext uri="{FF2B5EF4-FFF2-40B4-BE49-F238E27FC236}">
                <a16:creationId xmlns:a16="http://schemas.microsoft.com/office/drawing/2014/main" id="{82AEE221-1EBD-453A-EDDB-414CAA3DB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65315"/>
            <a:ext cx="5410200" cy="1023938"/>
          </a:xfrm>
          <a:prstGeom prst="rect">
            <a:avLst/>
          </a:prstGeom>
        </p:spPr>
      </p:pic>
      <p:pic>
        <p:nvPicPr>
          <p:cNvPr id="51" name="SK-2-img-15" descr="preencoded.png">
            <a:extLst>
              <a:ext uri="{FF2B5EF4-FFF2-40B4-BE49-F238E27FC236}">
                <a16:creationId xmlns:a16="http://schemas.microsoft.com/office/drawing/2014/main" id="{D0E4CC9B-02AB-58BC-9976-3161AC817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5265315"/>
            <a:ext cx="5410200" cy="1023938"/>
          </a:xfrm>
          <a:prstGeom prst="rect">
            <a:avLst/>
          </a:prstGeom>
        </p:spPr>
      </p:pic>
      <p:pic>
        <p:nvPicPr>
          <p:cNvPr id="53" name="SK-2-img-14" descr="preencoded.png">
            <a:extLst>
              <a:ext uri="{FF2B5EF4-FFF2-40B4-BE49-F238E27FC236}">
                <a16:creationId xmlns:a16="http://schemas.microsoft.com/office/drawing/2014/main" id="{DF47C2F6-B75E-42D9-C526-B5D1B53332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5565277"/>
            <a:ext cx="457200" cy="457200"/>
          </a:xfrm>
          <a:prstGeom prst="rect">
            <a:avLst/>
          </a:prstGeom>
        </p:spPr>
      </p:pic>
      <p:sp>
        <p:nvSpPr>
          <p:cNvPr id="54" name="SK-2-text-33">
            <a:extLst>
              <a:ext uri="{FF2B5EF4-FFF2-40B4-BE49-F238E27FC236}">
                <a16:creationId xmlns:a16="http://schemas.microsoft.com/office/drawing/2014/main" id="{FBE53CA5-2996-0D97-4679-4AA0F375986A}"/>
              </a:ext>
            </a:extLst>
          </p:cNvPr>
          <p:cNvSpPr/>
          <p:nvPr/>
        </p:nvSpPr>
        <p:spPr>
          <a:xfrm>
            <a:off x="838200" y="5634409"/>
            <a:ext cx="85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E5FF"/>
                </a:solidFill>
              </a:rPr>
              <a:t>07</a:t>
            </a:r>
            <a:endParaRPr lang="en-US" sz="1500" dirty="0"/>
          </a:p>
        </p:txBody>
      </p:sp>
      <p:pic>
        <p:nvPicPr>
          <p:cNvPr id="55" name="SK-2-img-16" descr="preencoded.png">
            <a:extLst>
              <a:ext uri="{FF2B5EF4-FFF2-40B4-BE49-F238E27FC236}">
                <a16:creationId xmlns:a16="http://schemas.microsoft.com/office/drawing/2014/main" id="{3CAD7E97-CBA6-40DA-F889-D26E8306CD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5565277"/>
            <a:ext cx="457200" cy="457200"/>
          </a:xfrm>
          <a:prstGeom prst="rect">
            <a:avLst/>
          </a:prstGeom>
        </p:spPr>
      </p:pic>
      <p:sp>
        <p:nvSpPr>
          <p:cNvPr id="56" name="SK-2-text-36">
            <a:extLst>
              <a:ext uri="{FF2B5EF4-FFF2-40B4-BE49-F238E27FC236}">
                <a16:creationId xmlns:a16="http://schemas.microsoft.com/office/drawing/2014/main" id="{92F60F83-08B8-4E60-6858-990DF98E655B}"/>
              </a:ext>
            </a:extLst>
          </p:cNvPr>
          <p:cNvSpPr/>
          <p:nvPr/>
        </p:nvSpPr>
        <p:spPr>
          <a:xfrm>
            <a:off x="6477000" y="5637054"/>
            <a:ext cx="8572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E5FF"/>
                </a:solidFill>
              </a:rPr>
              <a:t>08</a:t>
            </a:r>
            <a:endParaRPr lang="en-US" sz="1500" dirty="0"/>
          </a:p>
        </p:txBody>
      </p:sp>
      <p:sp>
        <p:nvSpPr>
          <p:cNvPr id="57" name="SK-2-text-37">
            <a:extLst>
              <a:ext uri="{FF2B5EF4-FFF2-40B4-BE49-F238E27FC236}">
                <a16:creationId xmlns:a16="http://schemas.microsoft.com/office/drawing/2014/main" id="{19E8C899-36AA-F060-B46D-08119D596192}"/>
              </a:ext>
            </a:extLst>
          </p:cNvPr>
          <p:cNvSpPr/>
          <p:nvPr/>
        </p:nvSpPr>
        <p:spPr>
          <a:xfrm>
            <a:off x="1409700" y="5560996"/>
            <a:ext cx="488251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ko-KR" sz="1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정책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및 </a:t>
            </a:r>
            <a:r>
              <a:rPr lang="en-US" altLang="ko-KR" sz="1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산업적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활용</a:t>
            </a:r>
            <a:r>
              <a:rPr lang="en-US" altLang="ko-KR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방안</a:t>
            </a:r>
            <a:endParaRPr lang="en-US" altLang="ko-KR" sz="15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58" name="SK-2-text-35">
            <a:extLst>
              <a:ext uri="{FF2B5EF4-FFF2-40B4-BE49-F238E27FC236}">
                <a16:creationId xmlns:a16="http://schemas.microsoft.com/office/drawing/2014/main" id="{5AD49308-8CFD-3E4D-C6DD-44629E7075EE}"/>
              </a:ext>
            </a:extLst>
          </p:cNvPr>
          <p:cNvSpPr/>
          <p:nvPr/>
        </p:nvSpPr>
        <p:spPr>
          <a:xfrm>
            <a:off x="1400175" y="5875321"/>
            <a:ext cx="3848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외교안보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조기경보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및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에너지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물류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리스크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관리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모델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제언</a:t>
            </a:r>
            <a:endParaRPr lang="en-US" altLang="ko-KR" sz="1125" dirty="0">
              <a:solidFill>
                <a:srgbClr val="71809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59" name="SK-2-text-37">
            <a:extLst>
              <a:ext uri="{FF2B5EF4-FFF2-40B4-BE49-F238E27FC236}">
                <a16:creationId xmlns:a16="http://schemas.microsoft.com/office/drawing/2014/main" id="{2F2E22D0-5901-6084-F149-F72A78E6CFAB}"/>
              </a:ext>
            </a:extLst>
          </p:cNvPr>
          <p:cNvSpPr/>
          <p:nvPr/>
        </p:nvSpPr>
        <p:spPr>
          <a:xfrm>
            <a:off x="7048500" y="5560996"/>
            <a:ext cx="488251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ko-KR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</a:t>
            </a:r>
            <a:r>
              <a:rPr lang="en-US" altLang="ko-KR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</a:t>
            </a:r>
            <a:r>
              <a:rPr lang="en-US" altLang="ko-KR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</a:t>
            </a:r>
            <a:r>
              <a:rPr lang="en-US" altLang="ko-KR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r>
              <a:rPr lang="en-US" altLang="ko-KR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</a:t>
            </a:r>
            <a:endParaRPr lang="en-US" altLang="ko-KR" dirty="0"/>
          </a:p>
        </p:txBody>
      </p:sp>
      <p:sp>
        <p:nvSpPr>
          <p:cNvPr id="60" name="SK-2-text-38">
            <a:extLst>
              <a:ext uri="{FF2B5EF4-FFF2-40B4-BE49-F238E27FC236}">
                <a16:creationId xmlns:a16="http://schemas.microsoft.com/office/drawing/2014/main" id="{E4E90B95-4039-D21E-5865-6BFF709D9DCC}"/>
              </a:ext>
            </a:extLst>
          </p:cNvPr>
          <p:cNvSpPr/>
          <p:nvPr/>
        </p:nvSpPr>
        <p:spPr>
          <a:xfrm>
            <a:off x="7048500" y="5915320"/>
            <a:ext cx="4191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데이터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수집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제약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공유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및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감성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분석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등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향후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고도화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연구</a:t>
            </a:r>
            <a:r>
              <a:rPr lang="en-US" altLang="ko-KR" sz="112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125" dirty="0" err="1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</a:rPr>
              <a:t>계획</a:t>
            </a:r>
            <a:endParaRPr lang="en-US" altLang="ko-KR" sz="1125" dirty="0">
              <a:solidFill>
                <a:srgbClr val="718096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19250"/>
            <a:ext cx="285750" cy="228600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085975"/>
            <a:ext cx="5334000" cy="4572000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228850"/>
            <a:ext cx="952500" cy="238125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057525"/>
            <a:ext cx="800100" cy="238125"/>
          </a:xfrm>
          <a:prstGeom prst="rect">
            <a:avLst/>
          </a:prstGeom>
        </p:spPr>
      </p:pic>
      <p:pic>
        <p:nvPicPr>
          <p:cNvPr id="10" name="SK-4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886200"/>
            <a:ext cx="800100" cy="238125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619250"/>
            <a:ext cx="285750" cy="228600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2114550"/>
            <a:ext cx="5334000" cy="4543425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2295525"/>
            <a:ext cx="266700" cy="266700"/>
          </a:xfrm>
          <a:prstGeom prst="rect">
            <a:avLst/>
          </a:prstGeom>
        </p:spPr>
      </p:pic>
      <p:pic>
        <p:nvPicPr>
          <p:cNvPr id="16" name="SK-4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2948732"/>
            <a:ext cx="266700" cy="266700"/>
          </a:xfrm>
          <a:prstGeom prst="rect">
            <a:avLst/>
          </a:prstGeom>
        </p:spPr>
      </p:pic>
      <p:pic>
        <p:nvPicPr>
          <p:cNvPr id="17" name="SK-4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5100" y="3601938"/>
            <a:ext cx="266700" cy="266700"/>
          </a:xfrm>
          <a:prstGeom prst="rect">
            <a:avLst/>
          </a:prstGeom>
        </p:spPr>
      </p:pic>
      <p:pic>
        <p:nvPicPr>
          <p:cNvPr id="18" name="SK-4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4464695"/>
            <a:ext cx="4876800" cy="816173"/>
          </a:xfrm>
          <a:prstGeom prst="rect">
            <a:avLst/>
          </a:prstGeom>
        </p:spPr>
      </p:pic>
      <p:pic>
        <p:nvPicPr>
          <p:cNvPr id="19" name="SK-4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67500" y="4592687"/>
            <a:ext cx="178594" cy="148828"/>
          </a:xfrm>
          <a:prstGeom prst="rect">
            <a:avLst/>
          </a:prstGeom>
        </p:spPr>
      </p:pic>
      <p:sp>
        <p:nvSpPr>
          <p:cNvPr id="20" name="SK-4-text-19"/>
          <p:cNvSpPr/>
          <p:nvPr/>
        </p:nvSpPr>
        <p:spPr>
          <a:xfrm>
            <a:off x="723900" y="381000"/>
            <a:ext cx="49072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 및 연구 목적</a:t>
            </a:r>
            <a:endParaRPr lang="en-US" sz="2400" dirty="0"/>
          </a:p>
        </p:txBody>
      </p:sp>
      <p:sp>
        <p:nvSpPr>
          <p:cNvPr id="21" name="SK-4-text-20"/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미디어 의제에 대한 자연어 처리 기반 실증 분석</a:t>
            </a:r>
            <a:endParaRPr lang="en-US" sz="1350" dirty="0"/>
          </a:p>
        </p:txBody>
      </p:sp>
      <p:sp>
        <p:nvSpPr>
          <p:cNvPr id="22" name="SK-4-text-21"/>
          <p:cNvSpPr/>
          <p:nvPr/>
        </p:nvSpPr>
        <p:spPr>
          <a:xfrm>
            <a:off x="971550" y="1562100"/>
            <a:ext cx="29489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1.1 연구 배경</a:t>
            </a:r>
            <a:endParaRPr lang="en-US" sz="1800" dirty="0"/>
          </a:p>
        </p:txBody>
      </p:sp>
      <p:sp>
        <p:nvSpPr>
          <p:cNvPr id="23" name="SK-4-text-22"/>
          <p:cNvSpPr/>
          <p:nvPr/>
        </p:nvSpPr>
        <p:spPr>
          <a:xfrm>
            <a:off x="895350" y="2228850"/>
            <a:ext cx="2039112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2026.02.28</a:t>
            </a:r>
            <a:endParaRPr lang="en-US" sz="1050" dirty="0"/>
          </a:p>
        </p:txBody>
      </p:sp>
      <p:sp>
        <p:nvSpPr>
          <p:cNvPr id="24" name="SK-4-text-23"/>
          <p:cNvSpPr/>
          <p:nvPr/>
        </p:nvSpPr>
        <p:spPr>
          <a:xfrm>
            <a:off x="800100" y="2505075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미국·이스라엘의 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'에픽 퓨리 작전(Epic Fury)'</a:t>
            </a: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개시로 인한 이란과의 전면전 발발</a:t>
            </a:r>
            <a:endParaRPr lang="en-US" sz="1200" dirty="0"/>
          </a:p>
        </p:txBody>
      </p:sp>
      <p:sp>
        <p:nvSpPr>
          <p:cNvPr id="25" name="SK-4-text-24"/>
          <p:cNvSpPr/>
          <p:nvPr/>
        </p:nvSpPr>
        <p:spPr>
          <a:xfrm>
            <a:off x="895350" y="3057525"/>
            <a:ext cx="6858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보복 조치</a:t>
            </a:r>
            <a:endParaRPr lang="en-US" sz="1050" dirty="0"/>
          </a:p>
        </p:txBody>
      </p:sp>
      <p:sp>
        <p:nvSpPr>
          <p:cNvPr id="26" name="SK-4-text-25"/>
          <p:cNvSpPr/>
          <p:nvPr/>
        </p:nvSpPr>
        <p:spPr>
          <a:xfrm>
            <a:off x="800100" y="3333750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이란 혁명수비대(IRGC)의 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호르무즈 해협 봉쇄</a:t>
            </a: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선언 및 유조선·상선 공격 감행</a:t>
            </a:r>
            <a:endParaRPr lang="en-US" sz="1200" dirty="0"/>
          </a:p>
        </p:txBody>
      </p:sp>
      <p:sp>
        <p:nvSpPr>
          <p:cNvPr id="27" name="SK-4-text-26"/>
          <p:cNvSpPr/>
          <p:nvPr/>
        </p:nvSpPr>
        <p:spPr>
          <a:xfrm>
            <a:off x="895350" y="3886200"/>
            <a:ext cx="6858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파급 효과</a:t>
            </a:r>
            <a:endParaRPr lang="en-US" sz="1050" dirty="0"/>
          </a:p>
        </p:txBody>
      </p:sp>
      <p:sp>
        <p:nvSpPr>
          <p:cNvPr id="28" name="SK-4-text-27"/>
          <p:cNvSpPr/>
          <p:nvPr/>
        </p:nvSpPr>
        <p:spPr>
          <a:xfrm>
            <a:off x="800100" y="4162425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 원유 물동량의 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20~25% 마비</a:t>
            </a: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국제 유가 폭등 및 글로벌 공급망 붕괴 위기 초래</a:t>
            </a:r>
            <a:endParaRPr lang="en-US" sz="1200" dirty="0"/>
          </a:p>
        </p:txBody>
      </p:sp>
      <p:sp>
        <p:nvSpPr>
          <p:cNvPr id="30" name="SK-4-text-29"/>
          <p:cNvSpPr/>
          <p:nvPr/>
        </p:nvSpPr>
        <p:spPr>
          <a:xfrm>
            <a:off x="6686550" y="1562100"/>
            <a:ext cx="29489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 연구 목적</a:t>
            </a:r>
            <a:endParaRPr lang="en-US" sz="1800" dirty="0"/>
          </a:p>
        </p:txBody>
      </p:sp>
      <p:sp>
        <p:nvSpPr>
          <p:cNvPr id="31" name="SK-4-text-30"/>
          <p:cNvSpPr/>
          <p:nvPr/>
        </p:nvSpPr>
        <p:spPr>
          <a:xfrm>
            <a:off x="6577013" y="2295525"/>
            <a:ext cx="60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50" dirty="0"/>
          </a:p>
        </p:txBody>
      </p:sp>
      <p:sp>
        <p:nvSpPr>
          <p:cNvPr id="32" name="SK-4-text-31"/>
          <p:cNvSpPr/>
          <p:nvPr/>
        </p:nvSpPr>
        <p:spPr>
          <a:xfrm>
            <a:off x="6934200" y="2295525"/>
            <a:ext cx="2962275" cy="5008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뉴스 데이터 대량 수집 및 정량화NYT, WSJ, CNN, BBC 등 해외 주요 언론보도 수집</a:t>
            </a:r>
            <a:endParaRPr lang="en-US" sz="1275" dirty="0"/>
          </a:p>
        </p:txBody>
      </p:sp>
      <p:sp>
        <p:nvSpPr>
          <p:cNvPr id="33" name="SK-4-text-32"/>
          <p:cNvSpPr/>
          <p:nvPr/>
        </p:nvSpPr>
        <p:spPr>
          <a:xfrm>
            <a:off x="6562725" y="2948732"/>
            <a:ext cx="60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50" dirty="0"/>
          </a:p>
        </p:txBody>
      </p:sp>
      <p:sp>
        <p:nvSpPr>
          <p:cNvPr id="34" name="SK-4-text-33"/>
          <p:cNvSpPr/>
          <p:nvPr/>
        </p:nvSpPr>
        <p:spPr>
          <a:xfrm>
            <a:off x="6934200" y="2948732"/>
            <a:ext cx="3057525" cy="5008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처리(NLP) 기반 미디어 프레임 규명텍스트 마이닝, 군집화, 토픽 모델링 기법 적용</a:t>
            </a:r>
            <a:endParaRPr lang="en-US" sz="1275" dirty="0"/>
          </a:p>
        </p:txBody>
      </p:sp>
      <p:sp>
        <p:nvSpPr>
          <p:cNvPr id="35" name="SK-4-text-34"/>
          <p:cNvSpPr/>
          <p:nvPr/>
        </p:nvSpPr>
        <p:spPr>
          <a:xfrm>
            <a:off x="6562725" y="3601938"/>
            <a:ext cx="60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50" dirty="0"/>
          </a:p>
        </p:txBody>
      </p:sp>
      <p:sp>
        <p:nvSpPr>
          <p:cNvPr id="36" name="SK-4-text-35"/>
          <p:cNvSpPr/>
          <p:nvPr/>
        </p:nvSpPr>
        <p:spPr>
          <a:xfrm>
            <a:off x="6934200" y="3601938"/>
            <a:ext cx="3114675" cy="5008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지정학적 위기의 사회·경제적 파급효과 실증에너지 안보 위기 투영 양상 분석 및 정책적 대안 모색</a:t>
            </a:r>
            <a:endParaRPr lang="en-US" sz="1275" dirty="0"/>
          </a:p>
        </p:txBody>
      </p:sp>
      <p:sp>
        <p:nvSpPr>
          <p:cNvPr id="37" name="SK-4-text-36"/>
          <p:cNvSpPr/>
          <p:nvPr/>
        </p:nvSpPr>
        <p:spPr>
          <a:xfrm>
            <a:off x="6941344" y="4559945"/>
            <a:ext cx="4572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</a:t>
            </a:r>
            <a:endParaRPr lang="en-US" sz="1125" dirty="0"/>
          </a:p>
        </p:txBody>
      </p:sp>
      <p:sp>
        <p:nvSpPr>
          <p:cNvPr id="38" name="SK-4-text-37"/>
          <p:cNvSpPr/>
          <p:nvPr/>
        </p:nvSpPr>
        <p:spPr>
          <a:xfrm>
            <a:off x="6667500" y="4812357"/>
            <a:ext cx="4572000" cy="3732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기반의 객관적 분석을 통해 국제 분쟁이 글로벌 공급망과 안보 의제에 미치는 실질적 영향을 다각도로 조명함.</a:t>
            </a:r>
            <a:endParaRPr lang="en-US" sz="1050" dirty="0"/>
          </a:p>
        </p:txBody>
      </p:sp>
      <p:pic>
        <p:nvPicPr>
          <p:cNvPr id="39" name="SK-4-img-7" descr="preencoded.png">
            <a:extLst>
              <a:ext uri="{FF2B5EF4-FFF2-40B4-BE49-F238E27FC236}">
                <a16:creationId xmlns:a16="http://schemas.microsoft.com/office/drawing/2014/main" id="{2B3DC508-2116-6966-C74C-E903CE4006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819523"/>
            <a:ext cx="952500" cy="238125"/>
          </a:xfrm>
          <a:prstGeom prst="rect">
            <a:avLst/>
          </a:prstGeom>
        </p:spPr>
      </p:pic>
      <p:sp>
        <p:nvSpPr>
          <p:cNvPr id="40" name="SK-4-text-22">
            <a:extLst>
              <a:ext uri="{FF2B5EF4-FFF2-40B4-BE49-F238E27FC236}">
                <a16:creationId xmlns:a16="http://schemas.microsoft.com/office/drawing/2014/main" id="{75DD08A9-23C4-44B7-5C3B-4DB69045949C}"/>
              </a:ext>
            </a:extLst>
          </p:cNvPr>
          <p:cNvSpPr/>
          <p:nvPr/>
        </p:nvSpPr>
        <p:spPr>
          <a:xfrm>
            <a:off x="857250" y="4812357"/>
            <a:ext cx="2039112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75"/>
              </a:lnSpc>
            </a:pPr>
            <a:r>
              <a:rPr lang="en-US" sz="1050" dirty="0"/>
              <a:t> </a:t>
            </a:r>
            <a:r>
              <a:rPr lang="ko-KR" altLang="en-US" sz="1050" dirty="0">
                <a:solidFill>
                  <a:srgbClr val="00E5FF"/>
                </a:solidFill>
              </a:rPr>
              <a:t>피드백 반영</a:t>
            </a:r>
            <a:endParaRPr lang="en-US" altLang="ko-KR" sz="1050" dirty="0">
              <a:solidFill>
                <a:srgbClr val="00E5FF"/>
              </a:solidFill>
            </a:endParaRPr>
          </a:p>
        </p:txBody>
      </p:sp>
      <p:sp>
        <p:nvSpPr>
          <p:cNvPr id="41" name="SK-4-text-23">
            <a:extLst>
              <a:ext uri="{FF2B5EF4-FFF2-40B4-BE49-F238E27FC236}">
                <a16:creationId xmlns:a16="http://schemas.microsoft.com/office/drawing/2014/main" id="{6F0D4FE3-098C-70AB-1FC9-030266F9D773}"/>
              </a:ext>
            </a:extLst>
          </p:cNvPr>
          <p:cNvSpPr/>
          <p:nvPr/>
        </p:nvSpPr>
        <p:spPr>
          <a:xfrm>
            <a:off x="799086" y="5037921"/>
            <a:ext cx="4876800" cy="12455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중간고사 프로젝트에서 진행 된 연구는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네이버 블로그와 네이버 카페에서 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데이터를 수집하고 분석을 진행하였을 뿐더러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뉴스에서 데이터를 수집하지 않은 것은 주제에 맞지 않은 수집 채널이 아쉬웠던 프로젝트였음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è"/>
            </a:pP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구글 뉴스를 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크롤링하여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해외 언론들의 보도 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데이터를 수집함으로써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</a:t>
            </a:r>
          </a:p>
          <a:p>
            <a:pPr>
              <a:lnSpc>
                <a:spcPts val="180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국외 언론 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기반으로 분석을 진행</a:t>
            </a:r>
            <a:endParaRPr lang="en-US" sz="120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5010150" cy="5210175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538663"/>
            <a:ext cx="4629150" cy="1266825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6950" y="1504950"/>
            <a:ext cx="19050" cy="5210175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0275" y="1635919"/>
            <a:ext cx="114300" cy="114300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850" y="1578769"/>
            <a:ext cx="1295400" cy="238125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0275" y="2712244"/>
            <a:ext cx="114300" cy="114300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2655094"/>
            <a:ext cx="609600" cy="238125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3678436"/>
            <a:ext cx="130969" cy="110728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0275" y="3983831"/>
            <a:ext cx="114300" cy="114300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9850" y="3926681"/>
            <a:ext cx="838200" cy="238125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0275" y="5060156"/>
            <a:ext cx="114300" cy="114300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9850" y="5003006"/>
            <a:ext cx="609600" cy="238125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0275" y="5936456"/>
            <a:ext cx="114300" cy="114300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9850" y="5879306"/>
            <a:ext cx="381000" cy="238125"/>
          </a:xfrm>
          <a:prstGeom prst="rect">
            <a:avLst/>
          </a:prstGeom>
        </p:spPr>
      </p:pic>
      <p:sp>
        <p:nvSpPr>
          <p:cNvPr id="20" name="SK-5-text-19"/>
          <p:cNvSpPr/>
          <p:nvPr/>
        </p:nvSpPr>
        <p:spPr>
          <a:xfrm>
            <a:off x="723900" y="381000"/>
            <a:ext cx="71018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기간 및 주요 타임라인</a:t>
            </a:r>
            <a:endParaRPr lang="en-US" sz="2400" dirty="0"/>
          </a:p>
        </p:txBody>
      </p:sp>
      <p:sp>
        <p:nvSpPr>
          <p:cNvPr id="21" name="SK-5-text-20"/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상반기 지정학적 위기 고조에 따른 데이터 확보 범위 및 주요 사건 경과</a:t>
            </a:r>
            <a:endParaRPr lang="en-US" sz="1350" dirty="0"/>
          </a:p>
        </p:txBody>
      </p:sp>
      <p:sp>
        <p:nvSpPr>
          <p:cNvPr id="22" name="SK-5-text-21"/>
          <p:cNvSpPr/>
          <p:nvPr/>
        </p:nvSpPr>
        <p:spPr>
          <a:xfrm>
            <a:off x="571500" y="2414588"/>
            <a:ext cx="8839200" cy="942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7425"/>
              </a:lnSpc>
              <a:buNone/>
            </a:pPr>
            <a:r>
              <a:rPr lang="en-US" sz="8250" b="1" kern="0" spc="-330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8250" dirty="0"/>
          </a:p>
        </p:txBody>
      </p:sp>
      <p:sp>
        <p:nvSpPr>
          <p:cNvPr id="23" name="SK-5-text-22"/>
          <p:cNvSpPr/>
          <p:nvPr/>
        </p:nvSpPr>
        <p:spPr>
          <a:xfrm>
            <a:off x="571500" y="3471863"/>
            <a:ext cx="516636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kern="0" spc="28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JAN — MAY</a:t>
            </a:r>
            <a:endParaRPr lang="en-US" sz="3600" dirty="0"/>
          </a:p>
        </p:txBody>
      </p:sp>
      <p:sp>
        <p:nvSpPr>
          <p:cNvPr id="24" name="SK-5-text-23"/>
          <p:cNvSpPr/>
          <p:nvPr/>
        </p:nvSpPr>
        <p:spPr>
          <a:xfrm>
            <a:off x="762000" y="4729163"/>
            <a:ext cx="103632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PERIOD</a:t>
            </a:r>
            <a:endParaRPr lang="en-US" sz="1050" dirty="0"/>
          </a:p>
        </p:txBody>
      </p:sp>
      <p:sp>
        <p:nvSpPr>
          <p:cNvPr id="25" name="SK-5-text-24"/>
          <p:cNvSpPr/>
          <p:nvPr/>
        </p:nvSpPr>
        <p:spPr>
          <a:xfrm>
            <a:off x="1828800" y="4729163"/>
            <a:ext cx="623316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2026.01.01 ~ 2026.05.22</a:t>
            </a:r>
            <a:endParaRPr lang="en-US" sz="1200" dirty="0"/>
          </a:p>
        </p:txBody>
      </p:sp>
      <p:sp>
        <p:nvSpPr>
          <p:cNvPr id="26" name="SK-5-text-25"/>
          <p:cNvSpPr/>
          <p:nvPr/>
        </p:nvSpPr>
        <p:spPr>
          <a:xfrm>
            <a:off x="762000" y="5062538"/>
            <a:ext cx="119634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KEYWORD</a:t>
            </a:r>
            <a:endParaRPr lang="en-US" sz="1050" dirty="0"/>
          </a:p>
        </p:txBody>
      </p:sp>
      <p:sp>
        <p:nvSpPr>
          <p:cNvPr id="27" name="SK-5-text-26"/>
          <p:cNvSpPr/>
          <p:nvPr/>
        </p:nvSpPr>
        <p:spPr>
          <a:xfrm>
            <a:off x="1828800" y="5062538"/>
            <a:ext cx="336804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"Strait of Hormuz"</a:t>
            </a:r>
            <a:endParaRPr lang="en-US" sz="1200" dirty="0"/>
          </a:p>
        </p:txBody>
      </p:sp>
      <p:sp>
        <p:nvSpPr>
          <p:cNvPr id="28" name="SK-5-text-27"/>
          <p:cNvSpPr/>
          <p:nvPr/>
        </p:nvSpPr>
        <p:spPr>
          <a:xfrm>
            <a:off x="762000" y="5395913"/>
            <a:ext cx="103632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SOURCE</a:t>
            </a:r>
            <a:endParaRPr lang="en-US" sz="1050" dirty="0"/>
          </a:p>
        </p:txBody>
      </p:sp>
      <p:sp>
        <p:nvSpPr>
          <p:cNvPr id="29" name="SK-5-text-28"/>
          <p:cNvSpPr/>
          <p:nvPr/>
        </p:nvSpPr>
        <p:spPr>
          <a:xfrm>
            <a:off x="1828800" y="5395913"/>
            <a:ext cx="537972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News Global (RSS Feed)</a:t>
            </a:r>
            <a:endParaRPr lang="en-US" sz="1200" dirty="0"/>
          </a:p>
        </p:txBody>
      </p:sp>
      <p:sp>
        <p:nvSpPr>
          <p:cNvPr id="30" name="SK-5-text-29"/>
          <p:cNvSpPr/>
          <p:nvPr/>
        </p:nvSpPr>
        <p:spPr>
          <a:xfrm>
            <a:off x="6496050" y="1578769"/>
            <a:ext cx="2194112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JAN - FEB EARLY</a:t>
            </a:r>
            <a:endParaRPr lang="en-US" sz="1050" dirty="0"/>
          </a:p>
        </p:txBody>
      </p:sp>
      <p:sp>
        <p:nvSpPr>
          <p:cNvPr id="31" name="SK-5-text-30"/>
          <p:cNvSpPr/>
          <p:nvPr/>
        </p:nvSpPr>
        <p:spPr>
          <a:xfrm>
            <a:off x="6419850" y="1835944"/>
            <a:ext cx="52959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저강도 긴장 및 군사 자산 배치</a:t>
            </a:r>
            <a:endParaRPr lang="en-US" sz="1500" dirty="0"/>
          </a:p>
        </p:txBody>
      </p:sp>
      <p:sp>
        <p:nvSpPr>
          <p:cNvPr id="32" name="SK-5-text-31"/>
          <p:cNvSpPr/>
          <p:nvPr/>
        </p:nvSpPr>
        <p:spPr>
          <a:xfrm>
            <a:off x="6419850" y="2140744"/>
            <a:ext cx="5200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 항모 전단 중동 배치 및 이란 혁명수비대(IRGC)의 해협 봉쇄 훈련 실시로 인한 국지적 긴장 고조</a:t>
            </a:r>
            <a:endParaRPr lang="en-US" sz="1050" dirty="0"/>
          </a:p>
        </p:txBody>
      </p:sp>
      <p:sp>
        <p:nvSpPr>
          <p:cNvPr id="33" name="SK-5-text-32"/>
          <p:cNvSpPr/>
          <p:nvPr/>
        </p:nvSpPr>
        <p:spPr>
          <a:xfrm>
            <a:off x="6496050" y="2655094"/>
            <a:ext cx="95631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FEB 28</a:t>
            </a:r>
            <a:endParaRPr lang="en-US" sz="1050" dirty="0"/>
          </a:p>
        </p:txBody>
      </p:sp>
      <p:sp>
        <p:nvSpPr>
          <p:cNvPr id="34" name="SK-5-text-33"/>
          <p:cNvSpPr/>
          <p:nvPr/>
        </p:nvSpPr>
        <p:spPr>
          <a:xfrm>
            <a:off x="6419850" y="2912269"/>
            <a:ext cx="52959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'에픽 퓨리 작전' 개시 및 전면전 발발</a:t>
            </a:r>
            <a:endParaRPr lang="en-US" sz="1500" dirty="0"/>
          </a:p>
        </p:txBody>
      </p:sp>
      <p:sp>
        <p:nvSpPr>
          <p:cNvPr id="35" name="SK-5-text-34"/>
          <p:cNvSpPr/>
          <p:nvPr/>
        </p:nvSpPr>
        <p:spPr>
          <a:xfrm>
            <a:off x="6419850" y="3217069"/>
            <a:ext cx="5200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미·이스라엘의 이란 핵 시설 공습 및 이란 최고지도자 사망으로 인한 호르무즈 해협 위기 격발</a:t>
            </a:r>
            <a:endParaRPr lang="en-US" sz="1050" dirty="0"/>
          </a:p>
        </p:txBody>
      </p:sp>
      <p:sp>
        <p:nvSpPr>
          <p:cNvPr id="36" name="SK-5-text-35"/>
          <p:cNvSpPr/>
          <p:nvPr/>
        </p:nvSpPr>
        <p:spPr>
          <a:xfrm>
            <a:off x="6607969" y="3655219"/>
            <a:ext cx="52006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3B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MAJOR DATA SPIKE TRIGGER</a:t>
            </a:r>
            <a:endParaRPr lang="en-US" sz="825" dirty="0"/>
          </a:p>
        </p:txBody>
      </p:sp>
      <p:sp>
        <p:nvSpPr>
          <p:cNvPr id="37" name="SK-5-text-36"/>
          <p:cNvSpPr/>
          <p:nvPr/>
        </p:nvSpPr>
        <p:spPr>
          <a:xfrm>
            <a:off x="6496050" y="3926681"/>
            <a:ext cx="1254529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MAR - APR</a:t>
            </a:r>
            <a:endParaRPr lang="en-US" sz="1050" dirty="0"/>
          </a:p>
        </p:txBody>
      </p:sp>
      <p:sp>
        <p:nvSpPr>
          <p:cNvPr id="38" name="SK-5-text-37"/>
          <p:cNvSpPr/>
          <p:nvPr/>
        </p:nvSpPr>
        <p:spPr>
          <a:xfrm>
            <a:off x="6419850" y="4183856"/>
            <a:ext cx="52959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해협 봉쇄 선언 및 에너지 시장 마비</a:t>
            </a:r>
            <a:endParaRPr lang="en-US" sz="1500" dirty="0"/>
          </a:p>
        </p:txBody>
      </p:sp>
      <p:sp>
        <p:nvSpPr>
          <p:cNvPr id="39" name="SK-5-text-38"/>
          <p:cNvSpPr/>
          <p:nvPr/>
        </p:nvSpPr>
        <p:spPr>
          <a:xfrm>
            <a:off x="6419850" y="4488656"/>
            <a:ext cx="52006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이란의 공식 봉쇄 선언과 상선 공격 감행. 세계 원유 물동량 20% 차단으로 인한 국제 유가 폭등</a:t>
            </a:r>
            <a:endParaRPr lang="en-US" sz="1050" dirty="0"/>
          </a:p>
        </p:txBody>
      </p:sp>
      <p:sp>
        <p:nvSpPr>
          <p:cNvPr id="40" name="SK-5-text-39"/>
          <p:cNvSpPr/>
          <p:nvPr/>
        </p:nvSpPr>
        <p:spPr>
          <a:xfrm>
            <a:off x="6496050" y="5003006"/>
            <a:ext cx="95631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APR 08</a:t>
            </a:r>
            <a:endParaRPr lang="en-US" sz="1050" dirty="0"/>
          </a:p>
        </p:txBody>
      </p:sp>
      <p:sp>
        <p:nvSpPr>
          <p:cNvPr id="41" name="SK-5-text-40"/>
          <p:cNvSpPr/>
          <p:nvPr/>
        </p:nvSpPr>
        <p:spPr>
          <a:xfrm>
            <a:off x="6419850" y="5260181"/>
            <a:ext cx="52959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휴전 선언 및 협상 교착</a:t>
            </a:r>
            <a:endParaRPr lang="en-US" sz="1500" dirty="0"/>
          </a:p>
        </p:txBody>
      </p:sp>
      <p:sp>
        <p:nvSpPr>
          <p:cNvPr id="42" name="SK-5-text-41"/>
          <p:cNvSpPr/>
          <p:nvPr/>
        </p:nvSpPr>
        <p:spPr>
          <a:xfrm>
            <a:off x="6419850" y="5564981"/>
            <a:ext cx="5772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파키스탄 중재하에 2주간의 임시 휴전 합의. 이후 추가 협상의 난항으로 불확실성 지속</a:t>
            </a:r>
            <a:endParaRPr lang="en-US" sz="1050" dirty="0"/>
          </a:p>
        </p:txBody>
      </p:sp>
      <p:sp>
        <p:nvSpPr>
          <p:cNvPr id="43" name="SK-5-text-42"/>
          <p:cNvSpPr/>
          <p:nvPr/>
        </p:nvSpPr>
        <p:spPr>
          <a:xfrm>
            <a:off x="6496050" y="5879306"/>
            <a:ext cx="364236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MAY</a:t>
            </a:r>
            <a:endParaRPr lang="en-US" sz="1050" dirty="0"/>
          </a:p>
        </p:txBody>
      </p:sp>
      <p:sp>
        <p:nvSpPr>
          <p:cNvPr id="44" name="SK-5-text-43"/>
          <p:cNvSpPr/>
          <p:nvPr/>
        </p:nvSpPr>
        <p:spPr>
          <a:xfrm>
            <a:off x="6419850" y="6136481"/>
            <a:ext cx="52959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MOU 협상 진전 및 소강상태</a:t>
            </a:r>
            <a:endParaRPr lang="en-US" sz="1500" dirty="0"/>
          </a:p>
        </p:txBody>
      </p:sp>
      <p:sp>
        <p:nvSpPr>
          <p:cNvPr id="45" name="SK-5-text-44"/>
          <p:cNvSpPr/>
          <p:nvPr/>
        </p:nvSpPr>
        <p:spPr>
          <a:xfrm>
            <a:off x="6419850" y="6441281"/>
            <a:ext cx="5772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60일 휴전 및 MOU 체결 논의와 국지적 교전 재발이 혼재된 상태로 보도량 고지 유지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259" y="1657350"/>
            <a:ext cx="9525" cy="228600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152650"/>
            <a:ext cx="3581400" cy="2057400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47900"/>
            <a:ext cx="723900" cy="228600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8100" y="2297010"/>
            <a:ext cx="190500" cy="152400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762375"/>
            <a:ext cx="3352800" cy="352425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5300" y="2152650"/>
            <a:ext cx="3581400" cy="2057400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9600" y="2247900"/>
            <a:ext cx="723900" cy="228600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1900" y="2286000"/>
            <a:ext cx="190500" cy="152400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3762375"/>
            <a:ext cx="3352800" cy="352425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39100" y="2152650"/>
            <a:ext cx="3581400" cy="2057400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53400" y="2247900"/>
            <a:ext cx="723900" cy="228600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15700" y="2286000"/>
            <a:ext cx="190500" cy="152400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3400" y="3762375"/>
            <a:ext cx="3352800" cy="352425"/>
          </a:xfrm>
          <a:prstGeom prst="rect">
            <a:avLst/>
          </a:prstGeom>
        </p:spPr>
      </p:pic>
      <p:pic>
        <p:nvPicPr>
          <p:cNvPr id="26" name="SK-6-img-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4629151"/>
            <a:ext cx="5448300" cy="1714500"/>
          </a:xfrm>
          <a:prstGeom prst="rect">
            <a:avLst/>
          </a:prstGeom>
        </p:spPr>
      </p:pic>
      <p:pic>
        <p:nvPicPr>
          <p:cNvPr id="28" name="SK-6-img-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72200" y="4629151"/>
            <a:ext cx="5448300" cy="1714500"/>
          </a:xfrm>
          <a:prstGeom prst="rect">
            <a:avLst/>
          </a:prstGeom>
        </p:spPr>
      </p:pic>
      <p:sp>
        <p:nvSpPr>
          <p:cNvPr id="30" name="SK-6-text-29"/>
          <p:cNvSpPr/>
          <p:nvPr/>
        </p:nvSpPr>
        <p:spPr>
          <a:xfrm>
            <a:off x="723900" y="381000"/>
            <a:ext cx="746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과정 및 </a:t>
            </a:r>
            <a:r>
              <a:rPr lang="en-US" sz="2400" b="1" kern="0" spc="-38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</a:t>
            </a: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b="1" kern="0" spc="-38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</a:t>
            </a: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- 1</a:t>
            </a:r>
            <a:endParaRPr lang="en-US" sz="2400" dirty="0"/>
          </a:p>
        </p:txBody>
      </p:sp>
      <p:sp>
        <p:nvSpPr>
          <p:cNvPr id="31" name="SK-6-text-30"/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시간 분할 알고리즘을 통한 수집 데이터 누락 최소화 및 고품질 데이터셋 확보</a:t>
            </a:r>
            <a:endParaRPr lang="en-US" sz="1350" dirty="0"/>
          </a:p>
        </p:txBody>
      </p:sp>
      <p:sp>
        <p:nvSpPr>
          <p:cNvPr id="32" name="SK-6-text-31"/>
          <p:cNvSpPr/>
          <p:nvPr/>
        </p:nvSpPr>
        <p:spPr>
          <a:xfrm>
            <a:off x="571500" y="1733550"/>
            <a:ext cx="29565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42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DATASET SIZE</a:t>
            </a:r>
            <a:endParaRPr lang="en-US" sz="1050" dirty="0"/>
          </a:p>
        </p:txBody>
      </p:sp>
      <p:sp>
        <p:nvSpPr>
          <p:cNvPr id="33" name="SK-6-text-32"/>
          <p:cNvSpPr/>
          <p:nvPr/>
        </p:nvSpPr>
        <p:spPr>
          <a:xfrm>
            <a:off x="2091779" y="1543050"/>
            <a:ext cx="29565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0E5FF"/>
                </a:solidFill>
              </a:rPr>
              <a:t>5,824</a:t>
            </a:r>
            <a:endParaRPr lang="en-US" sz="2400" dirty="0"/>
          </a:p>
        </p:txBody>
      </p:sp>
      <p:sp>
        <p:nvSpPr>
          <p:cNvPr id="34" name="SK-6-text-33"/>
          <p:cNvSpPr/>
          <p:nvPr/>
        </p:nvSpPr>
        <p:spPr>
          <a:xfrm>
            <a:off x="3072854" y="1733550"/>
            <a:ext cx="13563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42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ARTICLES</a:t>
            </a:r>
            <a:endParaRPr lang="en-US" sz="1050" dirty="0"/>
          </a:p>
        </p:txBody>
      </p:sp>
      <p:sp>
        <p:nvSpPr>
          <p:cNvPr id="35" name="SK-6-text-34"/>
          <p:cNvSpPr/>
          <p:nvPr/>
        </p:nvSpPr>
        <p:spPr>
          <a:xfrm>
            <a:off x="4383584" y="1681163"/>
            <a:ext cx="24765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42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EFFICIENCY GAIN</a:t>
            </a:r>
            <a:endParaRPr lang="en-US" sz="1050" dirty="0"/>
          </a:p>
        </p:txBody>
      </p:sp>
      <p:sp>
        <p:nvSpPr>
          <p:cNvPr id="36" name="SK-6-text-35"/>
          <p:cNvSpPr/>
          <p:nvPr/>
        </p:nvSpPr>
        <p:spPr>
          <a:xfrm>
            <a:off x="5693271" y="1643063"/>
            <a:ext cx="152590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F5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+268%</a:t>
            </a:r>
            <a:endParaRPr lang="en-US" sz="1350" dirty="0"/>
          </a:p>
        </p:txBody>
      </p:sp>
      <p:sp>
        <p:nvSpPr>
          <p:cNvPr id="37" name="SK-6-text-36"/>
          <p:cNvSpPr/>
          <p:nvPr/>
        </p:nvSpPr>
        <p:spPr>
          <a:xfrm>
            <a:off x="6369546" y="1681163"/>
            <a:ext cx="29565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42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WEEKLY BASELINE</a:t>
            </a:r>
            <a:endParaRPr lang="en-US" sz="1050" dirty="0"/>
          </a:p>
        </p:txBody>
      </p:sp>
      <p:sp>
        <p:nvSpPr>
          <p:cNvPr id="38" name="SK-6-text-37"/>
          <p:cNvSpPr/>
          <p:nvPr/>
        </p:nvSpPr>
        <p:spPr>
          <a:xfrm>
            <a:off x="781050" y="2247900"/>
            <a:ext cx="10194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EC0"/>
                </a:solidFill>
              </a:rPr>
              <a:t>Phase 01</a:t>
            </a:r>
            <a:endParaRPr lang="en-US" sz="900" dirty="0"/>
          </a:p>
        </p:txBody>
      </p:sp>
      <p:sp>
        <p:nvSpPr>
          <p:cNvPr id="39" name="SK-6-text-38"/>
          <p:cNvSpPr/>
          <p:nvPr/>
        </p:nvSpPr>
        <p:spPr>
          <a:xfrm>
            <a:off x="685800" y="2571750"/>
            <a:ext cx="3438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기간 지정</a:t>
            </a:r>
            <a:endParaRPr lang="en-US" sz="1350" dirty="0"/>
          </a:p>
        </p:txBody>
      </p:sp>
      <p:sp>
        <p:nvSpPr>
          <p:cNvPr id="40" name="SK-6-text-39"/>
          <p:cNvSpPr/>
          <p:nvPr/>
        </p:nvSpPr>
        <p:spPr>
          <a:xfrm>
            <a:off x="685800" y="2924175"/>
            <a:ext cx="3429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구글 RSS Hard Limit 적용</a:t>
            </a:r>
            <a:endParaRPr lang="en-US" sz="1050" dirty="0"/>
          </a:p>
        </p:txBody>
      </p:sp>
      <p:sp>
        <p:nvSpPr>
          <p:cNvPr id="41" name="SK-6-text-40"/>
          <p:cNvSpPr/>
          <p:nvPr/>
        </p:nvSpPr>
        <p:spPr>
          <a:xfrm>
            <a:off x="685800" y="3171825"/>
            <a:ext cx="3436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쿼리 시 상위 100건만 반환</a:t>
            </a:r>
            <a:endParaRPr lang="en-US" sz="1050" dirty="0"/>
          </a:p>
        </p:txBody>
      </p:sp>
      <p:sp>
        <p:nvSpPr>
          <p:cNvPr id="42" name="SK-6-text-41"/>
          <p:cNvSpPr/>
          <p:nvPr/>
        </p:nvSpPr>
        <p:spPr>
          <a:xfrm>
            <a:off x="685800" y="3419475"/>
            <a:ext cx="3429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전쟁 발발 등 핵심 구간 데이터 누락</a:t>
            </a:r>
            <a:endParaRPr lang="en-US" sz="1050" dirty="0"/>
          </a:p>
        </p:txBody>
      </p:sp>
      <p:sp>
        <p:nvSpPr>
          <p:cNvPr id="43" name="SK-6-text-42"/>
          <p:cNvSpPr/>
          <p:nvPr/>
        </p:nvSpPr>
        <p:spPr>
          <a:xfrm>
            <a:off x="1619250" y="3838575"/>
            <a:ext cx="1485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18096"/>
                </a:solidFill>
              </a:rPr>
              <a:t>심각한 데이터 누락</a:t>
            </a:r>
            <a:endParaRPr lang="en-US" sz="1200" dirty="0"/>
          </a:p>
        </p:txBody>
      </p:sp>
      <p:sp>
        <p:nvSpPr>
          <p:cNvPr id="44" name="SK-6-text-43"/>
          <p:cNvSpPr/>
          <p:nvPr/>
        </p:nvSpPr>
        <p:spPr>
          <a:xfrm>
            <a:off x="4514850" y="2247900"/>
            <a:ext cx="10194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A0AEC0"/>
                </a:solidFill>
              </a:rPr>
              <a:t>Phase 02</a:t>
            </a:r>
            <a:endParaRPr lang="en-US" sz="900" dirty="0"/>
          </a:p>
        </p:txBody>
      </p:sp>
      <p:sp>
        <p:nvSpPr>
          <p:cNvPr id="45" name="SK-6-text-44"/>
          <p:cNvSpPr/>
          <p:nvPr/>
        </p:nvSpPr>
        <p:spPr>
          <a:xfrm>
            <a:off x="4419600" y="2571750"/>
            <a:ext cx="3438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단위 슬라이싱</a:t>
            </a:r>
            <a:endParaRPr lang="en-US" sz="1350" dirty="0"/>
          </a:p>
        </p:txBody>
      </p:sp>
      <p:sp>
        <p:nvSpPr>
          <p:cNvPr id="46" name="SK-6-text-45"/>
          <p:cNvSpPr/>
          <p:nvPr/>
        </p:nvSpPr>
        <p:spPr>
          <a:xfrm>
            <a:off x="4419600" y="2924175"/>
            <a:ext cx="3429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단위 분할 수집 시도</a:t>
            </a:r>
            <a:endParaRPr lang="en-US" sz="1050" dirty="0"/>
          </a:p>
        </p:txBody>
      </p:sp>
      <p:sp>
        <p:nvSpPr>
          <p:cNvPr id="47" name="SK-6-text-46"/>
          <p:cNvSpPr/>
          <p:nvPr/>
        </p:nvSpPr>
        <p:spPr>
          <a:xfrm>
            <a:off x="4419600" y="3171825"/>
            <a:ext cx="3436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밀집 구간에서 100건 초과</a:t>
            </a:r>
            <a:endParaRPr lang="en-US" sz="1050" dirty="0"/>
          </a:p>
        </p:txBody>
      </p:sp>
      <p:sp>
        <p:nvSpPr>
          <p:cNvPr id="48" name="SK-6-text-47"/>
          <p:cNvSpPr/>
          <p:nvPr/>
        </p:nvSpPr>
        <p:spPr>
          <a:xfrm>
            <a:off x="4419600" y="3419475"/>
            <a:ext cx="3429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여전히 유의미한 데이터 누수 존재</a:t>
            </a:r>
            <a:endParaRPr lang="en-US" sz="1050" dirty="0"/>
          </a:p>
        </p:txBody>
      </p:sp>
      <p:sp>
        <p:nvSpPr>
          <p:cNvPr id="49" name="SK-6-text-48"/>
          <p:cNvSpPr/>
          <p:nvPr/>
        </p:nvSpPr>
        <p:spPr>
          <a:xfrm>
            <a:off x="5543550" y="3838575"/>
            <a:ext cx="1104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E5FF"/>
                </a:solidFill>
              </a:rPr>
              <a:t>1,582건 확보</a:t>
            </a:r>
            <a:endParaRPr lang="en-US" sz="1200" dirty="0"/>
          </a:p>
        </p:txBody>
      </p:sp>
      <p:sp>
        <p:nvSpPr>
          <p:cNvPr id="50" name="SK-6-text-49"/>
          <p:cNvSpPr/>
          <p:nvPr/>
        </p:nvSpPr>
        <p:spPr>
          <a:xfrm>
            <a:off x="8248650" y="2247900"/>
            <a:ext cx="10194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0F1115"/>
                </a:solidFill>
              </a:rPr>
              <a:t>Phase 03</a:t>
            </a:r>
            <a:endParaRPr lang="en-US" sz="900" dirty="0"/>
          </a:p>
        </p:txBody>
      </p:sp>
      <p:sp>
        <p:nvSpPr>
          <p:cNvPr id="51" name="SK-6-text-50"/>
          <p:cNvSpPr/>
          <p:nvPr/>
        </p:nvSpPr>
        <p:spPr>
          <a:xfrm>
            <a:off x="8153400" y="2571750"/>
            <a:ext cx="34385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시간 분할</a:t>
            </a:r>
            <a:endParaRPr lang="en-US" sz="1350" dirty="0"/>
          </a:p>
        </p:txBody>
      </p:sp>
      <p:sp>
        <p:nvSpPr>
          <p:cNvPr id="52" name="SK-6-text-51"/>
          <p:cNvSpPr/>
          <p:nvPr/>
        </p:nvSpPr>
        <p:spPr>
          <a:xfrm>
            <a:off x="8153400" y="2924175"/>
            <a:ext cx="3429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24시간 단위 정밀 수집</a:t>
            </a:r>
            <a:endParaRPr lang="en-US" sz="1050" dirty="0"/>
          </a:p>
        </p:txBody>
      </p:sp>
      <p:sp>
        <p:nvSpPr>
          <p:cNvPr id="53" name="SK-6-text-52"/>
          <p:cNvSpPr/>
          <p:nvPr/>
        </p:nvSpPr>
        <p:spPr>
          <a:xfrm>
            <a:off x="8153400" y="3171825"/>
            <a:ext cx="35433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 도달 시 6시간 단위 자동 세분화</a:t>
            </a:r>
            <a:endParaRPr lang="en-US" sz="1050" dirty="0"/>
          </a:p>
        </p:txBody>
      </p:sp>
      <p:sp>
        <p:nvSpPr>
          <p:cNvPr id="54" name="SK-6-text-53"/>
          <p:cNvSpPr/>
          <p:nvPr/>
        </p:nvSpPr>
        <p:spPr>
          <a:xfrm>
            <a:off x="8153400" y="3419475"/>
            <a:ext cx="38633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개전 구간 4,000건 이상 복원</a:t>
            </a:r>
            <a:endParaRPr lang="en-US" sz="1050" dirty="0"/>
          </a:p>
        </p:txBody>
      </p:sp>
      <p:sp>
        <p:nvSpPr>
          <p:cNvPr id="55" name="SK-6-text-54"/>
          <p:cNvSpPr/>
          <p:nvPr/>
        </p:nvSpPr>
        <p:spPr>
          <a:xfrm>
            <a:off x="9077325" y="3838575"/>
            <a:ext cx="1504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F5AD"/>
                </a:solidFill>
              </a:rPr>
              <a:t>최종 5,824건 확보</a:t>
            </a:r>
            <a:endParaRPr lang="en-US" sz="1200" dirty="0"/>
          </a:p>
        </p:txBody>
      </p:sp>
      <p:sp>
        <p:nvSpPr>
          <p:cNvPr id="62" name="SK-6-text-61"/>
          <p:cNvSpPr/>
          <p:nvPr/>
        </p:nvSpPr>
        <p:spPr>
          <a:xfrm>
            <a:off x="609600" y="5124450"/>
            <a:ext cx="5410200" cy="1158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endParaRPr lang="en-US" sz="900" dirty="0"/>
          </a:p>
        </p:txBody>
      </p:sp>
      <p:sp>
        <p:nvSpPr>
          <p:cNvPr id="65" name="SK-6-text-62">
            <a:extLst>
              <a:ext uri="{FF2B5EF4-FFF2-40B4-BE49-F238E27FC236}">
                <a16:creationId xmlns:a16="http://schemas.microsoft.com/office/drawing/2014/main" id="{8B3421FB-D6B5-E9A9-5C26-50B56BBFFE48}"/>
              </a:ext>
            </a:extLst>
          </p:cNvPr>
          <p:cNvSpPr/>
          <p:nvPr/>
        </p:nvSpPr>
        <p:spPr>
          <a:xfrm>
            <a:off x="639239" y="4705350"/>
            <a:ext cx="5245217" cy="15236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ko-KR" altLang="en-US" sz="900" dirty="0">
                <a:solidFill>
                  <a:schemeClr val="bg1"/>
                </a:solidFill>
              </a:rPr>
              <a:t>그러나</a:t>
            </a:r>
            <a:r>
              <a:rPr lang="en-US" altLang="ko-KR" sz="900" dirty="0">
                <a:solidFill>
                  <a:schemeClr val="bg1"/>
                </a:solidFill>
              </a:rPr>
              <a:t>, </a:t>
            </a:r>
            <a:r>
              <a:rPr lang="ko-KR" altLang="en-US" sz="900" dirty="0">
                <a:solidFill>
                  <a:schemeClr val="bg1"/>
                </a:solidFill>
              </a:rPr>
              <a:t>구글 뉴스 </a:t>
            </a:r>
            <a:r>
              <a:rPr lang="en-US" altLang="ko-KR" sz="900" dirty="0">
                <a:solidFill>
                  <a:schemeClr val="bg1"/>
                </a:solidFill>
              </a:rPr>
              <a:t>RSS </a:t>
            </a:r>
            <a:r>
              <a:rPr lang="ko-KR" altLang="en-US" sz="900" dirty="0" err="1">
                <a:solidFill>
                  <a:schemeClr val="bg1"/>
                </a:solidFill>
              </a:rPr>
              <a:t>피드에는</a:t>
            </a:r>
            <a:r>
              <a:rPr lang="ko-KR" altLang="en-US" sz="900" dirty="0">
                <a:solidFill>
                  <a:schemeClr val="bg1"/>
                </a:solidFill>
              </a:rPr>
              <a:t> 명확한 한계가 존재</a:t>
            </a:r>
            <a:endParaRPr lang="en-US" altLang="ko-KR" sz="900" dirty="0">
              <a:solidFill>
                <a:schemeClr val="bg1"/>
              </a:solidFill>
            </a:endParaRPr>
          </a:p>
          <a:p>
            <a:pPr marL="0" indent="0">
              <a:lnSpc>
                <a:spcPts val="1350"/>
              </a:lnSpc>
              <a:buNone/>
            </a:pPr>
            <a:endParaRPr lang="en-US" altLang="ko-KR" sz="900" dirty="0">
              <a:solidFill>
                <a:schemeClr val="bg1"/>
              </a:solidFill>
            </a:endParaRPr>
          </a:p>
          <a:p>
            <a:pPr marL="0" indent="0">
              <a:lnSpc>
                <a:spcPts val="1350"/>
              </a:lnSpc>
              <a:buNone/>
            </a:pPr>
            <a:r>
              <a:rPr lang="ko-KR" altLang="en-US" sz="900" dirty="0">
                <a:solidFill>
                  <a:schemeClr val="bg1"/>
                </a:solidFill>
              </a:rPr>
              <a:t>구글 뉴스 </a:t>
            </a:r>
            <a:r>
              <a:rPr lang="en-US" altLang="ko-KR" sz="900" dirty="0">
                <a:solidFill>
                  <a:schemeClr val="bg1"/>
                </a:solidFill>
              </a:rPr>
              <a:t>RSS</a:t>
            </a:r>
            <a:r>
              <a:rPr lang="ko-KR" altLang="en-US" sz="900" dirty="0">
                <a:solidFill>
                  <a:schemeClr val="bg1"/>
                </a:solidFill>
              </a:rPr>
              <a:t>의 특성 </a:t>
            </a:r>
            <a:r>
              <a:rPr lang="en-US" altLang="ko-KR" sz="900" dirty="0">
                <a:solidFill>
                  <a:schemeClr val="bg1"/>
                </a:solidFill>
              </a:rPr>
              <a:t>: </a:t>
            </a:r>
            <a:r>
              <a:rPr lang="ko-KR" altLang="en-US" sz="900" dirty="0">
                <a:solidFill>
                  <a:schemeClr val="bg1"/>
                </a:solidFill>
              </a:rPr>
              <a:t>구글 뉴스 </a:t>
            </a:r>
            <a:r>
              <a:rPr lang="en-US" altLang="ko-KR" sz="900" dirty="0">
                <a:solidFill>
                  <a:schemeClr val="bg1"/>
                </a:solidFill>
              </a:rPr>
              <a:t>RSS </a:t>
            </a:r>
            <a:r>
              <a:rPr lang="ko-KR" altLang="en-US" sz="900" dirty="0" err="1">
                <a:solidFill>
                  <a:schemeClr val="bg1"/>
                </a:solidFill>
              </a:rPr>
              <a:t>피드는</a:t>
            </a:r>
            <a:r>
              <a:rPr lang="ko-KR" altLang="en-US" sz="900" dirty="0">
                <a:solidFill>
                  <a:schemeClr val="bg1"/>
                </a:solidFill>
              </a:rPr>
              <a:t> 언론사 본문 전체를 제공하지 않고</a:t>
            </a:r>
            <a:r>
              <a:rPr lang="en-US" altLang="ko-KR" sz="900" dirty="0">
                <a:solidFill>
                  <a:schemeClr val="bg1"/>
                </a:solidFill>
              </a:rPr>
              <a:t>,</a:t>
            </a:r>
          </a:p>
          <a:p>
            <a:pPr>
              <a:lnSpc>
                <a:spcPts val="1350"/>
              </a:lnSpc>
            </a:pPr>
            <a:r>
              <a:rPr lang="ko-KR" altLang="en-US" sz="900" dirty="0">
                <a:solidFill>
                  <a:schemeClr val="bg1"/>
                </a:solidFill>
              </a:rPr>
              <a:t>기사의 제목</a:t>
            </a:r>
            <a:r>
              <a:rPr lang="en-US" altLang="ko-KR" sz="900" dirty="0">
                <a:solidFill>
                  <a:schemeClr val="bg1"/>
                </a:solidFill>
              </a:rPr>
              <a:t>, </a:t>
            </a:r>
            <a:r>
              <a:rPr lang="ko-KR" altLang="en-US" sz="900" dirty="0">
                <a:solidFill>
                  <a:schemeClr val="bg1"/>
                </a:solidFill>
              </a:rPr>
              <a:t>발행일</a:t>
            </a:r>
            <a:r>
              <a:rPr lang="en-US" altLang="ko-KR" sz="900" dirty="0">
                <a:solidFill>
                  <a:schemeClr val="bg1"/>
                </a:solidFill>
              </a:rPr>
              <a:t>, </a:t>
            </a:r>
            <a:r>
              <a:rPr lang="ko-KR" altLang="en-US" sz="900" dirty="0">
                <a:solidFill>
                  <a:schemeClr val="bg1"/>
                </a:solidFill>
              </a:rPr>
              <a:t>언론사명</a:t>
            </a:r>
            <a:r>
              <a:rPr lang="en-US" altLang="ko-KR" sz="900" dirty="0">
                <a:solidFill>
                  <a:schemeClr val="bg1"/>
                </a:solidFill>
              </a:rPr>
              <a:t>, </a:t>
            </a:r>
            <a:r>
              <a:rPr lang="ko-KR" altLang="en-US" sz="900" dirty="0">
                <a:solidFill>
                  <a:schemeClr val="bg1"/>
                </a:solidFill>
              </a:rPr>
              <a:t>그리고 </a:t>
            </a:r>
            <a:r>
              <a:rPr lang="en-US" altLang="ko-KR" sz="900" dirty="0">
                <a:solidFill>
                  <a:schemeClr val="bg1"/>
                </a:solidFill>
              </a:rPr>
              <a:t>2~3</a:t>
            </a:r>
            <a:r>
              <a:rPr lang="ko-KR" altLang="en-US" sz="900" dirty="0">
                <a:solidFill>
                  <a:schemeClr val="bg1"/>
                </a:solidFill>
              </a:rPr>
              <a:t>줄 분량의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간략한 요약본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(description)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만을 제공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lnSpc>
                <a:spcPts val="1350"/>
              </a:lnSpc>
              <a:buNone/>
            </a:pP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lnSpc>
                <a:spcPts val="135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그렇다면 이게 뭐가 문제가 되는가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? 				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              -&gt;</a:t>
            </a:r>
          </a:p>
        </p:txBody>
      </p:sp>
      <p:sp>
        <p:nvSpPr>
          <p:cNvPr id="66" name="SK-6-text-62">
            <a:extLst>
              <a:ext uri="{FF2B5EF4-FFF2-40B4-BE49-F238E27FC236}">
                <a16:creationId xmlns:a16="http://schemas.microsoft.com/office/drawing/2014/main" id="{14DF9A34-A8B8-0768-3CD4-61BEE2741683}"/>
              </a:ext>
            </a:extLst>
          </p:cNvPr>
          <p:cNvSpPr/>
          <p:nvPr/>
        </p:nvSpPr>
        <p:spPr>
          <a:xfrm>
            <a:off x="6254691" y="4705350"/>
            <a:ext cx="5245217" cy="1527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본문 수집의 필요성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lnSpc>
                <a:spcPts val="1350"/>
              </a:lnSpc>
              <a:buNone/>
            </a:pP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lnSpc>
                <a:spcPts val="1350"/>
              </a:lnSpc>
              <a:buNone/>
            </a:pP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RSS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가 제공하는 짧은 요약본만으로는 기사의 핵심 맥락이나 세부 경제적 지표를 파악하기 어려움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 marL="171450" indent="-171450">
              <a:lnSpc>
                <a:spcPts val="1350"/>
              </a:lnSpc>
              <a:buFont typeface="Wingdings" panose="05000000000000000000" pitchFamily="2" charset="2"/>
              <a:buChar char="è"/>
            </a:pP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추후 다양한 분석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(TF-IDF, K-Means, LDA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등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을 진행하고 이 분석의 신뢰도를 높이기 위해서는 각 언론사의 전체 본문이 반드시 필요</a:t>
            </a:r>
            <a:endParaRPr lang="en-US" altLang="ko-KR" sz="90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171450" indent="-171450">
              <a:lnSpc>
                <a:spcPts val="1350"/>
              </a:lnSpc>
              <a:buFont typeface="Wingdings" panose="05000000000000000000" pitchFamily="2" charset="2"/>
              <a:buChar char="è"/>
            </a:pP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각 언론사 원본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URL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에 직접 접속하여 전체 본문 데이터를 확보하는 과정이 필요</a:t>
            </a:r>
            <a:endParaRPr lang="en-US" altLang="ko-KR" sz="90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67" name="SK-6-img-8" descr="preencoded.png">
            <a:extLst>
              <a:ext uri="{FF2B5EF4-FFF2-40B4-BE49-F238E27FC236}">
                <a16:creationId xmlns:a16="http://schemas.microsoft.com/office/drawing/2014/main" id="{21176DCF-5FDB-68D3-AE30-B56C3EB99A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1695" y="4800601"/>
            <a:ext cx="190500" cy="152400"/>
          </a:xfrm>
          <a:prstGeom prst="rect">
            <a:avLst/>
          </a:prstGeom>
        </p:spPr>
      </p:pic>
      <p:pic>
        <p:nvPicPr>
          <p:cNvPr id="68" name="SK-6-img-16" descr="preencoded.png">
            <a:extLst>
              <a:ext uri="{FF2B5EF4-FFF2-40B4-BE49-F238E27FC236}">
                <a16:creationId xmlns:a16="http://schemas.microsoft.com/office/drawing/2014/main" id="{3F91E5FD-55C6-53DC-718C-1DE1E23FED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62261" y="4876801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FBA49-B8AE-4E7C-2D69-5339E6ED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
            <a:extLst>
              <a:ext uri="{FF2B5EF4-FFF2-40B4-BE49-F238E27FC236}">
                <a16:creationId xmlns:a16="http://schemas.microsoft.com/office/drawing/2014/main" id="{435CD421-1EDA-9F15-966C-11FE3D18F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
            <a:extLst>
              <a:ext uri="{FF2B5EF4-FFF2-40B4-BE49-F238E27FC236}">
                <a16:creationId xmlns:a16="http://schemas.microsoft.com/office/drawing/2014/main" id="{4DC83E63-D152-56FE-1000-5FC2EC5E8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6-img-4" descr="preencoded.png">
            <a:extLst>
              <a:ext uri="{FF2B5EF4-FFF2-40B4-BE49-F238E27FC236}">
                <a16:creationId xmlns:a16="http://schemas.microsoft.com/office/drawing/2014/main" id="{535FDA67-2B18-3764-8309-3D64966B5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13" name="SK-6-img-12" descr="preencoded.png">
            <a:extLst>
              <a:ext uri="{FF2B5EF4-FFF2-40B4-BE49-F238E27FC236}">
                <a16:creationId xmlns:a16="http://schemas.microsoft.com/office/drawing/2014/main" id="{37513F41-9077-E543-2B31-1F84086E2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1900" y="2286000"/>
            <a:ext cx="190500" cy="152400"/>
          </a:xfrm>
          <a:prstGeom prst="rect">
            <a:avLst/>
          </a:prstGeom>
        </p:spPr>
      </p:pic>
      <p:sp>
        <p:nvSpPr>
          <p:cNvPr id="30" name="SK-6-text-29">
            <a:extLst>
              <a:ext uri="{FF2B5EF4-FFF2-40B4-BE49-F238E27FC236}">
                <a16:creationId xmlns:a16="http://schemas.microsoft.com/office/drawing/2014/main" id="{64030F75-E064-3E65-13CD-11C7D978B0D0}"/>
              </a:ext>
            </a:extLst>
          </p:cNvPr>
          <p:cNvSpPr/>
          <p:nvPr/>
        </p:nvSpPr>
        <p:spPr>
          <a:xfrm>
            <a:off x="723900" y="381000"/>
            <a:ext cx="746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과정 및 </a:t>
            </a:r>
            <a:r>
              <a:rPr lang="en-US" sz="2400" b="1" kern="0" spc="-38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</a:t>
            </a: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b="1" kern="0" spc="-38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고도화</a:t>
            </a: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- 2</a:t>
            </a:r>
            <a:endParaRPr lang="en-US" sz="2400" dirty="0"/>
          </a:p>
        </p:txBody>
      </p:sp>
      <p:sp>
        <p:nvSpPr>
          <p:cNvPr id="31" name="SK-6-text-30">
            <a:extLst>
              <a:ext uri="{FF2B5EF4-FFF2-40B4-BE49-F238E27FC236}">
                <a16:creationId xmlns:a16="http://schemas.microsoft.com/office/drawing/2014/main" id="{48342A0D-04C5-3460-42EC-133CCA64E3C5}"/>
              </a:ext>
            </a:extLst>
          </p:cNvPr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ko-KR" alt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초고속 병렬 뉴스 본문 마이닝 파이프라인 개요</a:t>
            </a:r>
            <a:endParaRPr lang="en-US" sz="1350" dirty="0"/>
          </a:p>
        </p:txBody>
      </p:sp>
      <p:sp>
        <p:nvSpPr>
          <p:cNvPr id="34" name="SK-6-text-33">
            <a:extLst>
              <a:ext uri="{FF2B5EF4-FFF2-40B4-BE49-F238E27FC236}">
                <a16:creationId xmlns:a16="http://schemas.microsoft.com/office/drawing/2014/main" id="{A651DF39-DCBB-6CFA-E9F9-8462F56F265F}"/>
              </a:ext>
            </a:extLst>
          </p:cNvPr>
          <p:cNvSpPr/>
          <p:nvPr/>
        </p:nvSpPr>
        <p:spPr>
          <a:xfrm>
            <a:off x="571500" y="1649325"/>
            <a:ext cx="8633371" cy="2208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개발목적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: 5824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건의 글로벌 뉴스 본문을 유실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누락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)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없이 안전하고 완벽하게 고속 수집하기 위한 자동화 시스템 구축</a:t>
            </a:r>
            <a:endParaRPr lang="en-US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62" name="SK-6-text-61">
            <a:extLst>
              <a:ext uri="{FF2B5EF4-FFF2-40B4-BE49-F238E27FC236}">
                <a16:creationId xmlns:a16="http://schemas.microsoft.com/office/drawing/2014/main" id="{4BBD2108-EC12-A4A9-59B3-CFAFC30954C8}"/>
              </a:ext>
            </a:extLst>
          </p:cNvPr>
          <p:cNvSpPr/>
          <p:nvPr/>
        </p:nvSpPr>
        <p:spPr>
          <a:xfrm>
            <a:off x="609600" y="5124450"/>
            <a:ext cx="5410200" cy="1158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endParaRPr lang="en-US" sz="900" dirty="0"/>
          </a:p>
        </p:txBody>
      </p:sp>
      <p:pic>
        <p:nvPicPr>
          <p:cNvPr id="27" name="SK-6-img-18" descr="preencoded.png">
            <a:extLst>
              <a:ext uri="{FF2B5EF4-FFF2-40B4-BE49-F238E27FC236}">
                <a16:creationId xmlns:a16="http://schemas.microsoft.com/office/drawing/2014/main" id="{354BEAE4-8C87-FC2F-1B65-4885116F26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157412"/>
            <a:ext cx="11049000" cy="561975"/>
          </a:xfrm>
          <a:prstGeom prst="rect">
            <a:avLst/>
          </a:prstGeom>
        </p:spPr>
      </p:pic>
      <p:pic>
        <p:nvPicPr>
          <p:cNvPr id="65" name="SK-6-img-19" descr="preencoded.png">
            <a:extLst>
              <a:ext uri="{FF2B5EF4-FFF2-40B4-BE49-F238E27FC236}">
                <a16:creationId xmlns:a16="http://schemas.microsoft.com/office/drawing/2014/main" id="{FB56F1CA-FBDE-4B0B-0C01-BBEA0DFAF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266949"/>
            <a:ext cx="342900" cy="342900"/>
          </a:xfrm>
          <a:prstGeom prst="rect">
            <a:avLst/>
          </a:prstGeom>
        </p:spPr>
      </p:pic>
      <p:pic>
        <p:nvPicPr>
          <p:cNvPr id="66" name="SK-6-img-20" descr="preencoded.png">
            <a:extLst>
              <a:ext uri="{FF2B5EF4-FFF2-40B4-BE49-F238E27FC236}">
                <a16:creationId xmlns:a16="http://schemas.microsoft.com/office/drawing/2014/main" id="{7236AC1B-275A-94AD-489F-CF22A291CC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362199"/>
            <a:ext cx="190500" cy="152400"/>
          </a:xfrm>
          <a:prstGeom prst="rect">
            <a:avLst/>
          </a:prstGeom>
        </p:spPr>
      </p:pic>
      <p:sp>
        <p:nvSpPr>
          <p:cNvPr id="67" name="SK-6-text-55">
            <a:extLst>
              <a:ext uri="{FF2B5EF4-FFF2-40B4-BE49-F238E27FC236}">
                <a16:creationId xmlns:a16="http://schemas.microsoft.com/office/drawing/2014/main" id="{575710CF-7A28-0A4A-5EF6-D7BEFB5A5F24}"/>
              </a:ext>
            </a:extLst>
          </p:cNvPr>
          <p:cNvSpPr/>
          <p:nvPr/>
        </p:nvSpPr>
        <p:spPr>
          <a:xfrm>
            <a:off x="1219200" y="2266949"/>
            <a:ext cx="15049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크롤링</a:t>
            </a:r>
            <a:endParaRPr lang="en-US" sz="1050" dirty="0"/>
          </a:p>
        </p:txBody>
      </p:sp>
      <p:sp>
        <p:nvSpPr>
          <p:cNvPr id="68" name="SK-6-text-56">
            <a:extLst>
              <a:ext uri="{FF2B5EF4-FFF2-40B4-BE49-F238E27FC236}">
                <a16:creationId xmlns:a16="http://schemas.microsoft.com/office/drawing/2014/main" id="{C554D892-B418-883C-9E65-00012328AA02}"/>
              </a:ext>
            </a:extLst>
          </p:cNvPr>
          <p:cNvSpPr/>
          <p:nvPr/>
        </p:nvSpPr>
        <p:spPr>
          <a:xfrm>
            <a:off x="1219200" y="2466974"/>
            <a:ext cx="26365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Chrome 세션 동시 구동</a:t>
            </a:r>
            <a:endParaRPr lang="en-US" sz="900" dirty="0"/>
          </a:p>
        </p:txBody>
      </p:sp>
      <p:pic>
        <p:nvPicPr>
          <p:cNvPr id="69" name="SK-6-img-21" descr="preencoded.png">
            <a:extLst>
              <a:ext uri="{FF2B5EF4-FFF2-40B4-BE49-F238E27FC236}">
                <a16:creationId xmlns:a16="http://schemas.microsoft.com/office/drawing/2014/main" id="{99D3DB2D-6892-6331-DFF4-10E1F3DBA7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7764" y="2266949"/>
            <a:ext cx="342900" cy="342900"/>
          </a:xfrm>
          <a:prstGeom prst="rect">
            <a:avLst/>
          </a:prstGeom>
        </p:spPr>
      </p:pic>
      <p:pic>
        <p:nvPicPr>
          <p:cNvPr id="70" name="SK-6-img-22" descr="preencoded.png">
            <a:extLst>
              <a:ext uri="{FF2B5EF4-FFF2-40B4-BE49-F238E27FC236}">
                <a16:creationId xmlns:a16="http://schemas.microsoft.com/office/drawing/2014/main" id="{C5F9A719-619C-B056-315F-22916A93D1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3964" y="2362199"/>
            <a:ext cx="190500" cy="152400"/>
          </a:xfrm>
          <a:prstGeom prst="rect">
            <a:avLst/>
          </a:prstGeom>
        </p:spPr>
      </p:pic>
      <p:sp>
        <p:nvSpPr>
          <p:cNvPr id="71" name="SK-6-text-57">
            <a:extLst>
              <a:ext uri="{FF2B5EF4-FFF2-40B4-BE49-F238E27FC236}">
                <a16:creationId xmlns:a16="http://schemas.microsoft.com/office/drawing/2014/main" id="{9F663C22-A226-4F8E-6D32-06862D6AEDF4}"/>
              </a:ext>
            </a:extLst>
          </p:cNvPr>
          <p:cNvSpPr/>
          <p:nvPr/>
        </p:nvSpPr>
        <p:spPr>
          <a:xfrm>
            <a:off x="4676864" y="2263563"/>
            <a:ext cx="15621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백업</a:t>
            </a:r>
            <a:endParaRPr lang="en-US" sz="1050" dirty="0"/>
          </a:p>
        </p:txBody>
      </p:sp>
      <p:sp>
        <p:nvSpPr>
          <p:cNvPr id="72" name="SK-6-text-58">
            <a:extLst>
              <a:ext uri="{FF2B5EF4-FFF2-40B4-BE49-F238E27FC236}">
                <a16:creationId xmlns:a16="http://schemas.microsoft.com/office/drawing/2014/main" id="{47CB83C3-E41E-6630-D38B-81F20C69601C}"/>
              </a:ext>
            </a:extLst>
          </p:cNvPr>
          <p:cNvSpPr/>
          <p:nvPr/>
        </p:nvSpPr>
        <p:spPr>
          <a:xfrm>
            <a:off x="4676864" y="2466974"/>
            <a:ext cx="24536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50건 단위 실시간 세이프가드</a:t>
            </a:r>
            <a:endParaRPr lang="en-US" sz="900" dirty="0"/>
          </a:p>
        </p:txBody>
      </p:sp>
      <p:pic>
        <p:nvPicPr>
          <p:cNvPr id="73" name="SK-6-img-23" descr="preencoded.png">
            <a:extLst>
              <a:ext uri="{FF2B5EF4-FFF2-40B4-BE49-F238E27FC236}">
                <a16:creationId xmlns:a16="http://schemas.microsoft.com/office/drawing/2014/main" id="{D0DAF5F4-A78D-CC3D-6F7A-075DAF2FA9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686" y="2266949"/>
            <a:ext cx="342900" cy="342900"/>
          </a:xfrm>
          <a:prstGeom prst="rect">
            <a:avLst/>
          </a:prstGeom>
        </p:spPr>
      </p:pic>
      <p:pic>
        <p:nvPicPr>
          <p:cNvPr id="74" name="SK-6-img-24" descr="preencoded.png">
            <a:extLst>
              <a:ext uri="{FF2B5EF4-FFF2-40B4-BE49-F238E27FC236}">
                <a16:creationId xmlns:a16="http://schemas.microsoft.com/office/drawing/2014/main" id="{0415C36B-D3E1-CDED-7D36-05D06FB994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2886" y="2362200"/>
            <a:ext cx="190500" cy="152400"/>
          </a:xfrm>
          <a:prstGeom prst="rect">
            <a:avLst/>
          </a:prstGeom>
        </p:spPr>
      </p:pic>
      <p:sp>
        <p:nvSpPr>
          <p:cNvPr id="75" name="SK-6-text-59">
            <a:extLst>
              <a:ext uri="{FF2B5EF4-FFF2-40B4-BE49-F238E27FC236}">
                <a16:creationId xmlns:a16="http://schemas.microsoft.com/office/drawing/2014/main" id="{7D180943-1D93-AA5C-F1AD-299B12C11530}"/>
              </a:ext>
            </a:extLst>
          </p:cNvPr>
          <p:cNvSpPr/>
          <p:nvPr/>
        </p:nvSpPr>
        <p:spPr>
          <a:xfrm>
            <a:off x="8426043" y="2266949"/>
            <a:ext cx="1524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 최적화</a:t>
            </a:r>
            <a:endParaRPr lang="en-US" sz="1050" dirty="0"/>
          </a:p>
        </p:txBody>
      </p:sp>
      <p:sp>
        <p:nvSpPr>
          <p:cNvPr id="76" name="SK-6-text-60">
            <a:extLst>
              <a:ext uri="{FF2B5EF4-FFF2-40B4-BE49-F238E27FC236}">
                <a16:creationId xmlns:a16="http://schemas.microsoft.com/office/drawing/2014/main" id="{EE16410E-0363-AB00-8EB9-EFBA0E02BA98}"/>
              </a:ext>
            </a:extLst>
          </p:cNvPr>
          <p:cNvSpPr/>
          <p:nvPr/>
        </p:nvSpPr>
        <p:spPr>
          <a:xfrm>
            <a:off x="8426043" y="2468809"/>
            <a:ext cx="22707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헤드리스 모드 &amp; 광고 필터링</a:t>
            </a:r>
            <a:endParaRPr lang="en-US" sz="900" dirty="0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55DD424C-83A3-8FC0-0139-79E8964555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943224"/>
            <a:ext cx="4715533" cy="1533739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49419FF1-1A04-34B5-5783-464E128665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547755"/>
            <a:ext cx="4677428" cy="2067213"/>
          </a:xfrm>
          <a:prstGeom prst="rect">
            <a:avLst/>
          </a:prstGeom>
        </p:spPr>
      </p:pic>
      <p:pic>
        <p:nvPicPr>
          <p:cNvPr id="82" name="SK-6-img-27" descr="preencoded.png">
            <a:extLst>
              <a:ext uri="{FF2B5EF4-FFF2-40B4-BE49-F238E27FC236}">
                <a16:creationId xmlns:a16="http://schemas.microsoft.com/office/drawing/2014/main" id="{1EF4FE2A-F0E4-90F5-7078-9EF0FCBE72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58532" y="2943224"/>
            <a:ext cx="5761967" cy="3671744"/>
          </a:xfrm>
          <a:prstGeom prst="rect">
            <a:avLst/>
          </a:prstGeom>
        </p:spPr>
      </p:pic>
      <p:sp>
        <p:nvSpPr>
          <p:cNvPr id="83" name="SK-6-text-62">
            <a:extLst>
              <a:ext uri="{FF2B5EF4-FFF2-40B4-BE49-F238E27FC236}">
                <a16:creationId xmlns:a16="http://schemas.microsoft.com/office/drawing/2014/main" id="{84770032-1FB3-5199-00AD-40B01D3496A8}"/>
              </a:ext>
            </a:extLst>
          </p:cNvPr>
          <p:cNvSpPr/>
          <p:nvPr/>
        </p:nvSpPr>
        <p:spPr>
          <a:xfrm>
            <a:off x="6019963" y="3003167"/>
            <a:ext cx="5245217" cy="34738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주요 기능</a:t>
            </a:r>
            <a:endParaRPr lang="en-US" altLang="ko-KR" sz="16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병렬 수집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4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개의 크롬 세션을 동시 가동하여 수집 속도를 극대화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이어받기 세이프가드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: </a:t>
            </a:r>
            <a:r>
              <a:rPr lang="ko-KR" altLang="en-US" sz="9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셧다운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시에도 </a:t>
            </a:r>
            <a:r>
              <a:rPr lang="ko-KR" altLang="en-US" sz="9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미수집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행만 자동 식별해 중단 지점부터 연이어 가동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실시간 백업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메모리 과부하 방지를 위해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50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건 수집 단위로 하드디스크에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CSV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즉시 기록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리소스 최적화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화면을 숨기는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‘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헤드리스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’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모드 및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‘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이미지 차단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＇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으로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CPU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와 트래픽 소모 최소화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데이터 정제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불필요한 광고 및 저작권 문구를 </a:t>
            </a:r>
            <a:r>
              <a:rPr lang="ko-KR" altLang="en-US" sz="9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정규식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검사를 통해 실시간 사전 필터링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핵심 난관 및 문제 해결</a:t>
            </a:r>
            <a:endParaRPr lang="en-US" altLang="ko-KR" sz="16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endParaRPr lang="en-US" altLang="ko-KR" sz="16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메모리 누수 해결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창 하나로 무한 </a:t>
            </a:r>
            <a:r>
              <a:rPr lang="ko-KR" altLang="en-US" sz="9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새로고침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시 누적되던 브라우저 찌꺼기를 기사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1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건당 드라이버를 즉시 파괴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en-US" altLang="ko-KR" sz="9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driver.quit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())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하고 새로 세션을 여는 구조로 격리하여 원천 차단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병목 현상 해소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메인 루프에 </a:t>
            </a:r>
            <a:r>
              <a:rPr lang="ko-KR" altLang="en-US" sz="9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묶여있던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디도스 방지용 랜덤 딜레이를 개별 스레드 내부로 이동시켜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4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개 창의 독립적인 분업 구조 완성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IDE </a:t>
            </a:r>
            <a:r>
              <a:rPr lang="ko-KR" alt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크래시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방지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매 건마다 콘솔에 찍히던 대량의 텍스트 출력을 지우고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, 50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건 단위 백업 시에만 한 줄 요약 진행률을 출력하도록 인터페이스를 </a:t>
            </a:r>
            <a:r>
              <a:rPr lang="ko-KR" altLang="en-US" sz="9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경량화하여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버퍼 과부하 해결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엑셀 충돌 대비 </a:t>
            </a:r>
            <a:r>
              <a:rPr lang="en-US" altLang="ko-KR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파일 잠금 발생 가능성을 고려하여 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try-except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예외 처리를 촘촘히 설계</a:t>
            </a:r>
            <a:r>
              <a:rPr lang="en-US" altLang="ko-KR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강제 종료 후 재실행 시에도 데이터 무결성 보장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9774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43050"/>
            <a:ext cx="3555950" cy="771525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1543050"/>
            <a:ext cx="3555950" cy="771525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1" y="1543050"/>
            <a:ext cx="3555950" cy="771525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457450"/>
            <a:ext cx="6492180" cy="2700338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457450"/>
            <a:ext cx="973782" cy="404813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5282" y="2457450"/>
            <a:ext cx="2596753" cy="404813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2036" y="2457450"/>
            <a:ext cx="2921645" cy="404813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862263"/>
            <a:ext cx="973782" cy="619125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45282" y="2862263"/>
            <a:ext cx="2596753" cy="619125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42036" y="2862263"/>
            <a:ext cx="2921645" cy="619125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481388"/>
            <a:ext cx="973782" cy="619125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5282" y="3481388"/>
            <a:ext cx="2596753" cy="619125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2036" y="3481388"/>
            <a:ext cx="2921645" cy="619125"/>
          </a:xfrm>
          <a:prstGeom prst="rect">
            <a:avLst/>
          </a:prstGeom>
        </p:spPr>
      </p:pic>
      <p:pic>
        <p:nvPicPr>
          <p:cNvPr id="19" name="SK-7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100513"/>
            <a:ext cx="973782" cy="404813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45282" y="4100513"/>
            <a:ext cx="2596753" cy="438150"/>
          </a:xfrm>
          <a:prstGeom prst="rect">
            <a:avLst/>
          </a:prstGeom>
        </p:spPr>
      </p:pic>
      <p:pic>
        <p:nvPicPr>
          <p:cNvPr id="21" name="SK-7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42036" y="4100513"/>
            <a:ext cx="2921645" cy="438150"/>
          </a:xfrm>
          <a:prstGeom prst="rect">
            <a:avLst/>
          </a:prstGeom>
        </p:spPr>
      </p:pic>
      <p:pic>
        <p:nvPicPr>
          <p:cNvPr id="22" name="SK-7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4538663"/>
            <a:ext cx="973782" cy="619125"/>
          </a:xfrm>
          <a:prstGeom prst="rect">
            <a:avLst/>
          </a:prstGeom>
        </p:spPr>
      </p:pic>
      <p:pic>
        <p:nvPicPr>
          <p:cNvPr id="23" name="SK-7-img-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5282" y="4538663"/>
            <a:ext cx="2596753" cy="619125"/>
          </a:xfrm>
          <a:prstGeom prst="rect">
            <a:avLst/>
          </a:prstGeom>
        </p:spPr>
      </p:pic>
      <p:pic>
        <p:nvPicPr>
          <p:cNvPr id="24" name="SK-7-img-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2036" y="4538663"/>
            <a:ext cx="2921645" cy="619125"/>
          </a:xfrm>
          <a:prstGeom prst="rect">
            <a:avLst/>
          </a:prstGeom>
        </p:spPr>
      </p:pic>
      <p:pic>
        <p:nvPicPr>
          <p:cNvPr id="25" name="SK-7-img-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92280" y="2457450"/>
            <a:ext cx="4328220" cy="2700338"/>
          </a:xfrm>
          <a:prstGeom prst="rect">
            <a:avLst/>
          </a:prstGeom>
        </p:spPr>
      </p:pic>
      <p:pic>
        <p:nvPicPr>
          <p:cNvPr id="26" name="SK-7-img-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44680" y="2622203"/>
            <a:ext cx="214313" cy="175320"/>
          </a:xfrm>
          <a:prstGeom prst="rect">
            <a:avLst/>
          </a:prstGeom>
        </p:spPr>
      </p:pic>
      <p:sp>
        <p:nvSpPr>
          <p:cNvPr id="29" name="SK-7-text-28"/>
          <p:cNvSpPr/>
          <p:nvPr/>
        </p:nvSpPr>
        <p:spPr>
          <a:xfrm>
            <a:off x="723900" y="381000"/>
            <a:ext cx="49072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파이프라인</a:t>
            </a:r>
            <a:endParaRPr lang="en-US" sz="2400" dirty="0"/>
          </a:p>
        </p:txBody>
      </p:sp>
      <p:sp>
        <p:nvSpPr>
          <p:cNvPr id="30" name="SK-7-text-29"/>
          <p:cNvSpPr/>
          <p:nvPr/>
        </p:nvSpPr>
        <p:spPr>
          <a:xfrm>
            <a:off x="723900" y="914400"/>
            <a:ext cx="114681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토큰화, 표제어 추출, 도메인 특화 불용어 제거 등 4단계 정제 과정을 통해 분석용 유효 데이터를 확보합니다.</a:t>
            </a:r>
            <a:endParaRPr lang="en-US" sz="1350" dirty="0"/>
          </a:p>
        </p:txBody>
      </p:sp>
      <p:sp>
        <p:nvSpPr>
          <p:cNvPr id="31" name="SK-7-text-30"/>
          <p:cNvSpPr/>
          <p:nvPr/>
        </p:nvSpPr>
        <p:spPr>
          <a:xfrm>
            <a:off x="762000" y="1619250"/>
            <a:ext cx="3251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42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DATA (TOTAL)</a:t>
            </a:r>
            <a:endParaRPr lang="en-US" sz="1050" dirty="0"/>
          </a:p>
        </p:txBody>
      </p:sp>
      <p:sp>
        <p:nvSpPr>
          <p:cNvPr id="32" name="SK-7-text-31"/>
          <p:cNvSpPr/>
          <p:nvPr/>
        </p:nvSpPr>
        <p:spPr>
          <a:xfrm>
            <a:off x="838200" y="1838325"/>
            <a:ext cx="31749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5,824 Items</a:t>
            </a:r>
            <a:endParaRPr lang="en-US" sz="2100" dirty="0"/>
          </a:p>
        </p:txBody>
      </p:sp>
      <p:sp>
        <p:nvSpPr>
          <p:cNvPr id="33" name="SK-7-text-32"/>
          <p:cNvSpPr/>
          <p:nvPr/>
        </p:nvSpPr>
        <p:spPr>
          <a:xfrm>
            <a:off x="4508450" y="1619250"/>
            <a:ext cx="35966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42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 DATA (PROCESSED)</a:t>
            </a:r>
            <a:endParaRPr lang="en-US" sz="1050" dirty="0"/>
          </a:p>
        </p:txBody>
      </p:sp>
      <p:sp>
        <p:nvSpPr>
          <p:cNvPr id="34" name="SK-7-text-33"/>
          <p:cNvSpPr/>
          <p:nvPr/>
        </p:nvSpPr>
        <p:spPr>
          <a:xfrm>
            <a:off x="4584650" y="1838325"/>
            <a:ext cx="31749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3,976 Items</a:t>
            </a:r>
            <a:endParaRPr lang="en-US" sz="2100" dirty="0"/>
          </a:p>
        </p:txBody>
      </p:sp>
      <p:sp>
        <p:nvSpPr>
          <p:cNvPr id="35" name="SK-7-text-34"/>
          <p:cNvSpPr/>
          <p:nvPr/>
        </p:nvSpPr>
        <p:spPr>
          <a:xfrm>
            <a:off x="8254901" y="1619250"/>
            <a:ext cx="32511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42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RETENTION RATE</a:t>
            </a:r>
            <a:endParaRPr lang="en-US" sz="1050" dirty="0"/>
          </a:p>
        </p:txBody>
      </p:sp>
      <p:sp>
        <p:nvSpPr>
          <p:cNvPr id="36" name="SK-7-text-35"/>
          <p:cNvSpPr/>
          <p:nvPr/>
        </p:nvSpPr>
        <p:spPr>
          <a:xfrm>
            <a:off x="8331101" y="1838325"/>
            <a:ext cx="31749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68.3 %</a:t>
            </a:r>
            <a:endParaRPr lang="en-US" sz="2100" dirty="0"/>
          </a:p>
        </p:txBody>
      </p:sp>
      <p:sp>
        <p:nvSpPr>
          <p:cNvPr id="37" name="SK-7-text-36"/>
          <p:cNvSpPr/>
          <p:nvPr/>
        </p:nvSpPr>
        <p:spPr>
          <a:xfrm>
            <a:off x="723900" y="2457450"/>
            <a:ext cx="745182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125" dirty="0"/>
          </a:p>
        </p:txBody>
      </p:sp>
      <p:sp>
        <p:nvSpPr>
          <p:cNvPr id="38" name="SK-7-text-37"/>
          <p:cNvSpPr/>
          <p:nvPr/>
        </p:nvSpPr>
        <p:spPr>
          <a:xfrm>
            <a:off x="1697682" y="2457450"/>
            <a:ext cx="2368153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작업</a:t>
            </a:r>
            <a:endParaRPr lang="en-US" sz="1125" dirty="0"/>
          </a:p>
        </p:txBody>
      </p:sp>
      <p:sp>
        <p:nvSpPr>
          <p:cNvPr id="39" name="SK-7-text-38"/>
          <p:cNvSpPr/>
          <p:nvPr/>
        </p:nvSpPr>
        <p:spPr>
          <a:xfrm>
            <a:off x="4294436" y="2457450"/>
            <a:ext cx="2693045" cy="4048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 결과</a:t>
            </a:r>
            <a:endParaRPr lang="en-US" sz="1125" dirty="0"/>
          </a:p>
        </p:txBody>
      </p:sp>
      <p:sp>
        <p:nvSpPr>
          <p:cNvPr id="40" name="SK-7-textBg-39"/>
          <p:cNvSpPr/>
          <p:nvPr/>
        </p:nvSpPr>
        <p:spPr>
          <a:xfrm>
            <a:off x="723900" y="2967038"/>
            <a:ext cx="428625" cy="209550"/>
          </a:xfrm>
          <a:prstGeom prst="roundRect">
            <a:avLst>
              <a:gd name="adj" fmla="val 9091"/>
            </a:avLst>
          </a:prstGeom>
          <a:solidFill>
            <a:srgbClr val="7000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K-7-text-40"/>
          <p:cNvSpPr/>
          <p:nvPr/>
        </p:nvSpPr>
        <p:spPr>
          <a:xfrm>
            <a:off x="800100" y="2967038"/>
            <a:ext cx="324104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</a:t>
            </a:r>
            <a:endParaRPr lang="en-US" sz="900" dirty="0"/>
          </a:p>
        </p:txBody>
      </p:sp>
      <p:sp>
        <p:nvSpPr>
          <p:cNvPr id="42" name="SK-7-text-41"/>
          <p:cNvSpPr/>
          <p:nvPr/>
        </p:nvSpPr>
        <p:spPr>
          <a:xfrm>
            <a:off x="1697682" y="2862263"/>
            <a:ext cx="2291953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결측치(NaN) 제거 및 수집 실패 행 필터링</a:t>
            </a:r>
            <a:endParaRPr lang="en-US" sz="1125" dirty="0"/>
          </a:p>
        </p:txBody>
      </p:sp>
      <p:sp>
        <p:nvSpPr>
          <p:cNvPr id="43" name="SK-7-text-42"/>
          <p:cNvSpPr/>
          <p:nvPr/>
        </p:nvSpPr>
        <p:spPr>
          <a:xfrm>
            <a:off x="4294436" y="2862263"/>
            <a:ext cx="3505785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20자 미만 텍스트 및 에러 로그 제거</a:t>
            </a:r>
            <a:endParaRPr lang="en-US" sz="1125" dirty="0"/>
          </a:p>
        </p:txBody>
      </p:sp>
      <p:sp>
        <p:nvSpPr>
          <p:cNvPr id="44" name="SK-7-textBg-43"/>
          <p:cNvSpPr/>
          <p:nvPr/>
        </p:nvSpPr>
        <p:spPr>
          <a:xfrm>
            <a:off x="723900" y="3586163"/>
            <a:ext cx="447675" cy="209550"/>
          </a:xfrm>
          <a:prstGeom prst="roundRect">
            <a:avLst>
              <a:gd name="adj" fmla="val 9091"/>
            </a:avLst>
          </a:prstGeom>
          <a:solidFill>
            <a:srgbClr val="7000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SK-7-text-44"/>
          <p:cNvSpPr/>
          <p:nvPr/>
        </p:nvSpPr>
        <p:spPr>
          <a:xfrm>
            <a:off x="800100" y="3586163"/>
            <a:ext cx="331713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</a:t>
            </a:r>
            <a:endParaRPr lang="en-US" sz="900" dirty="0"/>
          </a:p>
        </p:txBody>
      </p:sp>
      <p:sp>
        <p:nvSpPr>
          <p:cNvPr id="46" name="SK-7-text-45"/>
          <p:cNvSpPr/>
          <p:nvPr/>
        </p:nvSpPr>
        <p:spPr>
          <a:xfrm>
            <a:off x="1697682" y="3481388"/>
            <a:ext cx="2368153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텍스트 형식 확보</a:t>
            </a:r>
            <a:endParaRPr lang="en-US" sz="1125" dirty="0"/>
          </a:p>
        </p:txBody>
      </p:sp>
      <p:sp>
        <p:nvSpPr>
          <p:cNvPr id="47" name="SK-7-text-46"/>
          <p:cNvSpPr/>
          <p:nvPr/>
        </p:nvSpPr>
        <p:spPr>
          <a:xfrm>
            <a:off x="4294436" y="3481388"/>
            <a:ext cx="2616845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소문자 변환, 특수문자·숫자 제거, 공백 정리</a:t>
            </a:r>
            <a:endParaRPr lang="en-US" sz="1125" dirty="0"/>
          </a:p>
        </p:txBody>
      </p:sp>
      <p:sp>
        <p:nvSpPr>
          <p:cNvPr id="48" name="SK-7-textBg-47"/>
          <p:cNvSpPr/>
          <p:nvPr/>
        </p:nvSpPr>
        <p:spPr>
          <a:xfrm>
            <a:off x="723900" y="4205288"/>
            <a:ext cx="457200" cy="209550"/>
          </a:xfrm>
          <a:prstGeom prst="roundRect">
            <a:avLst>
              <a:gd name="adj" fmla="val 9091"/>
            </a:avLst>
          </a:prstGeom>
          <a:solidFill>
            <a:srgbClr val="7000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9" name="SK-7-text-48"/>
          <p:cNvSpPr/>
          <p:nvPr/>
        </p:nvSpPr>
        <p:spPr>
          <a:xfrm>
            <a:off x="800100" y="4205288"/>
            <a:ext cx="33528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</a:t>
            </a:r>
            <a:endParaRPr lang="en-US" sz="900" dirty="0"/>
          </a:p>
        </p:txBody>
      </p:sp>
      <p:sp>
        <p:nvSpPr>
          <p:cNvPr id="50" name="SK-7-text-49"/>
          <p:cNvSpPr/>
          <p:nvPr/>
        </p:nvSpPr>
        <p:spPr>
          <a:xfrm>
            <a:off x="1697682" y="4100513"/>
            <a:ext cx="3102713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NLTK 형태소 분석 및 표제어 추출</a:t>
            </a:r>
            <a:endParaRPr lang="en-US" sz="1125" dirty="0"/>
          </a:p>
        </p:txBody>
      </p:sp>
      <p:sp>
        <p:nvSpPr>
          <p:cNvPr id="51" name="SK-7-text-50"/>
          <p:cNvSpPr/>
          <p:nvPr/>
        </p:nvSpPr>
        <p:spPr>
          <a:xfrm>
            <a:off x="4294436" y="4100513"/>
            <a:ext cx="4683105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동사·명사 원형 복원 (예: killed → kill)</a:t>
            </a:r>
            <a:endParaRPr lang="en-US" sz="1125" dirty="0"/>
          </a:p>
        </p:txBody>
      </p:sp>
      <p:sp>
        <p:nvSpPr>
          <p:cNvPr id="52" name="SK-7-textBg-51"/>
          <p:cNvSpPr/>
          <p:nvPr/>
        </p:nvSpPr>
        <p:spPr>
          <a:xfrm>
            <a:off x="723900" y="4643438"/>
            <a:ext cx="457200" cy="209550"/>
          </a:xfrm>
          <a:prstGeom prst="roundRect">
            <a:avLst>
              <a:gd name="adj" fmla="val 9091"/>
            </a:avLst>
          </a:prstGeom>
          <a:solidFill>
            <a:srgbClr val="7000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K-7-text-52"/>
          <p:cNvSpPr/>
          <p:nvPr/>
        </p:nvSpPr>
        <p:spPr>
          <a:xfrm>
            <a:off x="800100" y="4643438"/>
            <a:ext cx="33528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</a:t>
            </a:r>
            <a:endParaRPr lang="en-US" sz="900" dirty="0"/>
          </a:p>
        </p:txBody>
      </p:sp>
      <p:sp>
        <p:nvSpPr>
          <p:cNvPr id="54" name="SK-7-text-53"/>
          <p:cNvSpPr/>
          <p:nvPr/>
        </p:nvSpPr>
        <p:spPr>
          <a:xfrm>
            <a:off x="1697682" y="4538663"/>
            <a:ext cx="3455806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다단계 불용어 통합 정제 (80여 개)</a:t>
            </a:r>
            <a:endParaRPr lang="en-US" sz="1125" dirty="0"/>
          </a:p>
        </p:txBody>
      </p:sp>
      <p:sp>
        <p:nvSpPr>
          <p:cNvPr id="55" name="SK-7-text-54"/>
          <p:cNvSpPr/>
          <p:nvPr/>
        </p:nvSpPr>
        <p:spPr>
          <a:xfrm>
            <a:off x="4294436" y="4538663"/>
            <a:ext cx="2616845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당연어 및 언론사 노이즈 제거 완료</a:t>
            </a:r>
            <a:endParaRPr lang="en-US" sz="1125" dirty="0"/>
          </a:p>
        </p:txBody>
      </p:sp>
      <p:sp>
        <p:nvSpPr>
          <p:cNvPr id="56" name="SK-7-text-55"/>
          <p:cNvSpPr/>
          <p:nvPr/>
        </p:nvSpPr>
        <p:spPr>
          <a:xfrm>
            <a:off x="7735193" y="2581275"/>
            <a:ext cx="402342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불용어 처리 기준</a:t>
            </a:r>
            <a:endParaRPr lang="en-US" sz="1350" dirty="0"/>
          </a:p>
        </p:txBody>
      </p:sp>
      <p:sp>
        <p:nvSpPr>
          <p:cNvPr id="57" name="SK-7-text-56"/>
          <p:cNvSpPr/>
          <p:nvPr/>
        </p:nvSpPr>
        <p:spPr>
          <a:xfrm>
            <a:off x="7444680" y="2933700"/>
            <a:ext cx="4099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E5FF"/>
                </a:solidFill>
              </a:rPr>
              <a:t>도메인 당연어</a:t>
            </a:r>
            <a:endParaRPr lang="en-US" sz="1050" dirty="0"/>
          </a:p>
        </p:txBody>
      </p:sp>
      <p:sp>
        <p:nvSpPr>
          <p:cNvPr id="58" name="SK-7-text-57"/>
          <p:cNvSpPr/>
          <p:nvPr/>
        </p:nvSpPr>
        <p:spPr>
          <a:xfrm>
            <a:off x="7444680" y="3162300"/>
            <a:ext cx="474732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718096"/>
                </a:solidFill>
              </a:rPr>
              <a:t>hormuz, strait, iran, iranian 등 (변별력 확보)</a:t>
            </a:r>
            <a:endParaRPr lang="en-US" sz="975" dirty="0"/>
          </a:p>
        </p:txBody>
      </p:sp>
      <p:sp>
        <p:nvSpPr>
          <p:cNvPr id="59" name="SK-7-text-58"/>
          <p:cNvSpPr/>
          <p:nvPr/>
        </p:nvSpPr>
        <p:spPr>
          <a:xfrm>
            <a:off x="7444680" y="3411736"/>
            <a:ext cx="4099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E5FF"/>
                </a:solidFill>
              </a:rPr>
              <a:t>언론사/플랫폼</a:t>
            </a:r>
            <a:endParaRPr lang="en-US" sz="1050" dirty="0"/>
          </a:p>
        </p:txBody>
      </p:sp>
      <p:sp>
        <p:nvSpPr>
          <p:cNvPr id="60" name="SK-7-text-59"/>
          <p:cNvSpPr/>
          <p:nvPr/>
        </p:nvSpPr>
        <p:spPr>
          <a:xfrm>
            <a:off x="7444680" y="3640336"/>
            <a:ext cx="474732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718096"/>
                </a:solidFill>
              </a:rPr>
              <a:t>cnbc, bbc, bloomberg, reuters 등 매체명</a:t>
            </a:r>
            <a:endParaRPr lang="en-US" sz="975" dirty="0"/>
          </a:p>
        </p:txBody>
      </p:sp>
      <p:sp>
        <p:nvSpPr>
          <p:cNvPr id="61" name="SK-7-text-60"/>
          <p:cNvSpPr/>
          <p:nvPr/>
        </p:nvSpPr>
        <p:spPr>
          <a:xfrm>
            <a:off x="7444680" y="3889772"/>
            <a:ext cx="4099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E5FF"/>
                </a:solidFill>
              </a:rPr>
              <a:t>서술·기능어</a:t>
            </a:r>
            <a:endParaRPr lang="en-US" sz="1050" dirty="0"/>
          </a:p>
        </p:txBody>
      </p:sp>
      <p:sp>
        <p:nvSpPr>
          <p:cNvPr id="62" name="SK-7-text-61"/>
          <p:cNvSpPr/>
          <p:nvPr/>
        </p:nvSpPr>
        <p:spPr>
          <a:xfrm>
            <a:off x="7444680" y="4118372"/>
            <a:ext cx="474732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718096"/>
                </a:solidFill>
              </a:rPr>
              <a:t>said, would, could, told, reported 등</a:t>
            </a:r>
            <a:endParaRPr lang="en-US" sz="975" dirty="0"/>
          </a:p>
        </p:txBody>
      </p:sp>
      <p:sp>
        <p:nvSpPr>
          <p:cNvPr id="63" name="SK-7-text-62"/>
          <p:cNvSpPr/>
          <p:nvPr/>
        </p:nvSpPr>
        <p:spPr>
          <a:xfrm>
            <a:off x="7444680" y="4367808"/>
            <a:ext cx="4099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E5FF"/>
                </a:solidFill>
              </a:rPr>
              <a:t>시스템 노이즈</a:t>
            </a:r>
            <a:endParaRPr lang="en-US" sz="1050" dirty="0"/>
          </a:p>
        </p:txBody>
      </p:sp>
      <p:sp>
        <p:nvSpPr>
          <p:cNvPr id="64" name="SK-7-text-63"/>
          <p:cNvSpPr/>
          <p:nvPr/>
        </p:nvSpPr>
        <p:spPr>
          <a:xfrm>
            <a:off x="7444680" y="4596408"/>
            <a:ext cx="474732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718096"/>
                </a:solidFill>
              </a:rPr>
              <a:t>cookies, privacy, subscribe, newsletter 등</a:t>
            </a:r>
            <a:endParaRPr lang="en-US" sz="975" dirty="0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CC85BFB2-9221-9681-0B32-E77D383FBE9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1" y="5262564"/>
            <a:ext cx="2524038" cy="1536192"/>
          </a:xfrm>
          <a:prstGeom prst="rect">
            <a:avLst/>
          </a:prstGeom>
        </p:spPr>
      </p:pic>
      <p:pic>
        <p:nvPicPr>
          <p:cNvPr id="68" name="SK-13-img-23" descr="preencoded.png">
            <a:extLst>
              <a:ext uri="{FF2B5EF4-FFF2-40B4-BE49-F238E27FC236}">
                <a16:creationId xmlns:a16="http://schemas.microsoft.com/office/drawing/2014/main" id="{7B5AC293-0F39-74E1-2485-DBCEFA516BC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54744" y="5262564"/>
            <a:ext cx="3808937" cy="1536192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3DD041CB-8486-138C-A519-70504E9ECAD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92281" y="5262565"/>
            <a:ext cx="2832126" cy="1536192"/>
          </a:xfrm>
          <a:prstGeom prst="rect">
            <a:avLst/>
          </a:prstGeom>
        </p:spPr>
      </p:pic>
      <p:sp>
        <p:nvSpPr>
          <p:cNvPr id="74" name="SK-13-text-50">
            <a:extLst>
              <a:ext uri="{FF2B5EF4-FFF2-40B4-BE49-F238E27FC236}">
                <a16:creationId xmlns:a16="http://schemas.microsoft.com/office/drawing/2014/main" id="{4AA17D85-5913-24BE-9166-84D92E6C7DA1}"/>
              </a:ext>
            </a:extLst>
          </p:cNvPr>
          <p:cNvSpPr/>
          <p:nvPr/>
        </p:nvSpPr>
        <p:spPr>
          <a:xfrm>
            <a:off x="3425585" y="5338763"/>
            <a:ext cx="3485696" cy="1389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35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왼쪽 사진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ts val="1560"/>
              </a:lnSpc>
              <a:buNone/>
            </a:pP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원시 데이터가 수집된 엑셀파일을 직접 보고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본문 수집 자체가 되지 않은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본문 수집에 실패한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)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파악한 후에 본문 수집 실패 에러 문구를 직접 정의해 코드 작성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>
              <a:lnSpc>
                <a:spcPts val="1350"/>
              </a:lnSpc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오른쪽 사진</a:t>
            </a:r>
            <a:endParaRPr lang="en-US" altLang="ko-KR" sz="1200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ts val="1560"/>
              </a:lnSpc>
              <a:buNone/>
            </a:pP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NTLK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에 내제되어 있는 영문 외부 </a:t>
            </a:r>
            <a:r>
              <a:rPr lang="ko-KR" altLang="en-US" sz="975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불용어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사전과 내가 직접 정의한 사용자 </a:t>
            </a:r>
            <a:r>
              <a:rPr lang="ko-KR" altLang="en-US" sz="975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불용어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사전을 구축 및 통합</a:t>
            </a:r>
            <a:endParaRPr lang="en-US" altLang="ko-KR" sz="975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75" name="SK-7-img-10" descr="preencoded.png">
            <a:extLst>
              <a:ext uri="{FF2B5EF4-FFF2-40B4-BE49-F238E27FC236}">
                <a16:creationId xmlns:a16="http://schemas.microsoft.com/office/drawing/2014/main" id="{9858E855-10CE-7180-2C14-EB61180B1A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0697" y="2481263"/>
            <a:ext cx="2596753" cy="4048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47825"/>
            <a:ext cx="5410200" cy="3964484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838325"/>
            <a:ext cx="5029200" cy="400050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893540"/>
            <a:ext cx="214313" cy="175320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390775"/>
            <a:ext cx="5029200" cy="1968996"/>
          </a:xfrm>
          <a:prstGeom prst="rect">
            <a:avLst/>
          </a:prstGeom>
        </p:spPr>
      </p:pic>
      <p:pic>
        <p:nvPicPr>
          <p:cNvPr id="19" name="SK-8-img-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550271"/>
            <a:ext cx="5029200" cy="871538"/>
          </a:xfrm>
          <a:prstGeom prst="rect">
            <a:avLst/>
          </a:prstGeom>
        </p:spPr>
      </p:pic>
      <p:pic>
        <p:nvPicPr>
          <p:cNvPr id="20" name="SK-8-img-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647825"/>
            <a:ext cx="5410200" cy="3964484"/>
          </a:xfrm>
          <a:prstGeom prst="rect">
            <a:avLst/>
          </a:prstGeom>
        </p:spPr>
      </p:pic>
      <p:pic>
        <p:nvPicPr>
          <p:cNvPr id="21" name="SK-8-img-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838325"/>
            <a:ext cx="5029200" cy="400050"/>
          </a:xfrm>
          <a:prstGeom prst="rect">
            <a:avLst/>
          </a:prstGeom>
        </p:spPr>
      </p:pic>
      <p:pic>
        <p:nvPicPr>
          <p:cNvPr id="22" name="SK-8-img-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893540"/>
            <a:ext cx="214313" cy="175320"/>
          </a:xfrm>
          <a:prstGeom prst="rect">
            <a:avLst/>
          </a:prstGeom>
        </p:spPr>
      </p:pic>
      <p:pic>
        <p:nvPicPr>
          <p:cNvPr id="23" name="SK-8-img-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390775"/>
            <a:ext cx="5029200" cy="1968996"/>
          </a:xfrm>
          <a:prstGeom prst="rect">
            <a:avLst/>
          </a:prstGeom>
        </p:spPr>
      </p:pic>
      <p:pic>
        <p:nvPicPr>
          <p:cNvPr id="33" name="SK-8-img-3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550271"/>
            <a:ext cx="5029200" cy="871538"/>
          </a:xfrm>
          <a:prstGeom prst="rect">
            <a:avLst/>
          </a:prstGeom>
        </p:spPr>
      </p:pic>
      <p:pic>
        <p:nvPicPr>
          <p:cNvPr id="34" name="SK-8-img-3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840909"/>
            <a:ext cx="11049000" cy="731341"/>
          </a:xfrm>
          <a:prstGeom prst="rect">
            <a:avLst/>
          </a:prstGeom>
        </p:spPr>
      </p:pic>
      <p:pic>
        <p:nvPicPr>
          <p:cNvPr id="35" name="SK-8-img-3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5993309"/>
            <a:ext cx="790575" cy="276225"/>
          </a:xfrm>
          <a:prstGeom prst="rect">
            <a:avLst/>
          </a:prstGeom>
        </p:spPr>
      </p:pic>
      <p:sp>
        <p:nvSpPr>
          <p:cNvPr id="36" name="SK-8-text-35"/>
          <p:cNvSpPr/>
          <p:nvPr/>
        </p:nvSpPr>
        <p:spPr>
          <a:xfrm>
            <a:off x="723900" y="381000"/>
            <a:ext cx="45415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워드클라우드 분석 결과</a:t>
            </a:r>
            <a:endParaRPr lang="en-US" sz="2400" dirty="0"/>
          </a:p>
        </p:txBody>
      </p:sp>
      <p:sp>
        <p:nvSpPr>
          <p:cNvPr id="37" name="SK-8-text-36"/>
          <p:cNvSpPr/>
          <p:nvPr/>
        </p:nvSpPr>
        <p:spPr>
          <a:xfrm>
            <a:off x="723900" y="914400"/>
            <a:ext cx="114681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제목과 본문의 핵심 키워드 시각화를 통해 정치적 인과관계와 에너지 시장의 타격 양상을 비교합니다.</a:t>
            </a:r>
            <a:endParaRPr lang="en-US" sz="1350" dirty="0"/>
          </a:p>
        </p:txBody>
      </p:sp>
      <p:sp>
        <p:nvSpPr>
          <p:cNvPr id="38" name="SK-8-text-37"/>
          <p:cNvSpPr/>
          <p:nvPr/>
        </p:nvSpPr>
        <p:spPr>
          <a:xfrm>
            <a:off x="1071563" y="1838325"/>
            <a:ext cx="37528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제목 분석 (Title)</a:t>
            </a:r>
            <a:endParaRPr lang="en-US" sz="1500" dirty="0"/>
          </a:p>
        </p:txBody>
      </p:sp>
      <p:sp>
        <p:nvSpPr>
          <p:cNvPr id="48" name="SK-8-text-47"/>
          <p:cNvSpPr/>
          <p:nvPr/>
        </p:nvSpPr>
        <p:spPr>
          <a:xfrm>
            <a:off x="876300" y="4664571"/>
            <a:ext cx="48006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인사이트: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개전 전후의 긴장감과 해상 교전 실황</a:t>
            </a:r>
          </a:p>
          <a:p>
            <a:pPr marL="0" indent="0">
              <a:lnSpc>
                <a:spcPts val="1688"/>
              </a:lnSpc>
              <a:buNone/>
            </a:pPr>
            <a:r>
              <a:rPr lang="en-US" sz="1125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트럼프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행정부의 강경 노선(Trump)이 전쟁의 도화선으로 작용했으며, 해협 봉쇄(Blockade)와 통항 재개(Reopen)를 둘러싼 </a:t>
            </a: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정치적 대립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헤드라인을 주도함.</a:t>
            </a:r>
            <a:endParaRPr lang="en-US" sz="1125" dirty="0"/>
          </a:p>
        </p:txBody>
      </p:sp>
      <p:sp>
        <p:nvSpPr>
          <p:cNvPr id="49" name="SK-8-text-48"/>
          <p:cNvSpPr/>
          <p:nvPr/>
        </p:nvSpPr>
        <p:spPr>
          <a:xfrm>
            <a:off x="6710363" y="1838325"/>
            <a:ext cx="42100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본문 분석 (Content)</a:t>
            </a:r>
            <a:endParaRPr lang="en-US" sz="1500" dirty="0"/>
          </a:p>
        </p:txBody>
      </p:sp>
      <p:sp>
        <p:nvSpPr>
          <p:cNvPr id="59" name="SK-8-text-58"/>
          <p:cNvSpPr/>
          <p:nvPr/>
        </p:nvSpPr>
        <p:spPr>
          <a:xfrm>
            <a:off x="6515100" y="4664571"/>
            <a:ext cx="48006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인사이트: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전면전 전개 및 글로벌 에너지 경제 쇼크</a:t>
            </a:r>
          </a:p>
          <a:p>
            <a:pPr marL="0" indent="0">
              <a:lnSpc>
                <a:spcPts val="1688"/>
              </a:lnSpc>
              <a:buNone/>
            </a:pPr>
            <a:r>
              <a:rPr lang="en-US" sz="1125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페르시아만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(Persian Gulf) 내 교전 실황과 함께 국제 유가(Oil Price), 천연가스 등 </a:t>
            </a: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에너지 공급망 마비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관련된 구체적인 </a:t>
            </a:r>
            <a:r>
              <a:rPr lang="en-US" sz="1125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경제적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25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수치들</a:t>
            </a:r>
            <a:r>
              <a:rPr lang="ko-KR" alt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25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집중적으로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25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서술</a:t>
            </a:r>
            <a:endParaRPr lang="en-US" sz="1125" dirty="0"/>
          </a:p>
        </p:txBody>
      </p:sp>
      <p:sp>
        <p:nvSpPr>
          <p:cNvPr id="60" name="SK-8-text-59"/>
          <p:cNvSpPr/>
          <p:nvPr/>
        </p:nvSpPr>
        <p:spPr>
          <a:xfrm>
            <a:off x="914400" y="5993309"/>
            <a:ext cx="644946" cy="2762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1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결론</a:t>
            </a:r>
            <a:endParaRPr lang="en-US" sz="1050" dirty="0"/>
          </a:p>
        </p:txBody>
      </p:sp>
      <p:sp>
        <p:nvSpPr>
          <p:cNvPr id="61" name="SK-8-text-60"/>
          <p:cNvSpPr/>
          <p:nvPr/>
        </p:nvSpPr>
        <p:spPr>
          <a:xfrm>
            <a:off x="1743075" y="5840909"/>
            <a:ext cx="9648825" cy="7067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0"/>
              </a:lnSpc>
            </a:pP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26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년 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1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월부터 고조되던 미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-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이란 간의 지정학적 도화선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(`trump`)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 결국 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2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월 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28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일 실제 전쟁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(`war`)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으로 폭발하였으며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이후 현재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(5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월 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22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일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까지 이란 혁명수비대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(`revolutionary guard`)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에 의한 페르시아만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(`</a:t>
            </a:r>
            <a:r>
              <a:rPr lang="en-US" altLang="ko-KR" sz="11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persian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gulf`) 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봉쇄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(`blockade`)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와 해상 선박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(`ship`) 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타격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그로 인한 수백만 배럴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(`million barrel`) 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단위의 공급망 마비로 국제 유가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(`oil price`) 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및 천연가스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(`natural gas`) 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시장이 폭등한 글로벌 안보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경제 재앙의 흐름을 단 두 장의 그림으로 완벽하게 스토리텔링하고 있음</a:t>
            </a:r>
            <a:r>
              <a:rPr lang="en-US" altLang="ko-KR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4D743B9A-D943-C28C-C2B1-7AF52AC255F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9754" y="2428487"/>
            <a:ext cx="4953691" cy="1893184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E935F7D2-F389-3AE2-7314-023CBF3EFE2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43317" y="2428487"/>
            <a:ext cx="4944165" cy="1893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5410200" cy="3562351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581150"/>
            <a:ext cx="5181600" cy="304800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622078"/>
            <a:ext cx="214313" cy="175320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1962150"/>
            <a:ext cx="5162550" cy="3105151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1504950"/>
            <a:ext cx="5410200" cy="3562351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1581150"/>
            <a:ext cx="5181600" cy="304800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622078"/>
            <a:ext cx="214313" cy="175320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962150"/>
            <a:ext cx="5162550" cy="3105151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210176"/>
            <a:ext cx="11049000" cy="1576518"/>
          </a:xfrm>
          <a:prstGeom prst="rect">
            <a:avLst/>
          </a:prstGeom>
        </p:spPr>
      </p:pic>
      <p:sp>
        <p:nvSpPr>
          <p:cNvPr id="16" name="SK-9-text-15"/>
          <p:cNvSpPr/>
          <p:nvPr/>
        </p:nvSpPr>
        <p:spPr>
          <a:xfrm>
            <a:off x="723900" y="381000"/>
            <a:ext cx="71018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 기반 핵심 키워드 분석</a:t>
            </a:r>
            <a:endParaRPr lang="en-US" sz="2400" dirty="0"/>
          </a:p>
        </p:txBody>
      </p:sp>
      <p:sp>
        <p:nvSpPr>
          <p:cNvPr id="17" name="SK-9-text-16"/>
          <p:cNvSpPr/>
          <p:nvPr/>
        </p:nvSpPr>
        <p:spPr>
          <a:xfrm>
            <a:off x="723900" y="914400"/>
            <a:ext cx="114681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단어별 가중치 분석을 통해 정치적 원인인 트럼프 행정부와 실질적 피해 대상인 선박 및 에너지 위기를 규명합니다.</a:t>
            </a:r>
            <a:endParaRPr lang="en-US" sz="1350" dirty="0"/>
          </a:p>
        </p:txBody>
      </p:sp>
      <p:sp>
        <p:nvSpPr>
          <p:cNvPr id="18" name="SK-9-text-17"/>
          <p:cNvSpPr/>
          <p:nvPr/>
        </p:nvSpPr>
        <p:spPr>
          <a:xfrm>
            <a:off x="995363" y="1581150"/>
            <a:ext cx="40633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제목 TF-IDF 상위 20</a:t>
            </a:r>
            <a:endParaRPr lang="en-US" sz="1350" dirty="0"/>
          </a:p>
        </p:txBody>
      </p:sp>
      <p:sp>
        <p:nvSpPr>
          <p:cNvPr id="19" name="SK-9-text-18"/>
          <p:cNvSpPr/>
          <p:nvPr/>
        </p:nvSpPr>
        <p:spPr>
          <a:xfrm>
            <a:off x="6634163" y="1581150"/>
            <a:ext cx="40633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뉴스 본문 TF-IDF 상위 20</a:t>
            </a:r>
            <a:endParaRPr lang="en-US" sz="1350" dirty="0"/>
          </a:p>
        </p:txBody>
      </p:sp>
      <p:sp>
        <p:nvSpPr>
          <p:cNvPr id="21" name="SK-9-text-20"/>
          <p:cNvSpPr/>
          <p:nvPr/>
        </p:nvSpPr>
        <p:spPr>
          <a:xfrm>
            <a:off x="685800" y="5276851"/>
            <a:ext cx="10934700" cy="14343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</a:t>
            </a:r>
            <a:r>
              <a:rPr lang="en-US" sz="120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</a:t>
            </a: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이번 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2026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년 미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-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이란 전쟁의 정치적 인과 관계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(trump)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와 사건의 성격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(war, blockade)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을 압축하여 독자에게 타전하고 무엇보다 </a:t>
            </a:r>
            <a:r>
              <a:rPr lang="ko-KR" altLang="en-US" sz="120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호르무즈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해협의 현재 상황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(open, reopen)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을 대중들에게 곧바로 알려주는 역할을 수행하였고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</a:t>
            </a:r>
            <a:endParaRPr lang="ko-KR" altLang="en-US" sz="120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800"/>
              </a:lnSpc>
            </a:pP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</a:t>
            </a:r>
            <a:r>
              <a:rPr lang="en-US" sz="120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</a:t>
            </a: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개전 이후 파생된 실질적인 물류 재앙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(ship, vessel, transit)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과 글로벌 에너지 시장의 타격 및 리스크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(oil, price, energy)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를 매우 정량적이고 심층적으로 기록하고 있다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  <a:p>
            <a:pPr>
              <a:lnSpc>
                <a:spcPts val="1800"/>
              </a:lnSpc>
            </a:pPr>
            <a:endParaRPr lang="en-US" sz="120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결과적으로 두 분석 결과가 상호 보완적인 강한 시너지를 내고 있으며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본 데이터셋은 개전 전후의 지정학적 원인부터 실제 경제적 파급 효과까지 통계적 정합성을 완벽하게 갖추고 있음을 보여줌</a:t>
            </a:r>
            <a:r>
              <a:rPr lang="en-US" altLang="ko-KR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0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0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14475"/>
            <a:ext cx="5381625" cy="4343400"/>
          </a:xfrm>
          <a:prstGeom prst="rect">
            <a:avLst/>
          </a:prstGeom>
        </p:spPr>
      </p:pic>
      <p:pic>
        <p:nvPicPr>
          <p:cNvPr id="7" name="SK-10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09725"/>
            <a:ext cx="5153025" cy="438150"/>
          </a:xfrm>
          <a:prstGeom prst="rect">
            <a:avLst/>
          </a:prstGeom>
        </p:spPr>
      </p:pic>
      <p:pic>
        <p:nvPicPr>
          <p:cNvPr id="8" name="SK-10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1752600"/>
            <a:ext cx="190500" cy="152400"/>
          </a:xfrm>
          <a:prstGeom prst="rect">
            <a:avLst/>
          </a:prstGeom>
        </p:spPr>
      </p:pic>
      <p:pic>
        <p:nvPicPr>
          <p:cNvPr id="9" name="SK-10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124075"/>
            <a:ext cx="5133975" cy="3733799"/>
          </a:xfrm>
          <a:prstGeom prst="rect">
            <a:avLst/>
          </a:prstGeom>
        </p:spPr>
      </p:pic>
      <p:pic>
        <p:nvPicPr>
          <p:cNvPr id="10" name="SK-10-img-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514475"/>
            <a:ext cx="5381625" cy="4343400"/>
          </a:xfrm>
          <a:prstGeom prst="rect">
            <a:avLst/>
          </a:prstGeom>
        </p:spPr>
      </p:pic>
      <p:pic>
        <p:nvPicPr>
          <p:cNvPr id="11" name="SK-10-img-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175" y="1609725"/>
            <a:ext cx="5153025" cy="438150"/>
          </a:xfrm>
          <a:prstGeom prst="rect">
            <a:avLst/>
          </a:prstGeom>
        </p:spPr>
      </p:pic>
      <p:pic>
        <p:nvPicPr>
          <p:cNvPr id="12" name="SK-10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6050" y="1752600"/>
            <a:ext cx="190500" cy="152400"/>
          </a:xfrm>
          <a:prstGeom prst="rect">
            <a:avLst/>
          </a:prstGeom>
        </p:spPr>
      </p:pic>
      <p:pic>
        <p:nvPicPr>
          <p:cNvPr id="13" name="SK-10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3175" y="2124075"/>
            <a:ext cx="5133975" cy="3724423"/>
          </a:xfrm>
          <a:prstGeom prst="rect">
            <a:avLst/>
          </a:prstGeom>
        </p:spPr>
      </p:pic>
      <p:pic>
        <p:nvPicPr>
          <p:cNvPr id="14" name="SK-10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6010275"/>
            <a:ext cx="11049000" cy="485775"/>
          </a:xfrm>
          <a:prstGeom prst="rect">
            <a:avLst/>
          </a:prstGeom>
        </p:spPr>
      </p:pic>
      <p:pic>
        <p:nvPicPr>
          <p:cNvPr id="15" name="SK-10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25" y="6124575"/>
            <a:ext cx="1552575" cy="257175"/>
          </a:xfrm>
          <a:prstGeom prst="rect">
            <a:avLst/>
          </a:prstGeom>
        </p:spPr>
      </p:pic>
      <p:pic>
        <p:nvPicPr>
          <p:cNvPr id="16" name="SK-10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6981" y="6185446"/>
            <a:ext cx="178594" cy="148828"/>
          </a:xfrm>
          <a:prstGeom prst="rect">
            <a:avLst/>
          </a:prstGeom>
        </p:spPr>
      </p:pic>
      <p:sp>
        <p:nvSpPr>
          <p:cNvPr id="17" name="SK-10-text-16"/>
          <p:cNvSpPr/>
          <p:nvPr/>
        </p:nvSpPr>
        <p:spPr>
          <a:xfrm>
            <a:off x="723900" y="381000"/>
            <a:ext cx="746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군집 수 결정을 위한 통계 분석</a:t>
            </a:r>
            <a:endParaRPr lang="en-US" sz="2400" dirty="0"/>
          </a:p>
        </p:txBody>
      </p:sp>
      <p:sp>
        <p:nvSpPr>
          <p:cNvPr id="18" name="SK-10-text-17"/>
          <p:cNvSpPr/>
          <p:nvPr/>
        </p:nvSpPr>
        <p:spPr>
          <a:xfrm>
            <a:off x="723900" y="914400"/>
            <a:ext cx="114681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엘보우 및 실루엣 분석의 교차 검증을 통해 데이터 내 거대 의제를 분리하는 최적의 군집 수 4를 확정합니다.</a:t>
            </a:r>
            <a:endParaRPr lang="en-US" sz="1350" dirty="0"/>
          </a:p>
        </p:txBody>
      </p:sp>
      <p:sp>
        <p:nvSpPr>
          <p:cNvPr id="19" name="SK-10-text-18"/>
          <p:cNvSpPr/>
          <p:nvPr/>
        </p:nvSpPr>
        <p:spPr>
          <a:xfrm>
            <a:off x="1114425" y="1685925"/>
            <a:ext cx="5124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Elbow Method (Inertia)</a:t>
            </a:r>
            <a:endParaRPr lang="en-US" sz="1500" dirty="0"/>
          </a:p>
        </p:txBody>
      </p:sp>
      <p:sp>
        <p:nvSpPr>
          <p:cNvPr id="20" name="SK-10-text-19"/>
          <p:cNvSpPr/>
          <p:nvPr/>
        </p:nvSpPr>
        <p:spPr>
          <a:xfrm>
            <a:off x="6781800" y="1685925"/>
            <a:ext cx="512445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Silhouette Score Trend</a:t>
            </a:r>
            <a:endParaRPr lang="en-US" sz="1500" dirty="0"/>
          </a:p>
        </p:txBody>
      </p:sp>
      <p:sp>
        <p:nvSpPr>
          <p:cNvPr id="21" name="SK-10-text-20"/>
          <p:cNvSpPr/>
          <p:nvPr/>
        </p:nvSpPr>
        <p:spPr>
          <a:xfrm>
            <a:off x="923925" y="6124575"/>
            <a:ext cx="225954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1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CONCLUSION</a:t>
            </a:r>
            <a:endParaRPr lang="en-US" sz="1050" dirty="0"/>
          </a:p>
        </p:txBody>
      </p:sp>
      <p:sp>
        <p:nvSpPr>
          <p:cNvPr id="22" name="SK-10-text-21"/>
          <p:cNvSpPr/>
          <p:nvPr/>
        </p:nvSpPr>
        <p:spPr>
          <a:xfrm>
            <a:off x="2552700" y="6124575"/>
            <a:ext cx="31032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 군집 수 K=4 확정</a:t>
            </a:r>
            <a:endParaRPr lang="en-US" sz="1350" dirty="0"/>
          </a:p>
        </p:txBody>
      </p:sp>
      <p:sp>
        <p:nvSpPr>
          <p:cNvPr id="23" name="SK-10-text-22"/>
          <p:cNvSpPr/>
          <p:nvPr/>
        </p:nvSpPr>
        <p:spPr>
          <a:xfrm>
            <a:off x="6562725" y="6146006"/>
            <a:ext cx="5629275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정량적 지표(Silhouette 최고점 + Elbow 변곡점)와 도메인 해석 타당성 일치</a:t>
            </a:r>
            <a:endParaRPr lang="en-US" sz="1125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2E1A61-0329-A47B-7D57-4D0777A6BB46}"/>
              </a:ext>
            </a:extLst>
          </p:cNvPr>
          <p:cNvSpPr txBox="1"/>
          <p:nvPr/>
        </p:nvSpPr>
        <p:spPr>
          <a:xfrm>
            <a:off x="828675" y="5484851"/>
            <a:ext cx="494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K=4 </a:t>
            </a:r>
            <a:r>
              <a:rPr lang="ko-KR" altLang="en-US" sz="900" dirty="0">
                <a:solidFill>
                  <a:schemeClr val="bg1"/>
                </a:solidFill>
              </a:rPr>
              <a:t>기점으로 꺾임 현상</a:t>
            </a:r>
            <a:r>
              <a:rPr lang="en-US" altLang="ko-KR" sz="900" dirty="0">
                <a:solidFill>
                  <a:schemeClr val="bg1"/>
                </a:solidFill>
              </a:rPr>
              <a:t>(Elbow Point) </a:t>
            </a:r>
            <a:r>
              <a:rPr lang="ko-KR" altLang="en-US" sz="900" dirty="0">
                <a:solidFill>
                  <a:schemeClr val="bg1"/>
                </a:solidFill>
              </a:rPr>
              <a:t>발생하며 감소폭이 눈에 띄게 완만해짐</a:t>
            </a:r>
            <a:endParaRPr lang="en-US" altLang="ko-KR" sz="900" dirty="0">
              <a:solidFill>
                <a:schemeClr val="bg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-&gt; </a:t>
            </a:r>
            <a:r>
              <a:rPr lang="ko-KR" altLang="en-US" sz="900" dirty="0">
                <a:solidFill>
                  <a:schemeClr val="bg1"/>
                </a:solidFill>
              </a:rPr>
              <a:t>데이터 내 거대 핵심 의제를 분리해내는 통계적 임계점이 </a:t>
            </a:r>
            <a:r>
              <a:rPr lang="en-US" altLang="ko-KR" sz="900" dirty="0">
                <a:solidFill>
                  <a:schemeClr val="bg1"/>
                </a:solidFill>
              </a:rPr>
              <a:t>K=4</a:t>
            </a:r>
            <a:r>
              <a:rPr lang="ko-KR" altLang="en-US" sz="900" dirty="0">
                <a:solidFill>
                  <a:schemeClr val="bg1"/>
                </a:solidFill>
              </a:rPr>
              <a:t>임을 명확히 시사함</a:t>
            </a:r>
            <a:r>
              <a:rPr lang="en-US" altLang="ko-KR" sz="900" dirty="0">
                <a:solidFill>
                  <a:schemeClr val="bg1"/>
                </a:solidFill>
              </a:rPr>
              <a:t>.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035734-770F-84BB-7D2A-1B1B9148C0AA}"/>
              </a:ext>
            </a:extLst>
          </p:cNvPr>
          <p:cNvSpPr txBox="1"/>
          <p:nvPr/>
        </p:nvSpPr>
        <p:spPr>
          <a:xfrm>
            <a:off x="6505575" y="5479166"/>
            <a:ext cx="494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실루엣 점수가 </a:t>
            </a:r>
            <a:r>
              <a:rPr lang="en-US" altLang="ko-KR" sz="900" dirty="0">
                <a:solidFill>
                  <a:schemeClr val="bg1"/>
                </a:solidFill>
              </a:rPr>
              <a:t>K=3</a:t>
            </a:r>
            <a:r>
              <a:rPr lang="ko-KR" altLang="en-US" sz="900" dirty="0">
                <a:solidFill>
                  <a:schemeClr val="bg1"/>
                </a:solidFill>
              </a:rPr>
              <a:t>에서 </a:t>
            </a:r>
            <a:r>
              <a:rPr lang="en-US" altLang="ko-KR" sz="900" dirty="0">
                <a:solidFill>
                  <a:schemeClr val="bg1"/>
                </a:solidFill>
              </a:rPr>
              <a:t>K=4</a:t>
            </a:r>
            <a:r>
              <a:rPr lang="ko-KR" altLang="en-US" sz="900" dirty="0">
                <a:solidFill>
                  <a:schemeClr val="bg1"/>
                </a:solidFill>
              </a:rPr>
              <a:t>로 넘어가는 시점에 폭발적인 수직 상승을 기록</a:t>
            </a:r>
            <a:endParaRPr lang="en-US" altLang="ko-KR" sz="900" dirty="0">
              <a:solidFill>
                <a:schemeClr val="bg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K=4</a:t>
            </a:r>
            <a:r>
              <a:rPr lang="ko-KR" altLang="en-US" sz="900" dirty="0">
                <a:solidFill>
                  <a:schemeClr val="bg1"/>
                </a:solidFill>
              </a:rPr>
              <a:t>에서 최고점에 도달한 후</a:t>
            </a:r>
            <a:r>
              <a:rPr lang="en-US" altLang="ko-KR" sz="900" dirty="0">
                <a:solidFill>
                  <a:schemeClr val="bg1"/>
                </a:solidFill>
              </a:rPr>
              <a:t>, K=5, 6 </a:t>
            </a:r>
            <a:r>
              <a:rPr lang="ko-KR" altLang="en-US" sz="900" dirty="0">
                <a:solidFill>
                  <a:schemeClr val="bg1"/>
                </a:solidFill>
              </a:rPr>
              <a:t>구간까지 점수가 추가 상승하지 않고 정체되는 양상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3300" y="1647825"/>
            <a:ext cx="4267200" cy="852488"/>
          </a:xfrm>
          <a:prstGeom prst="rect">
            <a:avLst/>
          </a:prstGeom>
        </p:spPr>
      </p:pic>
      <p:pic>
        <p:nvPicPr>
          <p:cNvPr id="9" name="SK-11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5700" y="1814513"/>
            <a:ext cx="190500" cy="152400"/>
          </a:xfrm>
          <a:prstGeom prst="rect">
            <a:avLst/>
          </a:prstGeom>
        </p:spPr>
      </p:pic>
      <p:pic>
        <p:nvPicPr>
          <p:cNvPr id="10" name="SK-11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0" y="2614613"/>
            <a:ext cx="4267200" cy="852488"/>
          </a:xfrm>
          <a:prstGeom prst="rect">
            <a:avLst/>
          </a:prstGeom>
        </p:spPr>
      </p:pic>
      <p:pic>
        <p:nvPicPr>
          <p:cNvPr id="11" name="SK-11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5700" y="2781300"/>
            <a:ext cx="190500" cy="152400"/>
          </a:xfrm>
          <a:prstGeom prst="rect">
            <a:avLst/>
          </a:prstGeom>
        </p:spPr>
      </p:pic>
      <p:pic>
        <p:nvPicPr>
          <p:cNvPr id="12" name="SK-11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3300" y="3581400"/>
            <a:ext cx="4267200" cy="852488"/>
          </a:xfrm>
          <a:prstGeom prst="rect">
            <a:avLst/>
          </a:prstGeom>
        </p:spPr>
      </p:pic>
      <p:pic>
        <p:nvPicPr>
          <p:cNvPr id="13" name="SK-11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5700" y="3748087"/>
            <a:ext cx="190500" cy="152400"/>
          </a:xfrm>
          <a:prstGeom prst="rect">
            <a:avLst/>
          </a:prstGeom>
        </p:spPr>
      </p:pic>
      <p:pic>
        <p:nvPicPr>
          <p:cNvPr id="14" name="SK-11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3300" y="4548188"/>
            <a:ext cx="4267200" cy="852488"/>
          </a:xfrm>
          <a:prstGeom prst="rect">
            <a:avLst/>
          </a:prstGeom>
        </p:spPr>
      </p:pic>
      <p:pic>
        <p:nvPicPr>
          <p:cNvPr id="15" name="SK-11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05700" y="4714875"/>
            <a:ext cx="190500" cy="152400"/>
          </a:xfrm>
          <a:prstGeom prst="rect">
            <a:avLst/>
          </a:prstGeom>
        </p:spPr>
      </p:pic>
      <p:pic>
        <p:nvPicPr>
          <p:cNvPr id="16" name="SK-11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53300" y="5648325"/>
            <a:ext cx="4267200" cy="1037701"/>
          </a:xfrm>
          <a:prstGeom prst="rect">
            <a:avLst/>
          </a:prstGeom>
        </p:spPr>
      </p:pic>
      <p:sp>
        <p:nvSpPr>
          <p:cNvPr id="18" name="SK-11-text-17"/>
          <p:cNvSpPr/>
          <p:nvPr/>
        </p:nvSpPr>
        <p:spPr>
          <a:xfrm>
            <a:off x="723900" y="381000"/>
            <a:ext cx="78333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K-Means 군집 분석 및 의제 도출</a:t>
            </a:r>
            <a:endParaRPr lang="en-US" sz="2400" dirty="0"/>
          </a:p>
        </p:txBody>
      </p:sp>
      <p:sp>
        <p:nvSpPr>
          <p:cNvPr id="19" name="SK-11-text-18"/>
          <p:cNvSpPr/>
          <p:nvPr/>
        </p:nvSpPr>
        <p:spPr>
          <a:xfrm>
            <a:off x="723900" y="914400"/>
            <a:ext cx="112642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수집된 뉴스를 4대 핵심 의제로 분류하고 PCA 2차원 투영을 통해 정량적 구조를 시각화합니다.</a:t>
            </a:r>
            <a:endParaRPr lang="en-US" sz="1350" dirty="0"/>
          </a:p>
        </p:txBody>
      </p:sp>
      <p:sp>
        <p:nvSpPr>
          <p:cNvPr id="20" name="SK-11-text-19"/>
          <p:cNvSpPr/>
          <p:nvPr/>
        </p:nvSpPr>
        <p:spPr>
          <a:xfrm>
            <a:off x="7791450" y="1762125"/>
            <a:ext cx="433768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</a:t>
            </a: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 : 해상 교전 및 물리적 봉쇄</a:t>
            </a:r>
            <a:endParaRPr lang="en-US" sz="1350" dirty="0"/>
          </a:p>
        </p:txBody>
      </p:sp>
      <p:sp>
        <p:nvSpPr>
          <p:cNvPr id="21" name="SK-11-text-20"/>
          <p:cNvSpPr/>
          <p:nvPr/>
        </p:nvSpPr>
        <p:spPr>
          <a:xfrm>
            <a:off x="10953750" y="1790700"/>
            <a:ext cx="12382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1,676건</a:t>
            </a:r>
            <a:endParaRPr lang="en-US" sz="1050" dirty="0"/>
          </a:p>
        </p:txBody>
      </p:sp>
      <p:sp>
        <p:nvSpPr>
          <p:cNvPr id="22" name="SK-11-text-21"/>
          <p:cNvSpPr/>
          <p:nvPr/>
        </p:nvSpPr>
        <p:spPr>
          <a:xfrm>
            <a:off x="7505700" y="2076450"/>
            <a:ext cx="468630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ship, war, attack, blockade, israel, gulf, vessel</a:t>
            </a:r>
            <a:endParaRPr lang="en-US" sz="1050" dirty="0"/>
          </a:p>
        </p:txBody>
      </p:sp>
      <p:sp>
        <p:nvSpPr>
          <p:cNvPr id="23" name="SK-11-text-22"/>
          <p:cNvSpPr/>
          <p:nvPr/>
        </p:nvSpPr>
        <p:spPr>
          <a:xfrm>
            <a:off x="7791450" y="2728913"/>
            <a:ext cx="41319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</a:t>
            </a: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 : 국제 안보 및 대외 정책</a:t>
            </a:r>
            <a:endParaRPr lang="en-US" sz="1350" dirty="0"/>
          </a:p>
        </p:txBody>
      </p:sp>
      <p:sp>
        <p:nvSpPr>
          <p:cNvPr id="24" name="SK-11-text-23"/>
          <p:cNvSpPr/>
          <p:nvPr/>
        </p:nvSpPr>
        <p:spPr>
          <a:xfrm>
            <a:off x="10953750" y="2757488"/>
            <a:ext cx="123825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1,313건</a:t>
            </a:r>
            <a:endParaRPr lang="en-US" sz="1050" dirty="0"/>
          </a:p>
        </p:txBody>
      </p:sp>
      <p:sp>
        <p:nvSpPr>
          <p:cNvPr id="25" name="SK-11-text-24"/>
          <p:cNvSpPr/>
          <p:nvPr/>
        </p:nvSpPr>
        <p:spPr>
          <a:xfrm>
            <a:off x="7505700" y="3043238"/>
            <a:ext cx="468630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trump, security, military, international, world, support</a:t>
            </a:r>
            <a:endParaRPr lang="en-US" sz="1050" dirty="0"/>
          </a:p>
        </p:txBody>
      </p:sp>
      <p:sp>
        <p:nvSpPr>
          <p:cNvPr id="26" name="SK-11-text-25"/>
          <p:cNvSpPr/>
          <p:nvPr/>
        </p:nvSpPr>
        <p:spPr>
          <a:xfrm>
            <a:off x="7791450" y="3695700"/>
            <a:ext cx="440055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 </a:t>
            </a:r>
            <a:r>
              <a:rPr lang="en-US" altLang="ko-KR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</a:t>
            </a: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en-US" sz="13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</a:t>
            </a: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시장 및 공급망 충격</a:t>
            </a:r>
            <a:endParaRPr lang="en-US" sz="1350" dirty="0"/>
          </a:p>
        </p:txBody>
      </p:sp>
      <p:sp>
        <p:nvSpPr>
          <p:cNvPr id="27" name="SK-11-text-26"/>
          <p:cNvSpPr/>
          <p:nvPr/>
        </p:nvSpPr>
        <p:spPr>
          <a:xfrm>
            <a:off x="11106150" y="3724275"/>
            <a:ext cx="10363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905건</a:t>
            </a:r>
            <a:endParaRPr lang="en-US" sz="1050" dirty="0"/>
          </a:p>
        </p:txBody>
      </p:sp>
      <p:sp>
        <p:nvSpPr>
          <p:cNvPr id="28" name="SK-11-text-27"/>
          <p:cNvSpPr/>
          <p:nvPr/>
        </p:nvSpPr>
        <p:spPr>
          <a:xfrm>
            <a:off x="7505700" y="4010025"/>
            <a:ext cx="468630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oil, price, market, energy, global, crude, supply</a:t>
            </a:r>
            <a:endParaRPr lang="en-US" sz="1050" dirty="0"/>
          </a:p>
        </p:txBody>
      </p:sp>
      <p:sp>
        <p:nvSpPr>
          <p:cNvPr id="29" name="SK-11-text-28"/>
          <p:cNvSpPr/>
          <p:nvPr/>
        </p:nvSpPr>
        <p:spPr>
          <a:xfrm>
            <a:off x="7791450" y="4662488"/>
            <a:ext cx="35147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</a:t>
            </a: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0 : 플랫폼 잔여 노이즈</a:t>
            </a:r>
            <a:endParaRPr lang="en-US" sz="1350" dirty="0"/>
          </a:p>
        </p:txBody>
      </p:sp>
      <p:sp>
        <p:nvSpPr>
          <p:cNvPr id="30" name="SK-11-text-29"/>
          <p:cNvSpPr/>
          <p:nvPr/>
        </p:nvSpPr>
        <p:spPr>
          <a:xfrm>
            <a:off x="11182350" y="4691063"/>
            <a:ext cx="7696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718096"/>
                </a:solidFill>
              </a:rPr>
              <a:t>82건</a:t>
            </a:r>
            <a:endParaRPr lang="en-US" sz="1050" dirty="0"/>
          </a:p>
        </p:txBody>
      </p:sp>
      <p:sp>
        <p:nvSpPr>
          <p:cNvPr id="31" name="SK-11-text-30"/>
          <p:cNvSpPr/>
          <p:nvPr/>
        </p:nvSpPr>
        <p:spPr>
          <a:xfrm>
            <a:off x="7505700" y="4976813"/>
            <a:ext cx="4686300" cy="1866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support, click, contact, let, load, message, block</a:t>
            </a:r>
            <a:endParaRPr lang="en-US" sz="1050" dirty="0"/>
          </a:p>
        </p:txBody>
      </p:sp>
      <p:sp>
        <p:nvSpPr>
          <p:cNvPr id="32" name="SK-11-text-31"/>
          <p:cNvSpPr/>
          <p:nvPr/>
        </p:nvSpPr>
        <p:spPr>
          <a:xfrm>
            <a:off x="7424257" y="5682432"/>
            <a:ext cx="4196241" cy="9448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</a:t>
            </a:r>
            <a:r>
              <a:rPr lang="ko-KR" alt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차원 주성분 분석</a:t>
            </a:r>
            <a:r>
              <a:rPr lang="en-US" altLang="ko-KR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(PCA) </a:t>
            </a:r>
            <a:r>
              <a:rPr lang="ko-KR" alt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 그래프 분석</a:t>
            </a:r>
            <a:endParaRPr lang="en-US" altLang="ko-KR" sz="105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575"/>
              </a:lnSpc>
              <a:buNone/>
            </a:pPr>
            <a:endParaRPr lang="en-US" altLang="ko-KR" sz="105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>
              <a:lnSpc>
                <a:spcPts val="1575"/>
              </a:lnSpc>
              <a:buNone/>
            </a:pPr>
            <a:r>
              <a:rPr lang="ko-KR" altLang="en-US" sz="900" dirty="0">
                <a:solidFill>
                  <a:schemeClr val="bg1"/>
                </a:solidFill>
              </a:rPr>
              <a:t>군집 간 경계선이 무너지지 않고 매우 뚜렷한 군집 구조를 형성하고 있음</a:t>
            </a:r>
            <a:r>
              <a:rPr lang="en-US" altLang="ko-KR" sz="9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ts val="1575"/>
              </a:lnSpc>
              <a:buFont typeface="Wingdings" panose="05000000000000000000" pitchFamily="2" charset="2"/>
              <a:buChar char="è"/>
            </a:pPr>
            <a:r>
              <a:rPr lang="ko-KR" altLang="en-US" sz="900" dirty="0">
                <a:solidFill>
                  <a:schemeClr val="bg1"/>
                </a:solidFill>
              </a:rPr>
              <a:t>앞서 교차 검증한 실루엣 지표의 최고점 수렴 결과와 통계적으로 일치</a:t>
            </a:r>
            <a:endParaRPr lang="en-US" altLang="ko-KR" sz="900" dirty="0">
              <a:solidFill>
                <a:schemeClr val="bg1"/>
              </a:solidFill>
            </a:endParaRPr>
          </a:p>
          <a:p>
            <a:pPr>
              <a:lnSpc>
                <a:spcPts val="1575"/>
              </a:lnSpc>
            </a:pPr>
            <a:r>
              <a:rPr lang="ko-KR" altLang="en-US" sz="900" dirty="0">
                <a:solidFill>
                  <a:schemeClr val="bg1"/>
                </a:solidFill>
              </a:rPr>
              <a:t>또한</a:t>
            </a:r>
            <a:r>
              <a:rPr lang="en-US" altLang="ko-KR" sz="900" dirty="0">
                <a:solidFill>
                  <a:schemeClr val="bg1"/>
                </a:solidFill>
              </a:rPr>
              <a:t>, </a:t>
            </a:r>
            <a:r>
              <a:rPr lang="ko-KR" altLang="en-US" sz="900" dirty="0">
                <a:solidFill>
                  <a:schemeClr val="bg1"/>
                </a:solidFill>
              </a:rPr>
              <a:t>군집 </a:t>
            </a:r>
            <a:r>
              <a:rPr lang="en-US" altLang="ko-KR" sz="900" dirty="0">
                <a:solidFill>
                  <a:schemeClr val="bg1"/>
                </a:solidFill>
              </a:rPr>
              <a:t>1, 2, 3</a:t>
            </a:r>
            <a:r>
              <a:rPr lang="ko-KR" altLang="en-US" sz="900" dirty="0">
                <a:solidFill>
                  <a:schemeClr val="bg1"/>
                </a:solidFill>
              </a:rPr>
              <a:t>이 중심부 경계선에서 유기적으로 맞물려 분산되어 있음</a:t>
            </a:r>
            <a:r>
              <a:rPr lang="en-US" altLang="ko-KR" sz="9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44560A7-C432-40CE-B0C9-924BF459158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147" y="1516856"/>
            <a:ext cx="6215653" cy="3883820"/>
          </a:xfrm>
          <a:prstGeom prst="rect">
            <a:avLst/>
          </a:prstGeom>
        </p:spPr>
      </p:pic>
      <p:pic>
        <p:nvPicPr>
          <p:cNvPr id="6" name="SK-13-img-23" descr="preencoded.png">
            <a:extLst>
              <a:ext uri="{FF2B5EF4-FFF2-40B4-BE49-F238E27FC236}">
                <a16:creationId xmlns:a16="http://schemas.microsoft.com/office/drawing/2014/main" id="{A5A20754-D172-30B9-EB7A-ACD801A9DF8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555457"/>
            <a:ext cx="6210300" cy="12618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B99BAE-9025-C683-9FC9-1270178A22A3}"/>
              </a:ext>
            </a:extLst>
          </p:cNvPr>
          <p:cNvSpPr txBox="1"/>
          <p:nvPr/>
        </p:nvSpPr>
        <p:spPr>
          <a:xfrm>
            <a:off x="609600" y="5555457"/>
            <a:ext cx="61722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군집 </a:t>
            </a:r>
            <a:r>
              <a:rPr lang="en-US" altLang="ko-KR" sz="1200" b="1" dirty="0">
                <a:solidFill>
                  <a:schemeClr val="bg1"/>
                </a:solidFill>
              </a:rPr>
              <a:t>1 : </a:t>
            </a:r>
            <a:r>
              <a:rPr lang="ko-KR" altLang="en-US" sz="1000" dirty="0">
                <a:solidFill>
                  <a:schemeClr val="bg1"/>
                </a:solidFill>
              </a:rPr>
              <a:t>미</a:t>
            </a:r>
            <a:r>
              <a:rPr lang="en-US" altLang="ko-KR" sz="1000" dirty="0">
                <a:solidFill>
                  <a:schemeClr val="bg1"/>
                </a:solidFill>
              </a:rPr>
              <a:t>-</a:t>
            </a:r>
            <a:r>
              <a:rPr lang="ko-KR" altLang="en-US" sz="1000" dirty="0">
                <a:solidFill>
                  <a:schemeClr val="bg1"/>
                </a:solidFill>
              </a:rPr>
              <a:t>이란 갈등을 둘러싼 </a:t>
            </a:r>
            <a:r>
              <a:rPr lang="ko-KR" altLang="en-US" sz="1050" b="1" dirty="0">
                <a:solidFill>
                  <a:srgbClr val="00E5FF"/>
                </a:solidFill>
              </a:rPr>
              <a:t>미국 트럼프 행정부의 대외 정책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다국적 군사 안보 연대 및 글로벌 동맹국들의 외교적 지원 정세를 다루는 언론 보도 영역</a:t>
            </a:r>
            <a:endParaRPr lang="en-US" altLang="ko-KR" sz="1000" dirty="0">
              <a:solidFill>
                <a:schemeClr val="bg1"/>
              </a:solidFill>
            </a:endParaRPr>
          </a:p>
          <a:p>
            <a:r>
              <a:rPr lang="ko-KR" altLang="en-US" sz="1200" b="1" dirty="0">
                <a:solidFill>
                  <a:schemeClr val="bg1"/>
                </a:solidFill>
              </a:rPr>
              <a:t>군집 </a:t>
            </a:r>
            <a:r>
              <a:rPr lang="en-US" altLang="ko-KR" sz="1200" b="1" dirty="0">
                <a:solidFill>
                  <a:schemeClr val="bg1"/>
                </a:solidFill>
              </a:rPr>
              <a:t>2 : </a:t>
            </a:r>
            <a:r>
              <a:rPr lang="ko-KR" altLang="en-US" sz="1000" dirty="0">
                <a:solidFill>
                  <a:schemeClr val="bg1"/>
                </a:solidFill>
              </a:rPr>
              <a:t>전시 상황으로 인한 </a:t>
            </a:r>
            <a:r>
              <a:rPr lang="ko-KR" altLang="en-US" sz="1050" b="1" dirty="0">
                <a:solidFill>
                  <a:srgbClr val="00E5FF"/>
                </a:solidFill>
              </a:rPr>
              <a:t>거시 경제적 타격을 반영하는 군집</a:t>
            </a:r>
            <a:r>
              <a:rPr lang="en-US" altLang="ko-KR" sz="1000" dirty="0">
                <a:solidFill>
                  <a:schemeClr val="bg1"/>
                </a:solidFill>
              </a:rPr>
              <a:t>. </a:t>
            </a:r>
            <a:r>
              <a:rPr lang="ko-KR" altLang="en-US" sz="1000" dirty="0">
                <a:solidFill>
                  <a:schemeClr val="bg1"/>
                </a:solidFill>
              </a:rPr>
              <a:t>국제 유가</a:t>
            </a:r>
            <a:r>
              <a:rPr lang="en-US" altLang="ko-KR" sz="1000" dirty="0">
                <a:solidFill>
                  <a:schemeClr val="bg1"/>
                </a:solidFill>
              </a:rPr>
              <a:t>(WTI/</a:t>
            </a:r>
            <a:r>
              <a:rPr lang="ko-KR" altLang="en-US" sz="1000" dirty="0">
                <a:solidFill>
                  <a:schemeClr val="bg1"/>
                </a:solidFill>
              </a:rPr>
              <a:t>브렌트유</a:t>
            </a:r>
            <a:r>
              <a:rPr lang="en-US" altLang="ko-KR" sz="1000" dirty="0">
                <a:solidFill>
                  <a:schemeClr val="bg1"/>
                </a:solidFill>
              </a:rPr>
              <a:t>) </a:t>
            </a:r>
            <a:r>
              <a:rPr lang="ko-KR" altLang="en-US" sz="1000" dirty="0">
                <a:solidFill>
                  <a:schemeClr val="bg1"/>
                </a:solidFill>
              </a:rPr>
              <a:t>폭등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원유 공급망 차질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글로벌 에너지 시장의 가파른 변동성 및 거시적 리스크 부각에 초점</a:t>
            </a:r>
            <a:endParaRPr lang="en-US" altLang="ko-KR" sz="1000" dirty="0">
              <a:solidFill>
                <a:schemeClr val="bg1"/>
              </a:solidFill>
            </a:endParaRPr>
          </a:p>
          <a:p>
            <a:r>
              <a:rPr lang="ko-KR" altLang="en-US" sz="1200" b="1" dirty="0">
                <a:solidFill>
                  <a:schemeClr val="bg1"/>
                </a:solidFill>
              </a:rPr>
              <a:t>군집 </a:t>
            </a:r>
            <a:r>
              <a:rPr lang="en-US" altLang="ko-KR" sz="1200" b="1" dirty="0">
                <a:solidFill>
                  <a:schemeClr val="bg1"/>
                </a:solidFill>
              </a:rPr>
              <a:t>3 : </a:t>
            </a:r>
            <a:r>
              <a:rPr lang="ko-KR" altLang="en-US" sz="1000" dirty="0">
                <a:solidFill>
                  <a:schemeClr val="bg1"/>
                </a:solidFill>
              </a:rPr>
              <a:t>본 데이터셋에서 가장 큰 비중을 차지하는</a:t>
            </a:r>
            <a:r>
              <a:rPr lang="en-US" altLang="ko-KR" sz="1000" dirty="0">
                <a:solidFill>
                  <a:schemeClr val="bg1"/>
                </a:solidFill>
              </a:rPr>
              <a:t>.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ko-KR" altLang="en-US" sz="1050" b="1" dirty="0">
                <a:solidFill>
                  <a:srgbClr val="00E5FF"/>
                </a:solidFill>
              </a:rPr>
              <a:t>핵심 실황 군집</a:t>
            </a:r>
            <a:r>
              <a:rPr lang="en-US" altLang="ko-KR" sz="1000" dirty="0">
                <a:solidFill>
                  <a:schemeClr val="bg1"/>
                </a:solidFill>
              </a:rPr>
              <a:t>. </a:t>
            </a:r>
            <a:r>
              <a:rPr lang="ko-KR" altLang="en-US" sz="1000" dirty="0">
                <a:solidFill>
                  <a:schemeClr val="bg1"/>
                </a:solidFill>
              </a:rPr>
              <a:t>페르시아만</a:t>
            </a:r>
            <a:r>
              <a:rPr lang="en-US" altLang="ko-KR" sz="1000" dirty="0">
                <a:solidFill>
                  <a:schemeClr val="bg1"/>
                </a:solidFill>
              </a:rPr>
              <a:t> </a:t>
            </a:r>
            <a:r>
              <a:rPr lang="ko-KR" altLang="en-US" sz="1000" dirty="0">
                <a:solidFill>
                  <a:schemeClr val="bg1"/>
                </a:solidFill>
              </a:rPr>
              <a:t>및 </a:t>
            </a:r>
            <a:r>
              <a:rPr lang="ko-KR" altLang="en-US" sz="1000" dirty="0" err="1">
                <a:solidFill>
                  <a:schemeClr val="bg1"/>
                </a:solidFill>
              </a:rPr>
              <a:t>호르무즈</a:t>
            </a:r>
            <a:r>
              <a:rPr lang="ko-KR" altLang="en-US" sz="1000" dirty="0">
                <a:solidFill>
                  <a:schemeClr val="bg1"/>
                </a:solidFill>
              </a:rPr>
              <a:t> 해협 내 상선</a:t>
            </a:r>
            <a:r>
              <a:rPr lang="en-US" altLang="ko-KR" sz="1000" dirty="0">
                <a:solidFill>
                  <a:schemeClr val="bg1"/>
                </a:solidFill>
              </a:rPr>
              <a:t>·</a:t>
            </a:r>
            <a:r>
              <a:rPr lang="ko-KR" altLang="en-US" sz="1000" dirty="0">
                <a:solidFill>
                  <a:schemeClr val="bg1"/>
                </a:solidFill>
              </a:rPr>
              <a:t>유조선 오폭 사건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군사적 공습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물리적 해상 봉쇄 위협 등 </a:t>
            </a:r>
            <a:r>
              <a:rPr lang="ko-KR" altLang="en-US" sz="1050" b="1" dirty="0">
                <a:solidFill>
                  <a:srgbClr val="00E5FF"/>
                </a:solidFill>
              </a:rPr>
              <a:t>전면전 직전의 긴박한 지정학적 격돌 상황을 직접적으로 반영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66875"/>
            <a:ext cx="6538020" cy="4886325"/>
          </a:xfrm>
          <a:prstGeom prst="rect">
            <a:avLst/>
          </a:prstGeom>
        </p:spPr>
      </p:pic>
      <p:pic>
        <p:nvPicPr>
          <p:cNvPr id="7" name="SK-1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824038"/>
            <a:ext cx="6296025" cy="4572000"/>
          </a:xfrm>
          <a:prstGeom prst="rect">
            <a:avLst/>
          </a:prstGeom>
        </p:spPr>
      </p:pic>
      <p:pic>
        <p:nvPicPr>
          <p:cNvPr id="8" name="SK-1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4320" y="1747838"/>
            <a:ext cx="4206180" cy="1247775"/>
          </a:xfrm>
          <a:prstGeom prst="rect">
            <a:avLst/>
          </a:prstGeom>
        </p:spPr>
      </p:pic>
      <p:pic>
        <p:nvPicPr>
          <p:cNvPr id="9" name="SK-1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8620" y="1903065"/>
            <a:ext cx="214313" cy="175320"/>
          </a:xfrm>
          <a:prstGeom prst="rect">
            <a:avLst/>
          </a:prstGeom>
        </p:spPr>
      </p:pic>
      <p:pic>
        <p:nvPicPr>
          <p:cNvPr id="10" name="SK-12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4320" y="3186113"/>
            <a:ext cx="4206180" cy="1247775"/>
          </a:xfrm>
          <a:prstGeom prst="rect">
            <a:avLst/>
          </a:prstGeom>
        </p:spPr>
      </p:pic>
      <p:pic>
        <p:nvPicPr>
          <p:cNvPr id="11" name="SK-12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8620" y="3341340"/>
            <a:ext cx="214313" cy="175320"/>
          </a:xfrm>
          <a:prstGeom prst="rect">
            <a:avLst/>
          </a:prstGeom>
        </p:spPr>
      </p:pic>
      <p:pic>
        <p:nvPicPr>
          <p:cNvPr id="12" name="SK-12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4320" y="4624388"/>
            <a:ext cx="4206180" cy="1847850"/>
          </a:xfrm>
          <a:prstGeom prst="rect">
            <a:avLst/>
          </a:prstGeom>
        </p:spPr>
      </p:pic>
      <p:pic>
        <p:nvPicPr>
          <p:cNvPr id="13" name="SK-12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87643" y="5214938"/>
            <a:ext cx="190500" cy="152400"/>
          </a:xfrm>
          <a:prstGeom prst="rect">
            <a:avLst/>
          </a:prstGeom>
        </p:spPr>
      </p:pic>
      <p:pic>
        <p:nvPicPr>
          <p:cNvPr id="14" name="SK-12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6720" y="5605463"/>
            <a:ext cx="166688" cy="151507"/>
          </a:xfrm>
          <a:prstGeom prst="rect">
            <a:avLst/>
          </a:prstGeom>
        </p:spPr>
      </p:pic>
      <p:pic>
        <p:nvPicPr>
          <p:cNvPr id="15" name="SK-12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66720" y="6062663"/>
            <a:ext cx="166688" cy="138857"/>
          </a:xfrm>
          <a:prstGeom prst="rect">
            <a:avLst/>
          </a:prstGeom>
        </p:spPr>
      </p:pic>
      <p:sp>
        <p:nvSpPr>
          <p:cNvPr id="16" name="SK-12-text-15"/>
          <p:cNvSpPr/>
          <p:nvPr/>
        </p:nvSpPr>
        <p:spPr>
          <a:xfrm>
            <a:off x="723900" y="381000"/>
            <a:ext cx="9296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Coherence 및 Perplexity 분석</a:t>
            </a:r>
            <a:endParaRPr lang="en-US" sz="2400" dirty="0"/>
          </a:p>
        </p:txBody>
      </p:sp>
      <p:sp>
        <p:nvSpPr>
          <p:cNvPr id="17" name="SK-12-text-16"/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LDA 토픽 모델링의 최적 토픽 수(K) 결정을 위한 지표 교차 검증</a:t>
            </a:r>
            <a:endParaRPr lang="en-US" sz="1350" dirty="0"/>
          </a:p>
        </p:txBody>
      </p:sp>
      <p:sp>
        <p:nvSpPr>
          <p:cNvPr id="18" name="SK-12-text-17"/>
          <p:cNvSpPr/>
          <p:nvPr/>
        </p:nvSpPr>
        <p:spPr>
          <a:xfrm>
            <a:off x="7819132" y="1862138"/>
            <a:ext cx="39775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Coherence Score 분석</a:t>
            </a:r>
            <a:endParaRPr lang="en-US" sz="1350" dirty="0"/>
          </a:p>
        </p:txBody>
      </p:sp>
      <p:sp>
        <p:nvSpPr>
          <p:cNvPr id="19" name="SK-12-text-18"/>
          <p:cNvSpPr/>
          <p:nvPr/>
        </p:nvSpPr>
        <p:spPr>
          <a:xfrm>
            <a:off x="7528620" y="2195513"/>
            <a:ext cx="39775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K=4에서 </a:t>
            </a:r>
            <a:r>
              <a:rPr lang="en-US" sz="1125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0.5481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최고점을 달성하며 주제의 일관성이 가장 높게 나타남. K=5 이후 급격한 성능 저하가 관측되어 모델의 과적합 임계점으로 판단됨.</a:t>
            </a:r>
            <a:endParaRPr lang="en-US" sz="1125" dirty="0"/>
          </a:p>
        </p:txBody>
      </p:sp>
      <p:sp>
        <p:nvSpPr>
          <p:cNvPr id="20" name="SK-12-text-19"/>
          <p:cNvSpPr/>
          <p:nvPr/>
        </p:nvSpPr>
        <p:spPr>
          <a:xfrm>
            <a:off x="7819132" y="3300413"/>
            <a:ext cx="397758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Perplexity 분석</a:t>
            </a:r>
            <a:endParaRPr lang="en-US" sz="1350" dirty="0"/>
          </a:p>
        </p:txBody>
      </p:sp>
      <p:sp>
        <p:nvSpPr>
          <p:cNvPr id="21" name="SK-12-text-20"/>
          <p:cNvSpPr/>
          <p:nvPr/>
        </p:nvSpPr>
        <p:spPr>
          <a:xfrm>
            <a:off x="7528620" y="3633788"/>
            <a:ext cx="39775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토픽 수 증가에 따라 전반적으로 하향 안정화되는 추세를 보이며, K=4 지점 이후부터 기울기가 완만해지는 'Elbow' 구간이 형성됨.</a:t>
            </a:r>
            <a:endParaRPr lang="en-US" sz="1125" dirty="0"/>
          </a:p>
        </p:txBody>
      </p:sp>
      <p:sp>
        <p:nvSpPr>
          <p:cNvPr id="22" name="SK-12-text-21"/>
          <p:cNvSpPr/>
          <p:nvPr/>
        </p:nvSpPr>
        <p:spPr>
          <a:xfrm>
            <a:off x="7566720" y="4776788"/>
            <a:ext cx="39775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42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OPTIMAL TOPIC NUMBER</a:t>
            </a:r>
            <a:endParaRPr lang="en-US" sz="1050" dirty="0"/>
          </a:p>
        </p:txBody>
      </p:sp>
      <p:sp>
        <p:nvSpPr>
          <p:cNvPr id="23" name="SK-12-text-22"/>
          <p:cNvSpPr/>
          <p:nvPr/>
        </p:nvSpPr>
        <p:spPr>
          <a:xfrm>
            <a:off x="7566720" y="5091113"/>
            <a:ext cx="390138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F5A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 = 4 Best Fit</a:t>
            </a:r>
            <a:endParaRPr lang="en-US" sz="2100" dirty="0"/>
          </a:p>
        </p:txBody>
      </p:sp>
      <p:sp>
        <p:nvSpPr>
          <p:cNvPr id="24" name="SK-12-text-23"/>
          <p:cNvSpPr/>
          <p:nvPr/>
        </p:nvSpPr>
        <p:spPr>
          <a:xfrm>
            <a:off x="7809607" y="5605463"/>
            <a:ext cx="3658493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수학적 최적점(Metric)과 인간의 해석(Interpretability)</a:t>
            </a:r>
          </a:p>
          <a:p>
            <a:pPr marL="0" indent="0">
              <a:lnSpc>
                <a:spcPts val="1575"/>
              </a:lnSpc>
              <a:buNone/>
            </a:pPr>
            <a:r>
              <a:rPr lang="en-US" sz="105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</a:t>
            </a: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050" dirty="0"/>
          </a:p>
        </p:txBody>
      </p:sp>
      <p:sp>
        <p:nvSpPr>
          <p:cNvPr id="25" name="SK-12-text-24"/>
          <p:cNvSpPr/>
          <p:nvPr/>
        </p:nvSpPr>
        <p:spPr>
          <a:xfrm>
            <a:off x="7809607" y="6062663"/>
            <a:ext cx="4382393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의제 최소화 및 주제별 변별력이 가장 뚜렷한 구간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SK-13-img-2" descr="preencoded.png">
            <a:extLst>
              <a:ext uri="{FF2B5EF4-FFF2-40B4-BE49-F238E27FC236}">
                <a16:creationId xmlns:a16="http://schemas.microsoft.com/office/drawing/2014/main" id="{38219A7E-ECE2-541A-D2E9-9584A9AB6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3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22" name="SK-13-img-2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76610"/>
            <a:ext cx="3463605" cy="3438525"/>
          </a:xfrm>
          <a:prstGeom prst="rect">
            <a:avLst/>
          </a:prstGeom>
        </p:spPr>
      </p:pic>
      <p:pic>
        <p:nvPicPr>
          <p:cNvPr id="24" name="SK-13-img-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234006"/>
            <a:ext cx="3463605" cy="1468798"/>
          </a:xfrm>
          <a:prstGeom prst="rect">
            <a:avLst/>
          </a:prstGeom>
        </p:spPr>
      </p:pic>
      <p:sp>
        <p:nvSpPr>
          <p:cNvPr id="26" name="SK-13-text-25"/>
          <p:cNvSpPr/>
          <p:nvPr/>
        </p:nvSpPr>
        <p:spPr>
          <a:xfrm>
            <a:off x="723900" y="381000"/>
            <a:ext cx="67360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LDA 토픽 모델링 및 </a:t>
            </a:r>
            <a:r>
              <a:rPr lang="en-US" sz="2400" b="1" kern="0" spc="-38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</a:t>
            </a: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b="1" kern="0" spc="-38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- 1</a:t>
            </a:r>
            <a:endParaRPr lang="en-US" sz="2400" dirty="0"/>
          </a:p>
        </p:txBody>
      </p:sp>
      <p:sp>
        <p:nvSpPr>
          <p:cNvPr id="27" name="SK-13-text-26"/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025"/>
              </a:lnSpc>
            </a:pPr>
            <a:r>
              <a:rPr lang="en-US" altLang="ko-KR" sz="1350" dirty="0" err="1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pyLDAvis</a:t>
            </a:r>
            <a:r>
              <a:rPr lang="en-US" altLang="ko-KR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핵심 지표</a:t>
            </a:r>
            <a:r>
              <a:rPr lang="en-US" altLang="ko-KR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람다</a:t>
            </a:r>
            <a:r>
              <a:rPr lang="en-US" altLang="ko-KR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파라미터 해석 가이드 </a:t>
            </a:r>
          </a:p>
        </p:txBody>
      </p:sp>
      <p:sp>
        <p:nvSpPr>
          <p:cNvPr id="40" name="SK-13-text-39"/>
          <p:cNvSpPr/>
          <p:nvPr/>
        </p:nvSpPr>
        <p:spPr>
          <a:xfrm>
            <a:off x="776288" y="4464844"/>
            <a:ext cx="342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endParaRPr lang="en-US" sz="1050" dirty="0"/>
          </a:p>
        </p:txBody>
      </p:sp>
      <p:sp>
        <p:nvSpPr>
          <p:cNvPr id="50" name="SK-13-text-49"/>
          <p:cNvSpPr/>
          <p:nvPr/>
        </p:nvSpPr>
        <p:spPr>
          <a:xfrm>
            <a:off x="723900" y="5281390"/>
            <a:ext cx="399291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Lamda = 1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절대적 빈도 중심 </a:t>
            </a:r>
            <a:r>
              <a:rPr lang="en-US" altLang="ko-KR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거시 의제 파악</a:t>
            </a:r>
            <a:r>
              <a:rPr lang="en-US" altLang="ko-KR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125" dirty="0"/>
          </a:p>
        </p:txBody>
      </p:sp>
      <p:sp>
        <p:nvSpPr>
          <p:cNvPr id="51" name="SK-13-text-50"/>
          <p:cNvSpPr/>
          <p:nvPr/>
        </p:nvSpPr>
        <p:spPr>
          <a:xfrm>
            <a:off x="609601" y="5525914"/>
            <a:ext cx="3425504" cy="11768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6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특징 </a:t>
            </a:r>
            <a:r>
              <a:rPr lang="en-US" altLang="ko-KR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: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토픽 내 등장 확률이 높은 순으로 단어 정렬</a:t>
            </a:r>
          </a:p>
          <a:p>
            <a:pPr>
              <a:lnSpc>
                <a:spcPts val="156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장점 </a:t>
            </a:r>
            <a:r>
              <a:rPr lang="en-US" altLang="ko-KR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:</a:t>
            </a:r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토픽이 다루는 전반적인 거시적 흐름을 가장 직관적이</a:t>
            </a:r>
            <a:endParaRPr lang="en-US" altLang="ko-KR" sz="975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560"/>
              </a:lnSpc>
            </a:pP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            빠르게 파악 가능</a:t>
            </a:r>
          </a:p>
          <a:p>
            <a:pPr>
              <a:lnSpc>
                <a:spcPts val="156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단점 </a:t>
            </a:r>
            <a:r>
              <a:rPr lang="en-US" altLang="ko-KR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여러 토픽에 겹치는 범용적 단어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(military, attack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등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가</a:t>
            </a:r>
            <a:endParaRPr lang="en-US" altLang="ko-KR" sz="975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560"/>
              </a:lnSpc>
            </a:pP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          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상위를 독점하여 토픽별 세부 차별성이 흐려질 수 있음</a:t>
            </a:r>
          </a:p>
          <a:p>
            <a:pPr>
              <a:lnSpc>
                <a:spcPts val="1560"/>
              </a:lnSpc>
            </a:pPr>
            <a:endParaRPr lang="en-US" sz="975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4C1F57EB-9A52-BECF-BD4E-B35E26458B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587919"/>
            <a:ext cx="3463604" cy="3427216"/>
          </a:xfrm>
          <a:prstGeom prst="rect">
            <a:avLst/>
          </a:prstGeom>
        </p:spPr>
      </p:pic>
      <p:pic>
        <p:nvPicPr>
          <p:cNvPr id="58" name="SK-13-img-21" descr="preencoded.png">
            <a:extLst>
              <a:ext uri="{FF2B5EF4-FFF2-40B4-BE49-F238E27FC236}">
                <a16:creationId xmlns:a16="http://schemas.microsoft.com/office/drawing/2014/main" id="{221B92DC-210B-5731-526C-2E233D823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9610" y="1576610"/>
            <a:ext cx="3528192" cy="3438525"/>
          </a:xfrm>
          <a:prstGeom prst="rect">
            <a:avLst/>
          </a:prstGeom>
        </p:spPr>
      </p:pic>
      <p:pic>
        <p:nvPicPr>
          <p:cNvPr id="59" name="SK-13-img-21" descr="preencoded.png">
            <a:extLst>
              <a:ext uri="{FF2B5EF4-FFF2-40B4-BE49-F238E27FC236}">
                <a16:creationId xmlns:a16="http://schemas.microsoft.com/office/drawing/2014/main" id="{D6B8AC83-72AE-6043-DC55-21FDD29CB2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308" y="1590009"/>
            <a:ext cx="3528192" cy="343852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1983377C-8AB3-AD8C-4B73-35D71130A8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9610" y="1576610"/>
            <a:ext cx="3528192" cy="3438525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93F586AA-A049-6C3D-18F2-F56EA17359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2308" y="1576610"/>
            <a:ext cx="3528192" cy="3438525"/>
          </a:xfrm>
          <a:prstGeom prst="rect">
            <a:avLst/>
          </a:prstGeom>
        </p:spPr>
      </p:pic>
      <p:pic>
        <p:nvPicPr>
          <p:cNvPr id="64" name="SK-13-img-23" descr="preencoded.png">
            <a:extLst>
              <a:ext uri="{FF2B5EF4-FFF2-40B4-BE49-F238E27FC236}">
                <a16:creationId xmlns:a16="http://schemas.microsoft.com/office/drawing/2014/main" id="{C50648C0-F3CF-5010-A5B9-8E23EFFE68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4197" y="5229670"/>
            <a:ext cx="3463605" cy="1468798"/>
          </a:xfrm>
          <a:prstGeom prst="rect">
            <a:avLst/>
          </a:prstGeom>
        </p:spPr>
      </p:pic>
      <p:pic>
        <p:nvPicPr>
          <p:cNvPr id="65" name="SK-13-img-23" descr="preencoded.png">
            <a:extLst>
              <a:ext uri="{FF2B5EF4-FFF2-40B4-BE49-F238E27FC236}">
                <a16:creationId xmlns:a16="http://schemas.microsoft.com/office/drawing/2014/main" id="{7CBFAD88-6147-67EB-DE3D-A71265F9C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4601" y="5209201"/>
            <a:ext cx="3463605" cy="1468798"/>
          </a:xfrm>
          <a:prstGeom prst="rect">
            <a:avLst/>
          </a:prstGeom>
        </p:spPr>
      </p:pic>
      <p:sp>
        <p:nvSpPr>
          <p:cNvPr id="66" name="SK-13-text-49">
            <a:extLst>
              <a:ext uri="{FF2B5EF4-FFF2-40B4-BE49-F238E27FC236}">
                <a16:creationId xmlns:a16="http://schemas.microsoft.com/office/drawing/2014/main" id="{9A767742-8E7D-A6BA-8B8D-382F93F650CB}"/>
              </a:ext>
            </a:extLst>
          </p:cNvPr>
          <p:cNvSpPr/>
          <p:nvPr/>
        </p:nvSpPr>
        <p:spPr>
          <a:xfrm>
            <a:off x="4517122" y="5281389"/>
            <a:ext cx="399291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Lamda = 0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상대적 차별성 중심 </a:t>
            </a:r>
            <a:r>
              <a:rPr lang="en-US" altLang="ko-KR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미시 의제 발굴</a:t>
            </a:r>
            <a:r>
              <a:rPr lang="en-US" altLang="ko-KR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ko-KR" altLang="en-US" sz="1125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67" name="SK-13-text-49">
            <a:extLst>
              <a:ext uri="{FF2B5EF4-FFF2-40B4-BE49-F238E27FC236}">
                <a16:creationId xmlns:a16="http://schemas.microsoft.com/office/drawing/2014/main" id="{A2E1211F-CB91-D0FC-A1F0-E984C77C98E5}"/>
              </a:ext>
            </a:extLst>
          </p:cNvPr>
          <p:cNvSpPr/>
          <p:nvPr/>
        </p:nvSpPr>
        <p:spPr>
          <a:xfrm>
            <a:off x="8285177" y="5281388"/>
            <a:ext cx="399291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688"/>
              </a:lnSpc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Lamda = 0.6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최적의 황금 비율 </a:t>
            </a:r>
            <a:r>
              <a:rPr lang="en-US" altLang="ko-KR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해석의 </a:t>
            </a:r>
            <a:r>
              <a:rPr lang="ko-KR" altLang="en-US" sz="1125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최적점</a:t>
            </a:r>
            <a:r>
              <a:rPr lang="en-US" altLang="ko-KR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ko-KR" altLang="en-US" sz="1125" b="1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68" name="SK-13-text-50">
            <a:extLst>
              <a:ext uri="{FF2B5EF4-FFF2-40B4-BE49-F238E27FC236}">
                <a16:creationId xmlns:a16="http://schemas.microsoft.com/office/drawing/2014/main" id="{6D347C86-A297-88B2-C686-F0A258CDDA55}"/>
              </a:ext>
            </a:extLst>
          </p:cNvPr>
          <p:cNvSpPr/>
          <p:nvPr/>
        </p:nvSpPr>
        <p:spPr>
          <a:xfrm>
            <a:off x="4407241" y="5501108"/>
            <a:ext cx="3420561" cy="1197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6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특징 </a:t>
            </a:r>
            <a:r>
              <a:rPr lang="en-US" altLang="ko-KR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: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다른 토픽 대비 해당 토픽에서 유독 자주 쓰인 고유 </a:t>
            </a:r>
            <a:endParaRPr lang="en-US" altLang="ko-KR" sz="975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560"/>
              </a:lnSpc>
            </a:pP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          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단어 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(Lift)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중심 정렬</a:t>
            </a:r>
          </a:p>
          <a:p>
            <a:pPr>
              <a:lnSpc>
                <a:spcPts val="156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장점 </a:t>
            </a:r>
            <a:r>
              <a:rPr lang="en-US" altLang="ko-KR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:</a:t>
            </a:r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다른 토픽에는 없는 해당 의제만의 유일무이한 숨은 </a:t>
            </a:r>
            <a:endParaRPr lang="en-US" altLang="ko-KR" sz="975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560"/>
              </a:lnSpc>
            </a:pP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           정체성 및 독창적 키워드 발굴</a:t>
            </a:r>
          </a:p>
          <a:p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단점 </a:t>
            </a:r>
            <a:r>
              <a:rPr lang="en-US" altLang="ko-KR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지나치게 지엽적이거나 빈도가 극히 낮은 단어</a:t>
            </a:r>
            <a:endParaRPr lang="en-US" altLang="ko-KR" sz="975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           (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오타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고유명사 등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가 상위에 노출되는 노이즈 발생 가능</a:t>
            </a:r>
          </a:p>
        </p:txBody>
      </p:sp>
      <p:sp>
        <p:nvSpPr>
          <p:cNvPr id="69" name="SK-13-text-50">
            <a:extLst>
              <a:ext uri="{FF2B5EF4-FFF2-40B4-BE49-F238E27FC236}">
                <a16:creationId xmlns:a16="http://schemas.microsoft.com/office/drawing/2014/main" id="{3E5C54F1-2B97-7576-DA44-2334DD23FC31}"/>
              </a:ext>
            </a:extLst>
          </p:cNvPr>
          <p:cNvSpPr/>
          <p:nvPr/>
        </p:nvSpPr>
        <p:spPr>
          <a:xfrm>
            <a:off x="8167808" y="5501109"/>
            <a:ext cx="3420398" cy="11768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56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학술적 근거 </a:t>
            </a:r>
            <a:r>
              <a:rPr lang="en-US" altLang="ko-KR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: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Sievert &amp; Shirley(2014)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연구에 따르면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 </a:t>
            </a:r>
          </a:p>
          <a:p>
            <a:pPr>
              <a:lnSpc>
                <a:spcPts val="1560"/>
              </a:lnSpc>
            </a:pP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인간이 토픽 의미를 가장 정밀하고 합리적으로 이해할 수 있는 </a:t>
            </a:r>
            <a:endParaRPr lang="en-US" altLang="ko-KR" sz="975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560"/>
              </a:lnSpc>
            </a:pP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최적의 수치는 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lambda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= 0.6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근처임</a:t>
            </a:r>
          </a:p>
          <a:p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효과 </a:t>
            </a:r>
            <a:r>
              <a:rPr lang="en-US" altLang="ko-KR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:</a:t>
            </a:r>
            <a:r>
              <a:rPr lang="ko-KR" alt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적당한 범용성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(lambda=1)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과 고유한 차별성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(lambda=0)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이</a:t>
            </a:r>
            <a:endParaRPr lang="en-US" altLang="ko-KR" sz="975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균형을 이루어</a:t>
            </a:r>
            <a:r>
              <a:rPr lang="en-US" altLang="ko-KR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중복 단어는 제거되고 토픽별 정체성이 가장 명확하게 드러남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C7EC-978B-0FF5-1277-F4BEF37C7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
            <a:extLst>
              <a:ext uri="{FF2B5EF4-FFF2-40B4-BE49-F238E27FC236}">
                <a16:creationId xmlns:a16="http://schemas.microsoft.com/office/drawing/2014/main" id="{950E5FC1-6E8E-E393-C045-CD2783EAA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
            <a:extLst>
              <a:ext uri="{FF2B5EF4-FFF2-40B4-BE49-F238E27FC236}">
                <a16:creationId xmlns:a16="http://schemas.microsoft.com/office/drawing/2014/main" id="{4F3B1201-7FBF-984F-0FAC-5FBFEF53C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>
            <a:extLst>
              <a:ext uri="{FF2B5EF4-FFF2-40B4-BE49-F238E27FC236}">
                <a16:creationId xmlns:a16="http://schemas.microsoft.com/office/drawing/2014/main" id="{6FADF525-A1C0-6BCC-EC40-F94D1F97C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3-img-4" descr="preencoded.png">
            <a:extLst>
              <a:ext uri="{FF2B5EF4-FFF2-40B4-BE49-F238E27FC236}">
                <a16:creationId xmlns:a16="http://schemas.microsoft.com/office/drawing/2014/main" id="{DD40AAA5-0F4B-A3F6-FA11-ED0F0372B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3-img-5" descr="preencoded.png">
            <a:extLst>
              <a:ext uri="{FF2B5EF4-FFF2-40B4-BE49-F238E27FC236}">
                <a16:creationId xmlns:a16="http://schemas.microsoft.com/office/drawing/2014/main" id="{9AFC2F24-1DD4-FD74-800F-B7039B7552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43050"/>
            <a:ext cx="990600" cy="261937"/>
          </a:xfrm>
          <a:prstGeom prst="rect">
            <a:avLst/>
          </a:prstGeom>
        </p:spPr>
      </p:pic>
      <p:pic>
        <p:nvPicPr>
          <p:cNvPr id="7" name="SK-13-img-6" descr="preencoded.png">
            <a:extLst>
              <a:ext uri="{FF2B5EF4-FFF2-40B4-BE49-F238E27FC236}">
                <a16:creationId xmlns:a16="http://schemas.microsoft.com/office/drawing/2014/main" id="{126F54E5-715C-0232-CEAC-84B8895720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1543050"/>
            <a:ext cx="914400" cy="261937"/>
          </a:xfrm>
          <a:prstGeom prst="rect">
            <a:avLst/>
          </a:prstGeom>
        </p:spPr>
      </p:pic>
      <p:pic>
        <p:nvPicPr>
          <p:cNvPr id="8" name="SK-13-img-7" descr="preencoded.png">
            <a:extLst>
              <a:ext uri="{FF2B5EF4-FFF2-40B4-BE49-F238E27FC236}">
                <a16:creationId xmlns:a16="http://schemas.microsoft.com/office/drawing/2014/main" id="{A7AEE362-1011-069B-5C94-A18F87BC6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5100" y="1543050"/>
            <a:ext cx="990600" cy="261937"/>
          </a:xfrm>
          <a:prstGeom prst="rect">
            <a:avLst/>
          </a:prstGeom>
        </p:spPr>
      </p:pic>
      <p:pic>
        <p:nvPicPr>
          <p:cNvPr id="9" name="SK-13-img-8" descr="preencoded.png">
            <a:extLst>
              <a:ext uri="{FF2B5EF4-FFF2-40B4-BE49-F238E27FC236}">
                <a16:creationId xmlns:a16="http://schemas.microsoft.com/office/drawing/2014/main" id="{968FB1CD-2C1A-C106-B955-BB8E4B5BD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0" y="1543050"/>
            <a:ext cx="1371600" cy="261937"/>
          </a:xfrm>
          <a:prstGeom prst="rect">
            <a:avLst/>
          </a:prstGeom>
        </p:spPr>
      </p:pic>
      <p:pic>
        <p:nvPicPr>
          <p:cNvPr id="10" name="SK-13-img-9" descr="preencoded.png">
            <a:extLst>
              <a:ext uri="{FF2B5EF4-FFF2-40B4-BE49-F238E27FC236}">
                <a16:creationId xmlns:a16="http://schemas.microsoft.com/office/drawing/2014/main" id="{1440978D-5A27-72A5-EAF5-53160FB42A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995487"/>
            <a:ext cx="3146971" cy="2202656"/>
          </a:xfrm>
          <a:prstGeom prst="rect">
            <a:avLst/>
          </a:prstGeom>
        </p:spPr>
      </p:pic>
      <p:pic>
        <p:nvPicPr>
          <p:cNvPr id="11" name="SK-13-img-10" descr="preencoded.png">
            <a:extLst>
              <a:ext uri="{FF2B5EF4-FFF2-40B4-BE49-F238E27FC236}">
                <a16:creationId xmlns:a16="http://schemas.microsoft.com/office/drawing/2014/main" id="{F7182EAA-9BA9-3B20-FF87-F3AE5E4889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109788"/>
            <a:ext cx="2918371" cy="342900"/>
          </a:xfrm>
          <a:prstGeom prst="rect">
            <a:avLst/>
          </a:prstGeom>
        </p:spPr>
      </p:pic>
      <p:pic>
        <p:nvPicPr>
          <p:cNvPr id="12" name="SK-13-img-11" descr="preencoded.png">
            <a:extLst>
              <a:ext uri="{FF2B5EF4-FFF2-40B4-BE49-F238E27FC236}">
                <a16:creationId xmlns:a16="http://schemas.microsoft.com/office/drawing/2014/main" id="{E1E28AE7-C30F-B762-7D7D-941AED66FF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109788"/>
            <a:ext cx="266700" cy="266700"/>
          </a:xfrm>
          <a:prstGeom prst="rect">
            <a:avLst/>
          </a:prstGeom>
        </p:spPr>
      </p:pic>
      <p:pic>
        <p:nvPicPr>
          <p:cNvPr id="13" name="SK-13-img-12" descr="preencoded.png">
            <a:extLst>
              <a:ext uri="{FF2B5EF4-FFF2-40B4-BE49-F238E27FC236}">
                <a16:creationId xmlns:a16="http://schemas.microsoft.com/office/drawing/2014/main" id="{7D1D3A1E-7FBA-FB37-0ED3-258C5901BE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0871" y="1995487"/>
            <a:ext cx="3147120" cy="2202656"/>
          </a:xfrm>
          <a:prstGeom prst="rect">
            <a:avLst/>
          </a:prstGeom>
        </p:spPr>
      </p:pic>
      <p:pic>
        <p:nvPicPr>
          <p:cNvPr id="14" name="SK-13-img-13" descr="preencoded.png">
            <a:extLst>
              <a:ext uri="{FF2B5EF4-FFF2-40B4-BE49-F238E27FC236}">
                <a16:creationId xmlns:a16="http://schemas.microsoft.com/office/drawing/2014/main" id="{723EE2E3-040B-8577-F807-A069B0D037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5171" y="2109788"/>
            <a:ext cx="2918520" cy="342900"/>
          </a:xfrm>
          <a:prstGeom prst="rect">
            <a:avLst/>
          </a:prstGeom>
        </p:spPr>
      </p:pic>
      <p:pic>
        <p:nvPicPr>
          <p:cNvPr id="15" name="SK-13-img-14" descr="preencoded.png">
            <a:extLst>
              <a:ext uri="{FF2B5EF4-FFF2-40B4-BE49-F238E27FC236}">
                <a16:creationId xmlns:a16="http://schemas.microsoft.com/office/drawing/2014/main" id="{224F90CA-4E2E-83A0-FAFC-95E2A480CC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5171" y="2109788"/>
            <a:ext cx="266700" cy="266700"/>
          </a:xfrm>
          <a:prstGeom prst="rect">
            <a:avLst/>
          </a:prstGeom>
        </p:spPr>
      </p:pic>
      <p:pic>
        <p:nvPicPr>
          <p:cNvPr id="16" name="SK-13-img-15" descr="preencoded.png">
            <a:extLst>
              <a:ext uri="{FF2B5EF4-FFF2-40B4-BE49-F238E27FC236}">
                <a16:creationId xmlns:a16="http://schemas.microsoft.com/office/drawing/2014/main" id="{49E825DB-375C-2D34-56EC-128242D3253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350544"/>
            <a:ext cx="3146971" cy="2202656"/>
          </a:xfrm>
          <a:prstGeom prst="rect">
            <a:avLst/>
          </a:prstGeom>
        </p:spPr>
      </p:pic>
      <p:pic>
        <p:nvPicPr>
          <p:cNvPr id="17" name="SK-13-img-16" descr="preencoded.png">
            <a:extLst>
              <a:ext uri="{FF2B5EF4-FFF2-40B4-BE49-F238E27FC236}">
                <a16:creationId xmlns:a16="http://schemas.microsoft.com/office/drawing/2014/main" id="{221C0FAE-9AD8-46B5-D78D-E855E2F102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464844"/>
            <a:ext cx="2918371" cy="342900"/>
          </a:xfrm>
          <a:prstGeom prst="rect">
            <a:avLst/>
          </a:prstGeom>
        </p:spPr>
      </p:pic>
      <p:pic>
        <p:nvPicPr>
          <p:cNvPr id="18" name="SK-13-img-17" descr="preencoded.png">
            <a:extLst>
              <a:ext uri="{FF2B5EF4-FFF2-40B4-BE49-F238E27FC236}">
                <a16:creationId xmlns:a16="http://schemas.microsoft.com/office/drawing/2014/main" id="{B14E513D-702C-4C0C-CD84-8D43435483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464844"/>
            <a:ext cx="266700" cy="266700"/>
          </a:xfrm>
          <a:prstGeom prst="rect">
            <a:avLst/>
          </a:prstGeom>
        </p:spPr>
      </p:pic>
      <p:pic>
        <p:nvPicPr>
          <p:cNvPr id="19" name="SK-13-img-18" descr="preencoded.png">
            <a:extLst>
              <a:ext uri="{FF2B5EF4-FFF2-40B4-BE49-F238E27FC236}">
                <a16:creationId xmlns:a16="http://schemas.microsoft.com/office/drawing/2014/main" id="{3A138652-9B70-704D-307E-7E228146F04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70871" y="4350544"/>
            <a:ext cx="3147120" cy="2202656"/>
          </a:xfrm>
          <a:prstGeom prst="rect">
            <a:avLst/>
          </a:prstGeom>
        </p:spPr>
      </p:pic>
      <p:pic>
        <p:nvPicPr>
          <p:cNvPr id="20" name="SK-13-img-19" descr="preencoded.png">
            <a:extLst>
              <a:ext uri="{FF2B5EF4-FFF2-40B4-BE49-F238E27FC236}">
                <a16:creationId xmlns:a16="http://schemas.microsoft.com/office/drawing/2014/main" id="{87088090-4137-AF3E-B139-91BDC91448A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85171" y="4464844"/>
            <a:ext cx="2918520" cy="342900"/>
          </a:xfrm>
          <a:prstGeom prst="rect">
            <a:avLst/>
          </a:prstGeom>
        </p:spPr>
      </p:pic>
      <p:pic>
        <p:nvPicPr>
          <p:cNvPr id="21" name="SK-13-img-20" descr="preencoded.png">
            <a:extLst>
              <a:ext uri="{FF2B5EF4-FFF2-40B4-BE49-F238E27FC236}">
                <a16:creationId xmlns:a16="http://schemas.microsoft.com/office/drawing/2014/main" id="{D7123BF9-C34B-E457-25FC-90683CD99EB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85171" y="4464844"/>
            <a:ext cx="266700" cy="266700"/>
          </a:xfrm>
          <a:prstGeom prst="rect">
            <a:avLst/>
          </a:prstGeom>
        </p:spPr>
      </p:pic>
      <p:pic>
        <p:nvPicPr>
          <p:cNvPr id="22" name="SK-13-img-21" descr="preencoded.png">
            <a:extLst>
              <a:ext uri="{FF2B5EF4-FFF2-40B4-BE49-F238E27FC236}">
                <a16:creationId xmlns:a16="http://schemas.microsoft.com/office/drawing/2014/main" id="{33CDD784-BF85-F814-9FDD-4A6A65826F3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22790" y="1667321"/>
            <a:ext cx="4297710" cy="3438525"/>
          </a:xfrm>
          <a:prstGeom prst="rect">
            <a:avLst/>
          </a:prstGeom>
        </p:spPr>
      </p:pic>
      <p:pic>
        <p:nvPicPr>
          <p:cNvPr id="24" name="SK-13-img-23" descr="preencoded.png">
            <a:extLst>
              <a:ext uri="{FF2B5EF4-FFF2-40B4-BE49-F238E27FC236}">
                <a16:creationId xmlns:a16="http://schemas.microsoft.com/office/drawing/2014/main" id="{7FA4F21C-9BE7-2C09-8A08-07EFA142CA9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22790" y="5229671"/>
            <a:ext cx="4297710" cy="1199108"/>
          </a:xfrm>
          <a:prstGeom prst="rect">
            <a:avLst/>
          </a:prstGeom>
        </p:spPr>
      </p:pic>
      <p:pic>
        <p:nvPicPr>
          <p:cNvPr id="25" name="SK-13-img-24" descr="preencoded.png">
            <a:extLst>
              <a:ext uri="{FF2B5EF4-FFF2-40B4-BE49-F238E27FC236}">
                <a16:creationId xmlns:a16="http://schemas.microsoft.com/office/drawing/2014/main" id="{45A782FD-570F-05D6-E226-D5FB7B8E134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75190" y="5386239"/>
            <a:ext cx="178594" cy="148828"/>
          </a:xfrm>
          <a:prstGeom prst="rect">
            <a:avLst/>
          </a:prstGeom>
        </p:spPr>
      </p:pic>
      <p:sp>
        <p:nvSpPr>
          <p:cNvPr id="26" name="SK-13-text-25">
            <a:extLst>
              <a:ext uri="{FF2B5EF4-FFF2-40B4-BE49-F238E27FC236}">
                <a16:creationId xmlns:a16="http://schemas.microsoft.com/office/drawing/2014/main" id="{4F749E10-1F39-0F86-00E9-82F227AAB190}"/>
              </a:ext>
            </a:extLst>
          </p:cNvPr>
          <p:cNvSpPr/>
          <p:nvPr/>
        </p:nvSpPr>
        <p:spPr>
          <a:xfrm>
            <a:off x="723900" y="381000"/>
            <a:ext cx="67360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LDA 토픽 모델링 및 </a:t>
            </a:r>
            <a:r>
              <a:rPr lang="en-US" sz="2400" b="1" kern="0" spc="-38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</a:t>
            </a: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b="1" kern="0" spc="-38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- 2</a:t>
            </a:r>
            <a:endParaRPr lang="en-US" sz="2400" dirty="0"/>
          </a:p>
        </p:txBody>
      </p:sp>
      <p:sp>
        <p:nvSpPr>
          <p:cNvPr id="27" name="SK-13-text-26">
            <a:extLst>
              <a:ext uri="{FF2B5EF4-FFF2-40B4-BE49-F238E27FC236}">
                <a16:creationId xmlns:a16="http://schemas.microsoft.com/office/drawing/2014/main" id="{48C37E78-039D-03FE-849F-26A73D73DE11}"/>
              </a:ext>
            </a:extLst>
          </p:cNvPr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025"/>
              </a:lnSpc>
              <a:spcBef>
                <a:spcPts val="500"/>
              </a:spcBef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람다 최적화</a:t>
            </a:r>
            <a:r>
              <a:rPr lang="en-US" altLang="ko-KR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(λ = 0.6)</a:t>
            </a:r>
            <a:r>
              <a:rPr lang="ko-KR" alt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를 통한 </a:t>
            </a:r>
            <a:r>
              <a:rPr lang="en-US" altLang="ko-KR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4</a:t>
            </a:r>
            <a:r>
              <a:rPr lang="ko-KR" alt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</a:rPr>
              <a:t>대 미시 의제 구체화 및 정성적 분석</a:t>
            </a:r>
          </a:p>
        </p:txBody>
      </p:sp>
      <p:sp>
        <p:nvSpPr>
          <p:cNvPr id="28" name="SK-13-text-27">
            <a:extLst>
              <a:ext uri="{FF2B5EF4-FFF2-40B4-BE49-F238E27FC236}">
                <a16:creationId xmlns:a16="http://schemas.microsoft.com/office/drawing/2014/main" id="{9D330E23-1EA6-2D65-CF14-CC4B4999C8C9}"/>
              </a:ext>
            </a:extLst>
          </p:cNvPr>
          <p:cNvSpPr/>
          <p:nvPr/>
        </p:nvSpPr>
        <p:spPr>
          <a:xfrm>
            <a:off x="685800" y="1543050"/>
            <a:ext cx="1295400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00E5FF"/>
                </a:solidFill>
              </a:rPr>
              <a:t>K=4 Topics</a:t>
            </a:r>
            <a:endParaRPr lang="en-US" sz="975" dirty="0"/>
          </a:p>
        </p:txBody>
      </p:sp>
      <p:sp>
        <p:nvSpPr>
          <p:cNvPr id="29" name="SK-13-text-28">
            <a:extLst>
              <a:ext uri="{FF2B5EF4-FFF2-40B4-BE49-F238E27FC236}">
                <a16:creationId xmlns:a16="http://schemas.microsoft.com/office/drawing/2014/main" id="{325A8015-8F27-C39A-1804-0F28D93FE40B}"/>
              </a:ext>
            </a:extLst>
          </p:cNvPr>
          <p:cNvSpPr/>
          <p:nvPr/>
        </p:nvSpPr>
        <p:spPr>
          <a:xfrm>
            <a:off x="1790700" y="1543050"/>
            <a:ext cx="1227772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00E5FF"/>
                </a:solidFill>
              </a:rPr>
              <a:t>Passes=15</a:t>
            </a:r>
            <a:endParaRPr lang="en-US" sz="975" dirty="0"/>
          </a:p>
        </p:txBody>
      </p:sp>
      <p:sp>
        <p:nvSpPr>
          <p:cNvPr id="30" name="SK-13-text-29">
            <a:extLst>
              <a:ext uri="{FF2B5EF4-FFF2-40B4-BE49-F238E27FC236}">
                <a16:creationId xmlns:a16="http://schemas.microsoft.com/office/drawing/2014/main" id="{3CACE171-5800-2D0D-9894-5D716841F3ED}"/>
              </a:ext>
            </a:extLst>
          </p:cNvPr>
          <p:cNvSpPr/>
          <p:nvPr/>
        </p:nvSpPr>
        <p:spPr>
          <a:xfrm>
            <a:off x="2819400" y="1543050"/>
            <a:ext cx="1219200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00E5FF"/>
                </a:solidFill>
              </a:rPr>
              <a:t>Alpha=Auto</a:t>
            </a:r>
            <a:endParaRPr lang="en-US" sz="975" dirty="0"/>
          </a:p>
        </p:txBody>
      </p:sp>
      <p:sp>
        <p:nvSpPr>
          <p:cNvPr id="31" name="SK-13-text-30">
            <a:extLst>
              <a:ext uri="{FF2B5EF4-FFF2-40B4-BE49-F238E27FC236}">
                <a16:creationId xmlns:a16="http://schemas.microsoft.com/office/drawing/2014/main" id="{0A7EF25A-C7D3-A53D-CC10-9B760452A01A}"/>
              </a:ext>
            </a:extLst>
          </p:cNvPr>
          <p:cNvSpPr/>
          <p:nvPr/>
        </p:nvSpPr>
        <p:spPr>
          <a:xfrm>
            <a:off x="3924300" y="1543050"/>
            <a:ext cx="1933575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00E5FF"/>
                </a:solidFill>
              </a:rPr>
              <a:t>MMDS Projection</a:t>
            </a:r>
            <a:endParaRPr lang="en-US" sz="975" dirty="0"/>
          </a:p>
        </p:txBody>
      </p:sp>
      <p:sp>
        <p:nvSpPr>
          <p:cNvPr id="32" name="SK-13-text-31">
            <a:extLst>
              <a:ext uri="{FF2B5EF4-FFF2-40B4-BE49-F238E27FC236}">
                <a16:creationId xmlns:a16="http://schemas.microsoft.com/office/drawing/2014/main" id="{85F71D6D-D270-BD0E-14C6-6C76730571D6}"/>
              </a:ext>
            </a:extLst>
          </p:cNvPr>
          <p:cNvSpPr/>
          <p:nvPr/>
        </p:nvSpPr>
        <p:spPr>
          <a:xfrm>
            <a:off x="790575" y="2109788"/>
            <a:ext cx="342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1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33" name="SK-13-text-32">
            <a:extLst>
              <a:ext uri="{FF2B5EF4-FFF2-40B4-BE49-F238E27FC236}">
                <a16:creationId xmlns:a16="http://schemas.microsoft.com/office/drawing/2014/main" id="{C9289C56-9705-C7A3-E3F8-597495BE0224}"/>
              </a:ext>
            </a:extLst>
          </p:cNvPr>
          <p:cNvSpPr/>
          <p:nvPr/>
        </p:nvSpPr>
        <p:spPr>
          <a:xfrm>
            <a:off x="1047750" y="2128838"/>
            <a:ext cx="245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다자간 휴전 협상 및 정치 외교</a:t>
            </a:r>
            <a:endParaRPr lang="en-US" sz="1200" dirty="0"/>
          </a:p>
        </p:txBody>
      </p:sp>
      <p:sp>
        <p:nvSpPr>
          <p:cNvPr id="34" name="SK-13-text-33">
            <a:extLst>
              <a:ext uri="{FF2B5EF4-FFF2-40B4-BE49-F238E27FC236}">
                <a16:creationId xmlns:a16="http://schemas.microsoft.com/office/drawing/2014/main" id="{CF47B4D5-889F-AE77-E7F1-5AF9C25158B1}"/>
              </a:ext>
            </a:extLst>
          </p:cNvPr>
          <p:cNvSpPr/>
          <p:nvPr/>
        </p:nvSpPr>
        <p:spPr>
          <a:xfrm>
            <a:off x="685800" y="2528888"/>
            <a:ext cx="2918371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r>
              <a:rPr lang="en-US" altLang="ko-KR" sz="975" dirty="0">
                <a:solidFill>
                  <a:srgbClr val="00E5FF"/>
                </a:solidFill>
              </a:rPr>
              <a:t>trump, ceasefire, talk, </a:t>
            </a:r>
            <a:r>
              <a:rPr lang="en-US" altLang="ko-KR" sz="975" dirty="0" err="1">
                <a:solidFill>
                  <a:srgbClr val="00E5FF"/>
                </a:solidFill>
              </a:rPr>
              <a:t>israel</a:t>
            </a:r>
            <a:r>
              <a:rPr lang="en-US" altLang="ko-KR" sz="975" dirty="0">
                <a:solidFill>
                  <a:srgbClr val="00E5FF"/>
                </a:solidFill>
              </a:rPr>
              <a:t>, minister, blockade, </a:t>
            </a:r>
            <a:r>
              <a:rPr lang="en-US" altLang="ko-KR" sz="975" dirty="0" err="1">
                <a:solidFill>
                  <a:srgbClr val="00E5FF"/>
                </a:solidFill>
              </a:rPr>
              <a:t>lebanon</a:t>
            </a:r>
            <a:r>
              <a:rPr lang="en-US" altLang="ko-KR" sz="975" dirty="0">
                <a:solidFill>
                  <a:srgbClr val="00E5FF"/>
                </a:solidFill>
              </a:rPr>
              <a:t>, deal, foreign, negotiation</a:t>
            </a:r>
            <a:endParaRPr lang="en-US" sz="975" dirty="0">
              <a:solidFill>
                <a:srgbClr val="00E5FF"/>
              </a:solidFill>
            </a:endParaRPr>
          </a:p>
        </p:txBody>
      </p:sp>
      <p:sp>
        <p:nvSpPr>
          <p:cNvPr id="35" name="SK-13-text-34">
            <a:extLst>
              <a:ext uri="{FF2B5EF4-FFF2-40B4-BE49-F238E27FC236}">
                <a16:creationId xmlns:a16="http://schemas.microsoft.com/office/drawing/2014/main" id="{564F102E-594C-5E96-C67F-E1260F5363BC}"/>
              </a:ext>
            </a:extLst>
          </p:cNvPr>
          <p:cNvSpPr/>
          <p:nvPr/>
        </p:nvSpPr>
        <p:spPr>
          <a:xfrm>
            <a:off x="685800" y="3162300"/>
            <a:ext cx="2918371" cy="8786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• λ = 0.6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조절로 </a:t>
            </a:r>
            <a:r>
              <a:rPr lang="en-US" altLang="ko-KR" sz="105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lebanon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en-US" altLang="ko-KR" sz="105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hezbollah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전선과 이스라엘 갈등이 상위권에 부각</a:t>
            </a:r>
            <a:endParaRPr lang="en-US" altLang="ko-KR" sz="105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470"/>
              </a:lnSpc>
            </a:pP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•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트럼프 행정부 주도의 협상 타결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(deal),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외교장관 회담 등 다자간 외교 프레임 투영</a:t>
            </a:r>
            <a:endParaRPr lang="en-US" altLang="ko-KR" sz="105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6" name="SK-13-text-35">
            <a:extLst>
              <a:ext uri="{FF2B5EF4-FFF2-40B4-BE49-F238E27FC236}">
                <a16:creationId xmlns:a16="http://schemas.microsoft.com/office/drawing/2014/main" id="{F6CAEB0F-1918-CC7F-6376-3FB7A8AD804B}"/>
              </a:ext>
            </a:extLst>
          </p:cNvPr>
          <p:cNvSpPr/>
          <p:nvPr/>
        </p:nvSpPr>
        <p:spPr>
          <a:xfrm>
            <a:off x="4075658" y="2109788"/>
            <a:ext cx="342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37" name="SK-13-text-36">
            <a:extLst>
              <a:ext uri="{FF2B5EF4-FFF2-40B4-BE49-F238E27FC236}">
                <a16:creationId xmlns:a16="http://schemas.microsoft.com/office/drawing/2014/main" id="{CE807DA7-B54D-4EFC-705A-24406F08D5D7}"/>
              </a:ext>
            </a:extLst>
          </p:cNvPr>
          <p:cNvSpPr/>
          <p:nvPr/>
        </p:nvSpPr>
        <p:spPr>
          <a:xfrm>
            <a:off x="4347121" y="2128838"/>
            <a:ext cx="245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공급망 및 원유 리스크</a:t>
            </a:r>
            <a:endParaRPr lang="en-US" sz="1200" dirty="0"/>
          </a:p>
        </p:txBody>
      </p:sp>
      <p:sp>
        <p:nvSpPr>
          <p:cNvPr id="39" name="SK-13-text-38">
            <a:extLst>
              <a:ext uri="{FF2B5EF4-FFF2-40B4-BE49-F238E27FC236}">
                <a16:creationId xmlns:a16="http://schemas.microsoft.com/office/drawing/2014/main" id="{CCA6553F-B064-6822-C18F-74EDE3438EE3}"/>
              </a:ext>
            </a:extLst>
          </p:cNvPr>
          <p:cNvSpPr/>
          <p:nvPr/>
        </p:nvSpPr>
        <p:spPr>
          <a:xfrm>
            <a:off x="3985171" y="3160514"/>
            <a:ext cx="2918520" cy="8804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•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천연가스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(LNG)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및 농업 공급망과 직결되는 비료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(fertilizer)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시장 파급 효과 발굴</a:t>
            </a:r>
            <a:endParaRPr lang="en-US" altLang="ko-KR" sz="105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470"/>
              </a:lnSpc>
            </a:pP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•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최대 수입국인 중국과의 무역 갈등 및 전 세계적 비용 상승 압박 등 경제적 충격 포착</a:t>
            </a:r>
            <a:endParaRPr lang="en-US" sz="105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0" name="SK-13-text-39">
            <a:extLst>
              <a:ext uri="{FF2B5EF4-FFF2-40B4-BE49-F238E27FC236}">
                <a16:creationId xmlns:a16="http://schemas.microsoft.com/office/drawing/2014/main" id="{8804E552-FC1F-10B9-4FF9-2F4C24F4EA9E}"/>
              </a:ext>
            </a:extLst>
          </p:cNvPr>
          <p:cNvSpPr/>
          <p:nvPr/>
        </p:nvSpPr>
        <p:spPr>
          <a:xfrm>
            <a:off x="776288" y="4464844"/>
            <a:ext cx="342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1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41" name="SK-13-text-40">
            <a:extLst>
              <a:ext uri="{FF2B5EF4-FFF2-40B4-BE49-F238E27FC236}">
                <a16:creationId xmlns:a16="http://schemas.microsoft.com/office/drawing/2014/main" id="{F0433525-2491-0083-8756-951AA70C6B4D}"/>
              </a:ext>
            </a:extLst>
          </p:cNvPr>
          <p:cNvSpPr/>
          <p:nvPr/>
        </p:nvSpPr>
        <p:spPr>
          <a:xfrm>
            <a:off x="1047750" y="4483894"/>
            <a:ext cx="3002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이란 체제 압박 및 군사 도발 실황</a:t>
            </a:r>
            <a:endParaRPr lang="en-US" sz="1200" dirty="0"/>
          </a:p>
        </p:txBody>
      </p:sp>
      <p:sp>
        <p:nvSpPr>
          <p:cNvPr id="42" name="SK-13-text-41">
            <a:extLst>
              <a:ext uri="{FF2B5EF4-FFF2-40B4-BE49-F238E27FC236}">
                <a16:creationId xmlns:a16="http://schemas.microsoft.com/office/drawing/2014/main" id="{2CFFDD15-A333-03C9-24A0-FE362CDC2E0A}"/>
              </a:ext>
            </a:extLst>
          </p:cNvPr>
          <p:cNvSpPr/>
          <p:nvPr/>
        </p:nvSpPr>
        <p:spPr>
          <a:xfrm>
            <a:off x="685800" y="4883944"/>
            <a:ext cx="2918371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  <a:spcBef>
                <a:spcPts val="400"/>
              </a:spcBef>
              <a:spcAft>
                <a:spcPts val="600"/>
              </a:spcAft>
              <a:defRPr sz="1000" b="1">
                <a:solidFill>
                  <a:srgbClr val="00E5FF"/>
                </a:solidFill>
                <a:latin typeface="Malgun Gothic"/>
              </a:defRPr>
            </a:pPr>
            <a:r>
              <a:rPr lang="en-US" altLang="ko-KR" sz="975" dirty="0">
                <a:solidFill>
                  <a:srgbClr val="00E5FF"/>
                </a:solidFill>
              </a:rPr>
              <a:t>military, strike, force, missile, target, attack, drone, regime, nuclear, kill, </a:t>
            </a:r>
            <a:r>
              <a:rPr lang="en-US" altLang="ko-KR" sz="975" dirty="0" err="1">
                <a:solidFill>
                  <a:srgbClr val="00E5FF"/>
                </a:solidFill>
              </a:rPr>
              <a:t>irgc</a:t>
            </a:r>
            <a:endParaRPr lang="en-US" altLang="ko-KR" sz="975" dirty="0">
              <a:solidFill>
                <a:srgbClr val="00E5FF"/>
              </a:solidFill>
            </a:endParaRPr>
          </a:p>
        </p:txBody>
      </p:sp>
      <p:sp>
        <p:nvSpPr>
          <p:cNvPr id="43" name="SK-13-text-42">
            <a:extLst>
              <a:ext uri="{FF2B5EF4-FFF2-40B4-BE49-F238E27FC236}">
                <a16:creationId xmlns:a16="http://schemas.microsoft.com/office/drawing/2014/main" id="{417EB03A-FB8E-BE20-0EEF-4994BE93AEDD}"/>
              </a:ext>
            </a:extLst>
          </p:cNvPr>
          <p:cNvSpPr/>
          <p:nvPr/>
        </p:nvSpPr>
        <p:spPr>
          <a:xfrm>
            <a:off x="685800" y="5517356"/>
            <a:ext cx="2918371" cy="9596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•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이란 정권 핵심 군부인 이란혁명수비대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en-US" altLang="ko-KR" sz="105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irgc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의 비대칭 군사 동향이 전면에 노출</a:t>
            </a:r>
            <a:endParaRPr lang="en-US" altLang="ko-KR" sz="105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470"/>
              </a:lnSpc>
            </a:pP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•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핵 시설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(nuclear)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위협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드론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및 미사일 공습 등 양자 간 가파른 물리적 대치 유추</a:t>
            </a:r>
            <a:endParaRPr lang="en-US" sz="105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44" name="SK-13-text-43">
            <a:extLst>
              <a:ext uri="{FF2B5EF4-FFF2-40B4-BE49-F238E27FC236}">
                <a16:creationId xmlns:a16="http://schemas.microsoft.com/office/drawing/2014/main" id="{E468C50E-0666-99E9-EB45-3D9DE269D395}"/>
              </a:ext>
            </a:extLst>
          </p:cNvPr>
          <p:cNvSpPr/>
          <p:nvPr/>
        </p:nvSpPr>
        <p:spPr>
          <a:xfrm>
            <a:off x="4075658" y="4464844"/>
            <a:ext cx="342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1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45" name="SK-13-text-44">
            <a:extLst>
              <a:ext uri="{FF2B5EF4-FFF2-40B4-BE49-F238E27FC236}">
                <a16:creationId xmlns:a16="http://schemas.microsoft.com/office/drawing/2014/main" id="{EEAA1991-8472-58A3-8361-ABA67B4A349F}"/>
              </a:ext>
            </a:extLst>
          </p:cNvPr>
          <p:cNvSpPr/>
          <p:nvPr/>
        </p:nvSpPr>
        <p:spPr>
          <a:xfrm>
            <a:off x="4347121" y="4483894"/>
            <a:ext cx="2087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호르무즈</a:t>
            </a:r>
            <a:r>
              <a:rPr lang="ko-KR" alt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해협 안보 및 물류 마비</a:t>
            </a:r>
            <a:endParaRPr lang="en-US" sz="1200" dirty="0"/>
          </a:p>
        </p:txBody>
      </p:sp>
      <p:sp>
        <p:nvSpPr>
          <p:cNvPr id="46" name="SK-13-text-45">
            <a:extLst>
              <a:ext uri="{FF2B5EF4-FFF2-40B4-BE49-F238E27FC236}">
                <a16:creationId xmlns:a16="http://schemas.microsoft.com/office/drawing/2014/main" id="{F934C798-F008-CC67-D1D4-6D61E92D0FAB}"/>
              </a:ext>
            </a:extLst>
          </p:cNvPr>
          <p:cNvSpPr/>
          <p:nvPr/>
        </p:nvSpPr>
        <p:spPr>
          <a:xfrm>
            <a:off x="3985171" y="4883944"/>
            <a:ext cx="291852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  <a:spcBef>
                <a:spcPts val="400"/>
              </a:spcBef>
              <a:spcAft>
                <a:spcPts val="600"/>
              </a:spcAft>
              <a:defRPr sz="1000" b="1">
                <a:solidFill>
                  <a:srgbClr val="00E5FF"/>
                </a:solidFill>
                <a:latin typeface="Malgun Gothic"/>
              </a:defRPr>
            </a:pPr>
            <a:r>
              <a:rPr lang="en-US" altLang="ko-KR" sz="975" dirty="0">
                <a:solidFill>
                  <a:srgbClr val="00E5FF"/>
                </a:solidFill>
              </a:rPr>
              <a:t>vessel, maritime, tanker, transit, gulf, mine, sea, passage, traffic, port, </a:t>
            </a:r>
            <a:r>
              <a:rPr lang="en-US" altLang="ko-KR" sz="975" dirty="0" err="1">
                <a:solidFill>
                  <a:srgbClr val="00E5FF"/>
                </a:solidFill>
              </a:rPr>
              <a:t>oman</a:t>
            </a:r>
            <a:endParaRPr lang="en-US" altLang="ko-KR" sz="975" dirty="0">
              <a:solidFill>
                <a:srgbClr val="00E5FF"/>
              </a:solidFill>
            </a:endParaRPr>
          </a:p>
        </p:txBody>
      </p:sp>
      <p:sp>
        <p:nvSpPr>
          <p:cNvPr id="47" name="SK-13-text-46">
            <a:extLst>
              <a:ext uri="{FF2B5EF4-FFF2-40B4-BE49-F238E27FC236}">
                <a16:creationId xmlns:a16="http://schemas.microsoft.com/office/drawing/2014/main" id="{590DE71E-4D26-CE48-3F1C-46D051BCE37F}"/>
              </a:ext>
            </a:extLst>
          </p:cNvPr>
          <p:cNvSpPr/>
          <p:nvPr/>
        </p:nvSpPr>
        <p:spPr>
          <a:xfrm>
            <a:off x="3985171" y="5517355"/>
            <a:ext cx="2918520" cy="9596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70"/>
              </a:lnSpc>
            </a:pP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•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페르시아만과 오만만을 잇는 </a:t>
            </a:r>
            <a:r>
              <a:rPr lang="ko-KR" altLang="en-US" sz="105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호르무즈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 수로와 항구의 물리적 통항 마비 실태 파악</a:t>
            </a:r>
            <a:endParaRPr lang="en-US" altLang="ko-KR" sz="105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ts val="1470"/>
              </a:lnSpc>
            </a:pP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•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해상 </a:t>
            </a:r>
            <a:r>
              <a:rPr lang="ko-KR" altLang="en-US" sz="1050" dirty="0" err="1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기뢰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(mine)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매설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해군 호위 작전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민간 유조선</a:t>
            </a:r>
            <a:r>
              <a:rPr lang="en-US" altLang="ko-KR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(tanker) </a:t>
            </a:r>
            <a:r>
              <a:rPr lang="ko-KR" alt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</a:rPr>
              <a:t>교통량 통제 실황 포착</a:t>
            </a:r>
            <a:endParaRPr lang="en-US" sz="1050" dirty="0">
              <a:solidFill>
                <a:srgbClr val="A0AEC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50" name="SK-13-text-49">
            <a:extLst>
              <a:ext uri="{FF2B5EF4-FFF2-40B4-BE49-F238E27FC236}">
                <a16:creationId xmlns:a16="http://schemas.microsoft.com/office/drawing/2014/main" id="{34E9892B-EC46-3E83-F8DA-3DB1F1D85090}"/>
              </a:ext>
            </a:extLst>
          </p:cNvPr>
          <p:cNvSpPr/>
          <p:nvPr/>
        </p:nvSpPr>
        <p:spPr>
          <a:xfrm>
            <a:off x="7729984" y="5353496"/>
            <a:ext cx="399291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 결과 해석</a:t>
            </a:r>
            <a:endParaRPr lang="en-US" sz="1125" dirty="0"/>
          </a:p>
        </p:txBody>
      </p:sp>
      <p:sp>
        <p:nvSpPr>
          <p:cNvPr id="51" name="SK-13-text-50">
            <a:extLst>
              <a:ext uri="{FF2B5EF4-FFF2-40B4-BE49-F238E27FC236}">
                <a16:creationId xmlns:a16="http://schemas.microsoft.com/office/drawing/2014/main" id="{16D4976E-CA7A-91BB-9022-F0A80CFBE3F4}"/>
              </a:ext>
            </a:extLst>
          </p:cNvPr>
          <p:cNvSpPr/>
          <p:nvPr/>
        </p:nvSpPr>
        <p:spPr>
          <a:xfrm>
            <a:off x="7589490" y="5624959"/>
            <a:ext cx="4602510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토픽 원(Circle)이 각 사분면으로 겹침 없이 분산되어 독립성 확보</a:t>
            </a:r>
            <a:endParaRPr lang="en-US" sz="975" dirty="0"/>
          </a:p>
        </p:txBody>
      </p:sp>
      <p:sp>
        <p:nvSpPr>
          <p:cNvPr id="52" name="SK-13-text-51">
            <a:extLst>
              <a:ext uri="{FF2B5EF4-FFF2-40B4-BE49-F238E27FC236}">
                <a16:creationId xmlns:a16="http://schemas.microsoft.com/office/drawing/2014/main" id="{935390AE-1FF4-97DA-F3C5-6383D4F6303D}"/>
              </a:ext>
            </a:extLst>
          </p:cNvPr>
          <p:cNvSpPr/>
          <p:nvPr/>
        </p:nvSpPr>
        <p:spPr>
          <a:xfrm>
            <a:off x="7589490" y="5851624"/>
            <a:ext cx="4602510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토픽별 가중치 바 상위 단어가 명확히 분리되어 주제 경계선 뚜렷</a:t>
            </a:r>
            <a:endParaRPr lang="en-US" sz="975" dirty="0"/>
          </a:p>
        </p:txBody>
      </p:sp>
      <p:sp>
        <p:nvSpPr>
          <p:cNvPr id="53" name="SK-13-text-52">
            <a:extLst>
              <a:ext uri="{FF2B5EF4-FFF2-40B4-BE49-F238E27FC236}">
                <a16:creationId xmlns:a16="http://schemas.microsoft.com/office/drawing/2014/main" id="{B4CB5DA8-EFA0-F8C8-6827-1FF67C5733E6}"/>
              </a:ext>
            </a:extLst>
          </p:cNvPr>
          <p:cNvSpPr/>
          <p:nvPr/>
        </p:nvSpPr>
        <p:spPr>
          <a:xfrm>
            <a:off x="7589490" y="6078289"/>
            <a:ext cx="4602510" cy="1980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K-Means 4대 거시 의제와 LDA 미시 토픽의 완벽한 정합성 확인</a:t>
            </a:r>
            <a:endParaRPr lang="en-US" sz="975" dirty="0"/>
          </a:p>
        </p:txBody>
      </p:sp>
      <p:pic>
        <p:nvPicPr>
          <p:cNvPr id="23" name="SK-13-img-5" descr="preencoded.png">
            <a:extLst>
              <a:ext uri="{FF2B5EF4-FFF2-40B4-BE49-F238E27FC236}">
                <a16:creationId xmlns:a16="http://schemas.microsoft.com/office/drawing/2014/main" id="{EF3DC66C-DC59-5B17-8132-E83F431DA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4918" y="1552575"/>
            <a:ext cx="990600" cy="261937"/>
          </a:xfrm>
          <a:prstGeom prst="rect">
            <a:avLst/>
          </a:prstGeom>
        </p:spPr>
      </p:pic>
      <p:sp>
        <p:nvSpPr>
          <p:cNvPr id="48" name="SK-13-text-30">
            <a:extLst>
              <a:ext uri="{FF2B5EF4-FFF2-40B4-BE49-F238E27FC236}">
                <a16:creationId xmlns:a16="http://schemas.microsoft.com/office/drawing/2014/main" id="{BF02FF35-6CC9-8C8D-A41E-D6FB62AB7182}"/>
              </a:ext>
            </a:extLst>
          </p:cNvPr>
          <p:cNvSpPr/>
          <p:nvPr/>
        </p:nvSpPr>
        <p:spPr>
          <a:xfrm>
            <a:off x="5403951" y="1543050"/>
            <a:ext cx="814921" cy="2619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</a:pPr>
            <a:r>
              <a:rPr lang="en-US" altLang="ko-KR" sz="975" dirty="0">
                <a:solidFill>
                  <a:srgbClr val="00E5FF"/>
                </a:solidFill>
              </a:rPr>
              <a:t>λ = 0.6</a:t>
            </a:r>
            <a:endParaRPr lang="en-US" sz="975" dirty="0">
              <a:solidFill>
                <a:srgbClr val="00E5FF"/>
              </a:solidFill>
            </a:endParaRPr>
          </a:p>
        </p:txBody>
      </p:sp>
      <p:sp>
        <p:nvSpPr>
          <p:cNvPr id="49" name="SK-13-text-33">
            <a:extLst>
              <a:ext uri="{FF2B5EF4-FFF2-40B4-BE49-F238E27FC236}">
                <a16:creationId xmlns:a16="http://schemas.microsoft.com/office/drawing/2014/main" id="{B2C0BECA-6F24-7D9F-7349-525AA89BEA85}"/>
              </a:ext>
            </a:extLst>
          </p:cNvPr>
          <p:cNvSpPr/>
          <p:nvPr/>
        </p:nvSpPr>
        <p:spPr>
          <a:xfrm>
            <a:off x="3985320" y="2527100"/>
            <a:ext cx="2918371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463"/>
              </a:lnSpc>
              <a:spcBef>
                <a:spcPts val="400"/>
              </a:spcBef>
              <a:spcAft>
                <a:spcPts val="600"/>
              </a:spcAft>
              <a:defRPr sz="1000" b="1">
                <a:solidFill>
                  <a:srgbClr val="00E5FF"/>
                </a:solidFill>
                <a:latin typeface="Malgun Gothic"/>
              </a:defRPr>
            </a:pPr>
            <a:r>
              <a:rPr lang="en-US" altLang="ko-KR" sz="975" dirty="0">
                <a:solidFill>
                  <a:srgbClr val="00E5FF"/>
                </a:solidFill>
              </a:rPr>
              <a:t>price, market, energy, supply, disruption, crude, barrel, cost, gas, export, trade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CEB0FF1-D771-20AA-9704-772F4F612E8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63748" y="1721340"/>
            <a:ext cx="4210913" cy="334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18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4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4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24038"/>
            <a:ext cx="7213550" cy="4572000"/>
          </a:xfrm>
          <a:prstGeom prst="rect">
            <a:avLst/>
          </a:prstGeom>
        </p:spPr>
      </p:pic>
      <p:pic>
        <p:nvPicPr>
          <p:cNvPr id="7" name="SK-14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014538"/>
            <a:ext cx="6810375" cy="4171950"/>
          </a:xfrm>
          <a:prstGeom prst="rect">
            <a:avLst/>
          </a:prstGeom>
        </p:spPr>
      </p:pic>
      <p:pic>
        <p:nvPicPr>
          <p:cNvPr id="8" name="SK-14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3650" y="1838474"/>
            <a:ext cx="3606850" cy="1447800"/>
          </a:xfrm>
          <a:prstGeom prst="rect">
            <a:avLst/>
          </a:prstGeom>
        </p:spPr>
      </p:pic>
      <p:pic>
        <p:nvPicPr>
          <p:cNvPr id="9" name="SK-14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050" y="1925538"/>
            <a:ext cx="154781" cy="125760"/>
          </a:xfrm>
          <a:prstGeom prst="rect">
            <a:avLst/>
          </a:prstGeom>
        </p:spPr>
      </p:pic>
      <p:pic>
        <p:nvPicPr>
          <p:cNvPr id="10" name="SK-14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6050" y="2414736"/>
            <a:ext cx="3302050" cy="271463"/>
          </a:xfrm>
          <a:prstGeom prst="rect">
            <a:avLst/>
          </a:prstGeom>
        </p:spPr>
      </p:pic>
      <p:pic>
        <p:nvPicPr>
          <p:cNvPr id="11" name="SK-14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6050" y="2686199"/>
            <a:ext cx="3302050" cy="271463"/>
          </a:xfrm>
          <a:prstGeom prst="rect">
            <a:avLst/>
          </a:prstGeom>
        </p:spPr>
      </p:pic>
      <p:pic>
        <p:nvPicPr>
          <p:cNvPr id="12" name="SK-14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3650" y="3362474"/>
            <a:ext cx="3606850" cy="1814066"/>
          </a:xfrm>
          <a:prstGeom prst="rect">
            <a:avLst/>
          </a:prstGeom>
        </p:spPr>
      </p:pic>
      <p:pic>
        <p:nvPicPr>
          <p:cNvPr id="13" name="SK-14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6050" y="3449538"/>
            <a:ext cx="154781" cy="125760"/>
          </a:xfrm>
          <a:prstGeom prst="rect">
            <a:avLst/>
          </a:prstGeom>
        </p:spPr>
      </p:pic>
      <p:pic>
        <p:nvPicPr>
          <p:cNvPr id="14" name="SK-14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3650" y="5252740"/>
            <a:ext cx="3606850" cy="1128713"/>
          </a:xfrm>
          <a:prstGeom prst="rect">
            <a:avLst/>
          </a:prstGeom>
        </p:spPr>
      </p:pic>
      <p:pic>
        <p:nvPicPr>
          <p:cNvPr id="15" name="SK-14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6050" y="5339804"/>
            <a:ext cx="154781" cy="125760"/>
          </a:xfrm>
          <a:prstGeom prst="rect">
            <a:avLst/>
          </a:prstGeom>
        </p:spPr>
      </p:pic>
      <p:sp>
        <p:nvSpPr>
          <p:cNvPr id="16" name="SK-14-text-15"/>
          <p:cNvSpPr/>
          <p:nvPr/>
        </p:nvSpPr>
        <p:spPr>
          <a:xfrm>
            <a:off x="723900" y="381000"/>
            <a:ext cx="72237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 보도량 시계열 트렌드 분석</a:t>
            </a:r>
            <a:endParaRPr lang="en-US" sz="2400" dirty="0"/>
          </a:p>
        </p:txBody>
      </p:sp>
      <p:sp>
        <p:nvSpPr>
          <p:cNvPr id="17" name="SK-14-text-16"/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사건 발생에 따른 보도량 변동 및 언론의 반응 패턴 분석</a:t>
            </a:r>
            <a:endParaRPr lang="en-US" sz="1350" dirty="0"/>
          </a:p>
        </p:txBody>
      </p:sp>
      <p:sp>
        <p:nvSpPr>
          <p:cNvPr id="18" name="SK-14-text-17"/>
          <p:cNvSpPr/>
          <p:nvPr/>
        </p:nvSpPr>
        <p:spPr>
          <a:xfrm>
            <a:off x="8397032" y="1895624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MONTHLY PEAK DATA</a:t>
            </a:r>
            <a:endParaRPr lang="en-US" sz="975" dirty="0"/>
          </a:p>
        </p:txBody>
      </p:sp>
      <p:sp>
        <p:nvSpPr>
          <p:cNvPr id="19" name="SK-14-text-18"/>
          <p:cNvSpPr/>
          <p:nvPr/>
        </p:nvSpPr>
        <p:spPr>
          <a:xfrm>
            <a:off x="8166050" y="2109936"/>
            <a:ext cx="33877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 보도량 추이 요약</a:t>
            </a:r>
            <a:endParaRPr lang="en-US" sz="1350" dirty="0"/>
          </a:p>
        </p:txBody>
      </p:sp>
      <p:sp>
        <p:nvSpPr>
          <p:cNvPr id="20" name="SK-14-text-19"/>
          <p:cNvSpPr/>
          <p:nvPr/>
        </p:nvSpPr>
        <p:spPr>
          <a:xfrm>
            <a:off x="8166050" y="2457599"/>
            <a:ext cx="334518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 (에픽 퓨리 작전)</a:t>
            </a:r>
            <a:endParaRPr lang="en-US" sz="975" dirty="0"/>
          </a:p>
        </p:txBody>
      </p:sp>
      <p:sp>
        <p:nvSpPr>
          <p:cNvPr id="21" name="SK-14-text-20"/>
          <p:cNvSpPr/>
          <p:nvPr/>
        </p:nvSpPr>
        <p:spPr>
          <a:xfrm>
            <a:off x="10896600" y="2443311"/>
            <a:ext cx="12954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E5FF"/>
                </a:solidFill>
              </a:rPr>
              <a:t>1,015건</a:t>
            </a:r>
            <a:endParaRPr lang="en-US" sz="1125" dirty="0"/>
          </a:p>
        </p:txBody>
      </p:sp>
      <p:sp>
        <p:nvSpPr>
          <p:cNvPr id="22" name="SK-14-text-21"/>
          <p:cNvSpPr/>
          <p:nvPr/>
        </p:nvSpPr>
        <p:spPr>
          <a:xfrm>
            <a:off x="8166050" y="2729061"/>
            <a:ext cx="349377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2026.04 (반복적 봉쇄/휴전)</a:t>
            </a:r>
            <a:endParaRPr lang="en-US" sz="975" dirty="0"/>
          </a:p>
        </p:txBody>
      </p:sp>
      <p:sp>
        <p:nvSpPr>
          <p:cNvPr id="23" name="SK-14-text-22"/>
          <p:cNvSpPr/>
          <p:nvPr/>
        </p:nvSpPr>
        <p:spPr>
          <a:xfrm>
            <a:off x="10896600" y="2714774"/>
            <a:ext cx="12954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E5FF"/>
                </a:solidFill>
              </a:rPr>
              <a:t>1,304건</a:t>
            </a:r>
            <a:endParaRPr lang="en-US" sz="1125" dirty="0"/>
          </a:p>
        </p:txBody>
      </p:sp>
      <p:sp>
        <p:nvSpPr>
          <p:cNvPr id="24" name="SK-14-text-23"/>
          <p:cNvSpPr/>
          <p:nvPr/>
        </p:nvSpPr>
        <p:spPr>
          <a:xfrm>
            <a:off x="8166050" y="3000524"/>
            <a:ext cx="349377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2026.05 (MOU 협상 진통)</a:t>
            </a:r>
            <a:endParaRPr lang="en-US" sz="975" dirty="0"/>
          </a:p>
        </p:txBody>
      </p:sp>
      <p:sp>
        <p:nvSpPr>
          <p:cNvPr id="25" name="SK-14-text-24"/>
          <p:cNvSpPr/>
          <p:nvPr/>
        </p:nvSpPr>
        <p:spPr>
          <a:xfrm>
            <a:off x="10896600" y="2986236"/>
            <a:ext cx="12954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E5FF"/>
                </a:solidFill>
              </a:rPr>
              <a:t>1,127건</a:t>
            </a:r>
            <a:endParaRPr lang="en-US" sz="1125" dirty="0"/>
          </a:p>
        </p:txBody>
      </p:sp>
      <p:sp>
        <p:nvSpPr>
          <p:cNvPr id="26" name="SK-14-text-25"/>
          <p:cNvSpPr/>
          <p:nvPr/>
        </p:nvSpPr>
        <p:spPr>
          <a:xfrm>
            <a:off x="8397032" y="3419624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SPIKE ANALYSIS</a:t>
            </a:r>
            <a:endParaRPr lang="en-US" sz="975" dirty="0"/>
          </a:p>
        </p:txBody>
      </p:sp>
      <p:sp>
        <p:nvSpPr>
          <p:cNvPr id="27" name="SK-14-text-26"/>
          <p:cNvSpPr/>
          <p:nvPr/>
        </p:nvSpPr>
        <p:spPr>
          <a:xfrm>
            <a:off x="8166050" y="3633936"/>
            <a:ext cx="338777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주요 스파이크</a:t>
            </a:r>
            <a:endParaRPr lang="en-US" sz="1350" dirty="0"/>
          </a:p>
        </p:txBody>
      </p:sp>
      <p:sp>
        <p:nvSpPr>
          <p:cNvPr id="28" name="SK-14-text-27"/>
          <p:cNvSpPr/>
          <p:nvPr/>
        </p:nvSpPr>
        <p:spPr>
          <a:xfrm>
            <a:off x="8166050" y="3938736"/>
            <a:ext cx="3302050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04-17 (67건):</a:t>
            </a: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이란 역봉쇄 선언, 휴전 9일 만에 위기 재점화</a:t>
            </a:r>
            <a:endParaRPr lang="en-US" sz="1050" dirty="0"/>
          </a:p>
        </p:txBody>
      </p:sp>
      <p:sp>
        <p:nvSpPr>
          <p:cNvPr id="29" name="SK-14-text-28"/>
          <p:cNvSpPr/>
          <p:nvPr/>
        </p:nvSpPr>
        <p:spPr>
          <a:xfrm>
            <a:off x="8166050" y="4403378"/>
            <a:ext cx="4025950" cy="2132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05-18 (75건):</a:t>
            </a: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트럼프 공습 취소 및 MOU 협상 합의 보도</a:t>
            </a:r>
            <a:endParaRPr lang="en-US" sz="1050" dirty="0"/>
          </a:p>
        </p:txBody>
      </p:sp>
      <p:sp>
        <p:nvSpPr>
          <p:cNvPr id="30" name="SK-14-text-29"/>
          <p:cNvSpPr/>
          <p:nvPr/>
        </p:nvSpPr>
        <p:spPr>
          <a:xfrm>
            <a:off x="8166050" y="4654748"/>
            <a:ext cx="3302050" cy="426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05-20 (68건):</a:t>
            </a: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협상 진통, 이란의 "신뢰 부재" 발언으로 긴장 재개</a:t>
            </a:r>
            <a:endParaRPr lang="en-US" sz="1050" dirty="0"/>
          </a:p>
        </p:txBody>
      </p:sp>
      <p:sp>
        <p:nvSpPr>
          <p:cNvPr id="31" name="SK-14-text-30"/>
          <p:cNvSpPr/>
          <p:nvPr/>
        </p:nvSpPr>
        <p:spPr>
          <a:xfrm>
            <a:off x="8397032" y="5309890"/>
            <a:ext cx="3302050" cy="185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INSIGHT</a:t>
            </a:r>
            <a:endParaRPr lang="en-US" sz="975" dirty="0"/>
          </a:p>
        </p:txBody>
      </p:sp>
      <p:sp>
        <p:nvSpPr>
          <p:cNvPr id="32" name="SK-14-text-31"/>
          <p:cNvSpPr/>
          <p:nvPr/>
        </p:nvSpPr>
        <p:spPr>
          <a:xfrm>
            <a:off x="8166050" y="5524202"/>
            <a:ext cx="330205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언론은 단일 충격보다 </a:t>
            </a:r>
            <a:r>
              <a:rPr lang="en-US" sz="105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불확실성 지속 기간</a:t>
            </a: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민감하게 반응합니다. 3월의 폭발적 보도 이후 4~5월까지 높은 보도량이 유지된 것은 휴전과 재봉쇄가 반복되는 예측 불가능한 상황 때문인 것으로 분석됩니다.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52588"/>
            <a:ext cx="238125" cy="190500"/>
          </a:xfrm>
          <a:prstGeom prst="rect">
            <a:avLst/>
          </a:prstGeom>
        </p:spPr>
      </p:pic>
      <p:pic>
        <p:nvPicPr>
          <p:cNvPr id="7" name="SK-1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095500"/>
            <a:ext cx="5334000" cy="2667000"/>
          </a:xfrm>
          <a:prstGeom prst="rect">
            <a:avLst/>
          </a:prstGeom>
        </p:spPr>
      </p:pic>
      <p:pic>
        <p:nvPicPr>
          <p:cNvPr id="9" name="SK-15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953000"/>
            <a:ext cx="2619375" cy="352425"/>
          </a:xfrm>
          <a:prstGeom prst="rect">
            <a:avLst/>
          </a:prstGeom>
        </p:spPr>
      </p:pic>
      <p:pic>
        <p:nvPicPr>
          <p:cNvPr id="10" name="SK-15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081588"/>
            <a:ext cx="95250" cy="95250"/>
          </a:xfrm>
          <a:prstGeom prst="rect">
            <a:avLst/>
          </a:prstGeom>
        </p:spPr>
      </p:pic>
      <p:pic>
        <p:nvPicPr>
          <p:cNvPr id="11" name="SK-15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6125" y="4953000"/>
            <a:ext cx="2619375" cy="352425"/>
          </a:xfrm>
          <a:prstGeom prst="rect">
            <a:avLst/>
          </a:prstGeom>
        </p:spPr>
      </p:pic>
      <p:pic>
        <p:nvPicPr>
          <p:cNvPr id="12" name="SK-15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0425" y="5081588"/>
            <a:ext cx="95250" cy="95250"/>
          </a:xfrm>
          <a:prstGeom prst="rect">
            <a:avLst/>
          </a:prstGeom>
        </p:spPr>
      </p:pic>
      <p:pic>
        <p:nvPicPr>
          <p:cNvPr id="13" name="SK-15-img-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400675"/>
            <a:ext cx="2619375" cy="352425"/>
          </a:xfrm>
          <a:prstGeom prst="rect">
            <a:avLst/>
          </a:prstGeom>
        </p:spPr>
      </p:pic>
      <p:pic>
        <p:nvPicPr>
          <p:cNvPr id="14" name="SK-15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529263"/>
            <a:ext cx="95250" cy="95250"/>
          </a:xfrm>
          <a:prstGeom prst="rect">
            <a:avLst/>
          </a:prstGeom>
        </p:spPr>
      </p:pic>
      <p:pic>
        <p:nvPicPr>
          <p:cNvPr id="15" name="SK-15-img-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6125" y="5400675"/>
            <a:ext cx="2619375" cy="352425"/>
          </a:xfrm>
          <a:prstGeom prst="rect">
            <a:avLst/>
          </a:prstGeom>
        </p:spPr>
      </p:pic>
      <p:pic>
        <p:nvPicPr>
          <p:cNvPr id="16" name="SK-15-img-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0425" y="5529263"/>
            <a:ext cx="95250" cy="95250"/>
          </a:xfrm>
          <a:prstGeom prst="rect">
            <a:avLst/>
          </a:prstGeom>
        </p:spPr>
      </p:pic>
      <p:pic>
        <p:nvPicPr>
          <p:cNvPr id="17" name="SK-15-img-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981700"/>
            <a:ext cx="142875" cy="176213"/>
          </a:xfrm>
          <a:prstGeom prst="rect">
            <a:avLst/>
          </a:prstGeom>
        </p:spPr>
      </p:pic>
      <p:pic>
        <p:nvPicPr>
          <p:cNvPr id="18" name="SK-15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6291263"/>
            <a:ext cx="142875" cy="176213"/>
          </a:xfrm>
          <a:prstGeom prst="rect">
            <a:avLst/>
          </a:prstGeom>
        </p:spPr>
      </p:pic>
      <p:pic>
        <p:nvPicPr>
          <p:cNvPr id="19" name="SK-15-img-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0" y="1652588"/>
            <a:ext cx="238125" cy="190500"/>
          </a:xfrm>
          <a:prstGeom prst="rect">
            <a:avLst/>
          </a:prstGeom>
        </p:spPr>
      </p:pic>
      <p:pic>
        <p:nvPicPr>
          <p:cNvPr id="20" name="SK-15-img-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0" y="2057400"/>
            <a:ext cx="5334000" cy="3250109"/>
          </a:xfrm>
          <a:prstGeom prst="rect">
            <a:avLst/>
          </a:prstGeom>
        </p:spPr>
      </p:pic>
      <p:pic>
        <p:nvPicPr>
          <p:cNvPr id="21" name="SK-15-img-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0" y="2057400"/>
            <a:ext cx="5334000" cy="3250109"/>
          </a:xfrm>
          <a:prstGeom prst="rect">
            <a:avLst/>
          </a:prstGeom>
        </p:spPr>
      </p:pic>
      <p:pic>
        <p:nvPicPr>
          <p:cNvPr id="22" name="SK-15-img-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0" y="2057400"/>
            <a:ext cx="5334000" cy="352425"/>
          </a:xfrm>
          <a:prstGeom prst="rect">
            <a:avLst/>
          </a:prstGeom>
        </p:spPr>
      </p:pic>
      <p:pic>
        <p:nvPicPr>
          <p:cNvPr id="23" name="SK-15-img-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0" y="2409825"/>
            <a:ext cx="666750" cy="362099"/>
          </a:xfrm>
          <a:prstGeom prst="rect">
            <a:avLst/>
          </a:prstGeom>
        </p:spPr>
      </p:pic>
      <p:pic>
        <p:nvPicPr>
          <p:cNvPr id="24" name="SK-15-img-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53250" y="2409825"/>
            <a:ext cx="3571875" cy="362099"/>
          </a:xfrm>
          <a:prstGeom prst="rect">
            <a:avLst/>
          </a:prstGeom>
        </p:spPr>
      </p:pic>
      <p:pic>
        <p:nvPicPr>
          <p:cNvPr id="25" name="SK-15-img-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25125" y="2409825"/>
            <a:ext cx="1095375" cy="362099"/>
          </a:xfrm>
          <a:prstGeom prst="rect">
            <a:avLst/>
          </a:prstGeom>
        </p:spPr>
      </p:pic>
      <p:pic>
        <p:nvPicPr>
          <p:cNvPr id="26" name="SK-15-img-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0" y="2771924"/>
            <a:ext cx="666750" cy="362099"/>
          </a:xfrm>
          <a:prstGeom prst="rect">
            <a:avLst/>
          </a:prstGeom>
        </p:spPr>
      </p:pic>
      <p:pic>
        <p:nvPicPr>
          <p:cNvPr id="27" name="SK-15-img-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53250" y="2771924"/>
            <a:ext cx="3571875" cy="362099"/>
          </a:xfrm>
          <a:prstGeom prst="rect">
            <a:avLst/>
          </a:prstGeom>
        </p:spPr>
      </p:pic>
      <p:pic>
        <p:nvPicPr>
          <p:cNvPr id="28" name="SK-15-img-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25125" y="2771924"/>
            <a:ext cx="1095375" cy="362099"/>
          </a:xfrm>
          <a:prstGeom prst="rect">
            <a:avLst/>
          </a:prstGeom>
        </p:spPr>
      </p:pic>
      <p:pic>
        <p:nvPicPr>
          <p:cNvPr id="29" name="SK-15-img-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0" y="3134023"/>
            <a:ext cx="666750" cy="362099"/>
          </a:xfrm>
          <a:prstGeom prst="rect">
            <a:avLst/>
          </a:prstGeom>
        </p:spPr>
      </p:pic>
      <p:pic>
        <p:nvPicPr>
          <p:cNvPr id="30" name="SK-15-img-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53250" y="3134023"/>
            <a:ext cx="3571875" cy="362099"/>
          </a:xfrm>
          <a:prstGeom prst="rect">
            <a:avLst/>
          </a:prstGeom>
        </p:spPr>
      </p:pic>
      <p:pic>
        <p:nvPicPr>
          <p:cNvPr id="31" name="SK-15-img-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25125" y="3134023"/>
            <a:ext cx="1095375" cy="362099"/>
          </a:xfrm>
          <a:prstGeom prst="rect">
            <a:avLst/>
          </a:prstGeom>
        </p:spPr>
      </p:pic>
      <p:pic>
        <p:nvPicPr>
          <p:cNvPr id="32" name="SK-15-img-3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86500" y="3496121"/>
            <a:ext cx="666750" cy="362099"/>
          </a:xfrm>
          <a:prstGeom prst="rect">
            <a:avLst/>
          </a:prstGeom>
        </p:spPr>
      </p:pic>
      <p:pic>
        <p:nvPicPr>
          <p:cNvPr id="33" name="SK-15-img-3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53250" y="3496121"/>
            <a:ext cx="3571875" cy="362099"/>
          </a:xfrm>
          <a:prstGeom prst="rect">
            <a:avLst/>
          </a:prstGeom>
        </p:spPr>
      </p:pic>
      <p:pic>
        <p:nvPicPr>
          <p:cNvPr id="34" name="SK-15-img-3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25125" y="3496121"/>
            <a:ext cx="1095375" cy="362099"/>
          </a:xfrm>
          <a:prstGeom prst="rect">
            <a:avLst/>
          </a:prstGeom>
        </p:spPr>
      </p:pic>
      <p:pic>
        <p:nvPicPr>
          <p:cNvPr id="35" name="SK-15-img-3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86500" y="3858220"/>
            <a:ext cx="666750" cy="362099"/>
          </a:xfrm>
          <a:prstGeom prst="rect">
            <a:avLst/>
          </a:prstGeom>
        </p:spPr>
      </p:pic>
      <p:pic>
        <p:nvPicPr>
          <p:cNvPr id="36" name="SK-15-img-3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53250" y="3858220"/>
            <a:ext cx="3571875" cy="362099"/>
          </a:xfrm>
          <a:prstGeom prst="rect">
            <a:avLst/>
          </a:prstGeom>
        </p:spPr>
      </p:pic>
      <p:pic>
        <p:nvPicPr>
          <p:cNvPr id="37" name="SK-15-img-3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25125" y="3858220"/>
            <a:ext cx="1095375" cy="362099"/>
          </a:xfrm>
          <a:prstGeom prst="rect">
            <a:avLst/>
          </a:prstGeom>
        </p:spPr>
      </p:pic>
      <p:pic>
        <p:nvPicPr>
          <p:cNvPr id="38" name="SK-15-img-3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86500" y="4220319"/>
            <a:ext cx="666750" cy="362099"/>
          </a:xfrm>
          <a:prstGeom prst="rect">
            <a:avLst/>
          </a:prstGeom>
        </p:spPr>
      </p:pic>
      <p:pic>
        <p:nvPicPr>
          <p:cNvPr id="39" name="SK-15-img-3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53250" y="4220319"/>
            <a:ext cx="3571875" cy="362099"/>
          </a:xfrm>
          <a:prstGeom prst="rect">
            <a:avLst/>
          </a:prstGeom>
        </p:spPr>
      </p:pic>
      <p:pic>
        <p:nvPicPr>
          <p:cNvPr id="40" name="SK-15-img-3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25125" y="4220319"/>
            <a:ext cx="1095375" cy="362099"/>
          </a:xfrm>
          <a:prstGeom prst="rect">
            <a:avLst/>
          </a:prstGeom>
        </p:spPr>
      </p:pic>
      <p:pic>
        <p:nvPicPr>
          <p:cNvPr id="41" name="SK-15-img-4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86500" y="4582418"/>
            <a:ext cx="666750" cy="362099"/>
          </a:xfrm>
          <a:prstGeom prst="rect">
            <a:avLst/>
          </a:prstGeom>
        </p:spPr>
      </p:pic>
      <p:pic>
        <p:nvPicPr>
          <p:cNvPr id="42" name="SK-15-img-4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53250" y="4582418"/>
            <a:ext cx="3571875" cy="362099"/>
          </a:xfrm>
          <a:prstGeom prst="rect">
            <a:avLst/>
          </a:prstGeom>
        </p:spPr>
      </p:pic>
      <p:pic>
        <p:nvPicPr>
          <p:cNvPr id="43" name="SK-15-img-4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25125" y="4582418"/>
            <a:ext cx="1095375" cy="362099"/>
          </a:xfrm>
          <a:prstGeom prst="rect">
            <a:avLst/>
          </a:prstGeom>
        </p:spPr>
      </p:pic>
      <p:pic>
        <p:nvPicPr>
          <p:cNvPr id="44" name="SK-15-img-4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86500" y="5459909"/>
            <a:ext cx="5334000" cy="1093291"/>
          </a:xfrm>
          <a:prstGeom prst="rect">
            <a:avLst/>
          </a:prstGeom>
        </p:spPr>
      </p:pic>
      <p:pic>
        <p:nvPicPr>
          <p:cNvPr id="45" name="SK-15-img-44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38900" y="5637907"/>
            <a:ext cx="190500" cy="152400"/>
          </a:xfrm>
          <a:prstGeom prst="rect">
            <a:avLst/>
          </a:prstGeom>
        </p:spPr>
      </p:pic>
      <p:sp>
        <p:nvSpPr>
          <p:cNvPr id="46" name="SK-15-text-45"/>
          <p:cNvSpPr/>
          <p:nvPr/>
        </p:nvSpPr>
        <p:spPr>
          <a:xfrm>
            <a:off x="723900" y="381000"/>
            <a:ext cx="746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네트워크 및 N-gram 분석</a:t>
            </a:r>
            <a:endParaRPr lang="en-US" sz="2400" dirty="0"/>
          </a:p>
        </p:txBody>
      </p:sp>
      <p:sp>
        <p:nvSpPr>
          <p:cNvPr id="47" name="SK-15-text-46"/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군사 충돌에서 에너지 위기로 이어지는 언론 보도 내 인과 구조 실증</a:t>
            </a:r>
            <a:endParaRPr lang="en-US" sz="1350" dirty="0"/>
          </a:p>
        </p:txBody>
      </p:sp>
      <p:sp>
        <p:nvSpPr>
          <p:cNvPr id="48" name="SK-15-text-47"/>
          <p:cNvSpPr/>
          <p:nvPr/>
        </p:nvSpPr>
        <p:spPr>
          <a:xfrm>
            <a:off x="904875" y="1590675"/>
            <a:ext cx="689419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동시출현 의미망 분석 (Co-occurrence)</a:t>
            </a:r>
            <a:endParaRPr lang="en-US" sz="1650" dirty="0"/>
          </a:p>
        </p:txBody>
      </p:sp>
      <p:sp>
        <p:nvSpPr>
          <p:cNvPr id="51" name="SK-15-text-50"/>
          <p:cNvSpPr/>
          <p:nvPr/>
        </p:nvSpPr>
        <p:spPr>
          <a:xfrm>
            <a:off x="857250" y="5029200"/>
            <a:ext cx="24765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Energy / Market</a:t>
            </a:r>
            <a:endParaRPr lang="en-US" sz="1050" dirty="0"/>
          </a:p>
        </p:txBody>
      </p:sp>
      <p:sp>
        <p:nvSpPr>
          <p:cNvPr id="52" name="SK-15-text-51"/>
          <p:cNvSpPr/>
          <p:nvPr/>
        </p:nvSpPr>
        <p:spPr>
          <a:xfrm>
            <a:off x="3571875" y="5029200"/>
            <a:ext cx="311658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Military / Conflict</a:t>
            </a:r>
            <a:endParaRPr lang="en-US" sz="1050" dirty="0"/>
          </a:p>
        </p:txBody>
      </p:sp>
      <p:sp>
        <p:nvSpPr>
          <p:cNvPr id="53" name="SK-15-text-52"/>
          <p:cNvSpPr/>
          <p:nvPr/>
        </p:nvSpPr>
        <p:spPr>
          <a:xfrm>
            <a:off x="857250" y="5476875"/>
            <a:ext cx="263652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Maritime Transit</a:t>
            </a:r>
            <a:endParaRPr lang="en-US" sz="1050" dirty="0"/>
          </a:p>
        </p:txBody>
      </p:sp>
      <p:sp>
        <p:nvSpPr>
          <p:cNvPr id="54" name="SK-15-text-53"/>
          <p:cNvSpPr/>
          <p:nvPr/>
        </p:nvSpPr>
        <p:spPr>
          <a:xfrm>
            <a:off x="3571875" y="5476875"/>
            <a:ext cx="295656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Diplomacy / Regime</a:t>
            </a:r>
            <a:endParaRPr lang="en-US" sz="1050" dirty="0"/>
          </a:p>
        </p:txBody>
      </p:sp>
      <p:sp>
        <p:nvSpPr>
          <p:cNvPr id="55" name="SK-15-text-54"/>
          <p:cNvSpPr/>
          <p:nvPr/>
        </p:nvSpPr>
        <p:spPr>
          <a:xfrm>
            <a:off x="809625" y="5943600"/>
            <a:ext cx="6858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Persian Gulf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노드가 모든 의제를 관통하는 핵심 허브 역할 수행</a:t>
            </a:r>
            <a:endParaRPr lang="en-US" sz="1125" dirty="0"/>
          </a:p>
        </p:txBody>
      </p:sp>
      <p:sp>
        <p:nvSpPr>
          <p:cNvPr id="56" name="SK-15-text-55"/>
          <p:cNvSpPr/>
          <p:nvPr/>
        </p:nvSpPr>
        <p:spPr>
          <a:xfrm>
            <a:off x="809625" y="6253163"/>
            <a:ext cx="7372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Trump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노드가 중앙 허브와 밀접하게 연결되어 미국 정책의 트리거 효과 증명</a:t>
            </a:r>
            <a:endParaRPr lang="en-US" sz="1125" dirty="0"/>
          </a:p>
        </p:txBody>
      </p:sp>
      <p:sp>
        <p:nvSpPr>
          <p:cNvPr id="57" name="SK-15-text-56"/>
          <p:cNvSpPr/>
          <p:nvPr/>
        </p:nvSpPr>
        <p:spPr>
          <a:xfrm>
            <a:off x="6619875" y="1590675"/>
            <a:ext cx="557212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N-gram (Bigram) 빈도 분석 Top 8</a:t>
            </a:r>
            <a:endParaRPr lang="en-US" sz="1650" dirty="0"/>
          </a:p>
        </p:txBody>
      </p:sp>
      <p:sp>
        <p:nvSpPr>
          <p:cNvPr id="58" name="SK-15-text-57"/>
          <p:cNvSpPr/>
          <p:nvPr/>
        </p:nvSpPr>
        <p:spPr>
          <a:xfrm>
            <a:off x="6429375" y="2057400"/>
            <a:ext cx="45720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RANK</a:t>
            </a:r>
            <a:endParaRPr lang="en-US" sz="1050" dirty="0"/>
          </a:p>
        </p:txBody>
      </p:sp>
      <p:sp>
        <p:nvSpPr>
          <p:cNvPr id="59" name="SK-15-text-58"/>
          <p:cNvSpPr/>
          <p:nvPr/>
        </p:nvSpPr>
        <p:spPr>
          <a:xfrm>
            <a:off x="7096125" y="2057400"/>
            <a:ext cx="3362325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BIGRAM (바이그램)</a:t>
            </a:r>
            <a:endParaRPr lang="en-US" sz="1050" dirty="0"/>
          </a:p>
        </p:txBody>
      </p:sp>
      <p:sp>
        <p:nvSpPr>
          <p:cNvPr id="60" name="SK-15-text-59"/>
          <p:cNvSpPr/>
          <p:nvPr/>
        </p:nvSpPr>
        <p:spPr>
          <a:xfrm>
            <a:off x="10668000" y="2057400"/>
            <a:ext cx="1140681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FREQUENCY</a:t>
            </a:r>
            <a:endParaRPr lang="en-US" sz="1050" dirty="0"/>
          </a:p>
        </p:txBody>
      </p:sp>
      <p:sp>
        <p:nvSpPr>
          <p:cNvPr id="61" name="SK-15-text-60"/>
          <p:cNvSpPr/>
          <p:nvPr/>
        </p:nvSpPr>
        <p:spPr>
          <a:xfrm>
            <a:off x="6429375" y="2409825"/>
            <a:ext cx="457200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25" dirty="0"/>
          </a:p>
        </p:txBody>
      </p:sp>
      <p:sp>
        <p:nvSpPr>
          <p:cNvPr id="62" name="SK-15-text-61"/>
          <p:cNvSpPr/>
          <p:nvPr/>
        </p:nvSpPr>
        <p:spPr>
          <a:xfrm>
            <a:off x="7096125" y="2409825"/>
            <a:ext cx="33623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Persian Gulf</a:t>
            </a:r>
            <a:endParaRPr lang="en-US" sz="1125" dirty="0"/>
          </a:p>
        </p:txBody>
      </p:sp>
      <p:sp>
        <p:nvSpPr>
          <p:cNvPr id="63" name="SK-15-text-62"/>
          <p:cNvSpPr/>
          <p:nvPr/>
        </p:nvSpPr>
        <p:spPr>
          <a:xfrm>
            <a:off x="10448925" y="2409825"/>
            <a:ext cx="8858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</a:rPr>
              <a:t>2,041</a:t>
            </a:r>
            <a:endParaRPr lang="en-US" sz="1125" dirty="0"/>
          </a:p>
        </p:txBody>
      </p:sp>
      <p:sp>
        <p:nvSpPr>
          <p:cNvPr id="64" name="SK-15-text-63"/>
          <p:cNvSpPr/>
          <p:nvPr/>
        </p:nvSpPr>
        <p:spPr>
          <a:xfrm>
            <a:off x="6429375" y="2771924"/>
            <a:ext cx="457200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25" dirty="0"/>
          </a:p>
        </p:txBody>
      </p:sp>
      <p:sp>
        <p:nvSpPr>
          <p:cNvPr id="65" name="SK-15-text-64"/>
          <p:cNvSpPr/>
          <p:nvPr/>
        </p:nvSpPr>
        <p:spPr>
          <a:xfrm>
            <a:off x="7096125" y="2771924"/>
            <a:ext cx="33623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 Price</a:t>
            </a:r>
            <a:endParaRPr lang="en-US" sz="1125" dirty="0"/>
          </a:p>
        </p:txBody>
      </p:sp>
      <p:sp>
        <p:nvSpPr>
          <p:cNvPr id="66" name="SK-15-text-65"/>
          <p:cNvSpPr/>
          <p:nvPr/>
        </p:nvSpPr>
        <p:spPr>
          <a:xfrm>
            <a:off x="10448925" y="2771924"/>
            <a:ext cx="8858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</a:rPr>
              <a:t>1,884</a:t>
            </a:r>
            <a:endParaRPr lang="en-US" sz="1125" dirty="0"/>
          </a:p>
        </p:txBody>
      </p:sp>
      <p:sp>
        <p:nvSpPr>
          <p:cNvPr id="67" name="SK-15-text-66"/>
          <p:cNvSpPr/>
          <p:nvPr/>
        </p:nvSpPr>
        <p:spPr>
          <a:xfrm>
            <a:off x="6429375" y="3134023"/>
            <a:ext cx="457200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25" dirty="0"/>
          </a:p>
        </p:txBody>
      </p:sp>
      <p:sp>
        <p:nvSpPr>
          <p:cNvPr id="68" name="SK-15-text-67"/>
          <p:cNvSpPr/>
          <p:nvPr/>
        </p:nvSpPr>
        <p:spPr>
          <a:xfrm>
            <a:off x="7096125" y="3134023"/>
            <a:ext cx="33623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Crude Oil</a:t>
            </a:r>
            <a:endParaRPr lang="en-US" sz="1125" dirty="0"/>
          </a:p>
        </p:txBody>
      </p:sp>
      <p:sp>
        <p:nvSpPr>
          <p:cNvPr id="69" name="SK-15-text-68"/>
          <p:cNvSpPr/>
          <p:nvPr/>
        </p:nvSpPr>
        <p:spPr>
          <a:xfrm>
            <a:off x="10448925" y="3134023"/>
            <a:ext cx="8858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</a:rPr>
              <a:t>1,353</a:t>
            </a:r>
            <a:endParaRPr lang="en-US" sz="1125" dirty="0"/>
          </a:p>
        </p:txBody>
      </p:sp>
      <p:sp>
        <p:nvSpPr>
          <p:cNvPr id="70" name="SK-15-text-69"/>
          <p:cNvSpPr/>
          <p:nvPr/>
        </p:nvSpPr>
        <p:spPr>
          <a:xfrm>
            <a:off x="6429375" y="3496121"/>
            <a:ext cx="457200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25" dirty="0"/>
          </a:p>
        </p:txBody>
      </p:sp>
      <p:sp>
        <p:nvSpPr>
          <p:cNvPr id="71" name="SK-15-text-70"/>
          <p:cNvSpPr/>
          <p:nvPr/>
        </p:nvSpPr>
        <p:spPr>
          <a:xfrm>
            <a:off x="7096125" y="3496121"/>
            <a:ext cx="33623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Natural Gas</a:t>
            </a:r>
            <a:endParaRPr lang="en-US" sz="1125" dirty="0"/>
          </a:p>
        </p:txBody>
      </p:sp>
      <p:sp>
        <p:nvSpPr>
          <p:cNvPr id="72" name="SK-15-text-71"/>
          <p:cNvSpPr/>
          <p:nvPr/>
        </p:nvSpPr>
        <p:spPr>
          <a:xfrm>
            <a:off x="10448925" y="3496121"/>
            <a:ext cx="8858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</a:rPr>
              <a:t>1,206</a:t>
            </a:r>
            <a:endParaRPr lang="en-US" sz="1125" dirty="0"/>
          </a:p>
        </p:txBody>
      </p:sp>
      <p:sp>
        <p:nvSpPr>
          <p:cNvPr id="73" name="SK-15-text-72"/>
          <p:cNvSpPr/>
          <p:nvPr/>
        </p:nvSpPr>
        <p:spPr>
          <a:xfrm>
            <a:off x="6429375" y="3858220"/>
            <a:ext cx="457200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25" dirty="0"/>
          </a:p>
        </p:txBody>
      </p:sp>
      <p:sp>
        <p:nvSpPr>
          <p:cNvPr id="74" name="SK-15-text-73"/>
          <p:cNvSpPr/>
          <p:nvPr/>
        </p:nvSpPr>
        <p:spPr>
          <a:xfrm>
            <a:off x="7096125" y="3858220"/>
            <a:ext cx="33623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Million Barrel</a:t>
            </a:r>
            <a:endParaRPr lang="en-US" sz="1125" dirty="0"/>
          </a:p>
        </p:txBody>
      </p:sp>
      <p:sp>
        <p:nvSpPr>
          <p:cNvPr id="75" name="SK-15-text-74"/>
          <p:cNvSpPr/>
          <p:nvPr/>
        </p:nvSpPr>
        <p:spPr>
          <a:xfrm>
            <a:off x="10448925" y="3858220"/>
            <a:ext cx="8858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</a:rPr>
              <a:t>1,188</a:t>
            </a:r>
            <a:endParaRPr lang="en-US" sz="1125" dirty="0"/>
          </a:p>
        </p:txBody>
      </p:sp>
      <p:sp>
        <p:nvSpPr>
          <p:cNvPr id="76" name="SK-15-text-75"/>
          <p:cNvSpPr/>
          <p:nvPr/>
        </p:nvSpPr>
        <p:spPr>
          <a:xfrm>
            <a:off x="6429375" y="4220319"/>
            <a:ext cx="457200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125" dirty="0"/>
          </a:p>
        </p:txBody>
      </p:sp>
      <p:sp>
        <p:nvSpPr>
          <p:cNvPr id="77" name="SK-15-text-76"/>
          <p:cNvSpPr/>
          <p:nvPr/>
        </p:nvSpPr>
        <p:spPr>
          <a:xfrm>
            <a:off x="7096125" y="4220319"/>
            <a:ext cx="33623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Revolutionary Guard</a:t>
            </a:r>
            <a:endParaRPr lang="en-US" sz="1125" dirty="0"/>
          </a:p>
        </p:txBody>
      </p:sp>
      <p:sp>
        <p:nvSpPr>
          <p:cNvPr id="78" name="SK-15-text-77"/>
          <p:cNvSpPr/>
          <p:nvPr/>
        </p:nvSpPr>
        <p:spPr>
          <a:xfrm>
            <a:off x="10448925" y="4220319"/>
            <a:ext cx="8858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</a:rPr>
              <a:t>1,164</a:t>
            </a:r>
            <a:endParaRPr lang="en-US" sz="1125" dirty="0"/>
          </a:p>
        </p:txBody>
      </p:sp>
      <p:sp>
        <p:nvSpPr>
          <p:cNvPr id="79" name="SK-15-text-78"/>
          <p:cNvSpPr/>
          <p:nvPr/>
        </p:nvSpPr>
        <p:spPr>
          <a:xfrm>
            <a:off x="6429375" y="4582418"/>
            <a:ext cx="457200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125" dirty="0"/>
          </a:p>
        </p:txBody>
      </p:sp>
      <p:sp>
        <p:nvSpPr>
          <p:cNvPr id="80" name="SK-15-text-79"/>
          <p:cNvSpPr/>
          <p:nvPr/>
        </p:nvSpPr>
        <p:spPr>
          <a:xfrm>
            <a:off x="7096125" y="4582418"/>
            <a:ext cx="33623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 Gas</a:t>
            </a:r>
            <a:endParaRPr lang="en-US" sz="1125" dirty="0"/>
          </a:p>
        </p:txBody>
      </p:sp>
      <p:sp>
        <p:nvSpPr>
          <p:cNvPr id="81" name="SK-15-text-80"/>
          <p:cNvSpPr/>
          <p:nvPr/>
        </p:nvSpPr>
        <p:spPr>
          <a:xfrm>
            <a:off x="10448925" y="4582418"/>
            <a:ext cx="885825" cy="3620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</a:rPr>
              <a:t>1,130</a:t>
            </a:r>
            <a:endParaRPr lang="en-US" sz="1125" dirty="0"/>
          </a:p>
        </p:txBody>
      </p:sp>
      <p:sp>
        <p:nvSpPr>
          <p:cNvPr id="82" name="SK-15-text-81"/>
          <p:cNvSpPr/>
          <p:nvPr/>
        </p:nvSpPr>
        <p:spPr>
          <a:xfrm>
            <a:off x="6429375" y="4944517"/>
            <a:ext cx="457200" cy="362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125" dirty="0"/>
          </a:p>
        </p:txBody>
      </p:sp>
      <p:sp>
        <p:nvSpPr>
          <p:cNvPr id="83" name="SK-15-text-82"/>
          <p:cNvSpPr/>
          <p:nvPr/>
        </p:nvSpPr>
        <p:spPr>
          <a:xfrm>
            <a:off x="7096125" y="4944517"/>
            <a:ext cx="3362325" cy="362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Foreign Minister</a:t>
            </a:r>
            <a:endParaRPr lang="en-US" sz="1125" dirty="0"/>
          </a:p>
        </p:txBody>
      </p:sp>
      <p:sp>
        <p:nvSpPr>
          <p:cNvPr id="84" name="SK-15-text-83"/>
          <p:cNvSpPr/>
          <p:nvPr/>
        </p:nvSpPr>
        <p:spPr>
          <a:xfrm>
            <a:off x="10448925" y="4944517"/>
            <a:ext cx="885825" cy="362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</a:rPr>
              <a:t>1,107</a:t>
            </a:r>
            <a:endParaRPr lang="en-US" sz="1125" dirty="0"/>
          </a:p>
        </p:txBody>
      </p:sp>
      <p:sp>
        <p:nvSpPr>
          <p:cNvPr id="85" name="SK-15-text-84"/>
          <p:cNvSpPr/>
          <p:nvPr/>
        </p:nvSpPr>
        <p:spPr>
          <a:xfrm>
            <a:off x="6705600" y="5583734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보도 프레임의 인과 구조 증명</a:t>
            </a:r>
            <a:endParaRPr lang="en-US" sz="1200" dirty="0"/>
          </a:p>
        </p:txBody>
      </p:sp>
      <p:sp>
        <p:nvSpPr>
          <p:cNvPr id="86" name="SK-15-text-85"/>
          <p:cNvSpPr/>
          <p:nvPr/>
        </p:nvSpPr>
        <p:spPr>
          <a:xfrm>
            <a:off x="6438900" y="5869484"/>
            <a:ext cx="5029200" cy="5598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군사 충돌(Revolutionary Guard, Attack) → 해상 물류 위기(Vessel, Blockade) → 에너지 시장 충격(Oil Price, Crude Oil)으로 이어지는 텍스트 데이터의 선형적 인과 관계 확인</a:t>
            </a:r>
            <a:endParaRPr lang="en-US" sz="1050" dirty="0"/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C377BD67-3F0F-34DD-3DD0-661FCE89C6C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2102246"/>
            <a:ext cx="5331681" cy="26670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2932658"/>
            <a:ext cx="571500" cy="19050"/>
          </a:xfrm>
          <a:prstGeom prst="rect">
            <a:avLst/>
          </a:prstGeom>
        </p:spPr>
      </p:pic>
      <p:pic>
        <p:nvPicPr>
          <p:cNvPr id="7" name="SK-1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3199358"/>
            <a:ext cx="2286000" cy="381000"/>
          </a:xfrm>
          <a:prstGeom prst="rect">
            <a:avLst/>
          </a:prstGeom>
        </p:spPr>
      </p:pic>
      <p:pic>
        <p:nvPicPr>
          <p:cNvPr id="8" name="SK-1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3302198"/>
            <a:ext cx="214313" cy="175320"/>
          </a:xfrm>
          <a:prstGeom prst="rect">
            <a:avLst/>
          </a:prstGeom>
        </p:spPr>
      </p:pic>
      <p:pic>
        <p:nvPicPr>
          <p:cNvPr id="9" name="SK-16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800" y="3199358"/>
            <a:ext cx="2286000" cy="381000"/>
          </a:xfrm>
          <a:prstGeom prst="rect">
            <a:avLst/>
          </a:prstGeom>
        </p:spPr>
      </p:pic>
      <p:pic>
        <p:nvPicPr>
          <p:cNvPr id="10" name="SK-16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2400" y="3302198"/>
            <a:ext cx="214313" cy="175320"/>
          </a:xfrm>
          <a:prstGeom prst="rect">
            <a:avLst/>
          </a:prstGeom>
        </p:spPr>
      </p:pic>
      <p:pic>
        <p:nvPicPr>
          <p:cNvPr id="11" name="SK-16-img-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199358"/>
            <a:ext cx="2286000" cy="381000"/>
          </a:xfrm>
          <a:prstGeom prst="rect">
            <a:avLst/>
          </a:prstGeom>
        </p:spPr>
      </p:pic>
      <p:pic>
        <p:nvPicPr>
          <p:cNvPr id="12" name="SK-16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302198"/>
            <a:ext cx="214313" cy="175320"/>
          </a:xfrm>
          <a:prstGeom prst="rect">
            <a:avLst/>
          </a:prstGeom>
        </p:spPr>
      </p:pic>
      <p:pic>
        <p:nvPicPr>
          <p:cNvPr id="13" name="SK-16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0600" y="3199358"/>
            <a:ext cx="2286000" cy="381000"/>
          </a:xfrm>
          <a:prstGeom prst="rect">
            <a:avLst/>
          </a:prstGeom>
        </p:spPr>
      </p:pic>
      <p:pic>
        <p:nvPicPr>
          <p:cNvPr id="14" name="SK-16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39200" y="3302198"/>
            <a:ext cx="214313" cy="175320"/>
          </a:xfrm>
          <a:prstGeom prst="rect">
            <a:avLst/>
          </a:prstGeom>
        </p:spPr>
      </p:pic>
      <p:pic>
        <p:nvPicPr>
          <p:cNvPr id="15" name="SK-16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828008"/>
            <a:ext cx="5410200" cy="1195388"/>
          </a:xfrm>
          <a:prstGeom prst="rect">
            <a:avLst/>
          </a:prstGeom>
        </p:spPr>
      </p:pic>
      <p:pic>
        <p:nvPicPr>
          <p:cNvPr id="16" name="SK-16-img-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961358"/>
            <a:ext cx="914400" cy="238125"/>
          </a:xfrm>
          <a:prstGeom prst="rect">
            <a:avLst/>
          </a:prstGeom>
        </p:spPr>
      </p:pic>
      <p:pic>
        <p:nvPicPr>
          <p:cNvPr id="17" name="SK-16-img-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3828008"/>
            <a:ext cx="5410200" cy="1195388"/>
          </a:xfrm>
          <a:prstGeom prst="rect">
            <a:avLst/>
          </a:prstGeom>
        </p:spPr>
      </p:pic>
      <p:pic>
        <p:nvPicPr>
          <p:cNvPr id="18" name="SK-16-img-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961358"/>
            <a:ext cx="914400" cy="238125"/>
          </a:xfrm>
          <a:prstGeom prst="rect">
            <a:avLst/>
          </a:prstGeom>
        </p:spPr>
      </p:pic>
      <p:pic>
        <p:nvPicPr>
          <p:cNvPr id="19" name="SK-16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166271"/>
            <a:ext cx="5410200" cy="1195388"/>
          </a:xfrm>
          <a:prstGeom prst="rect">
            <a:avLst/>
          </a:prstGeom>
        </p:spPr>
      </p:pic>
      <p:pic>
        <p:nvPicPr>
          <p:cNvPr id="20" name="SK-16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5299621"/>
            <a:ext cx="914400" cy="238125"/>
          </a:xfrm>
          <a:prstGeom prst="rect">
            <a:avLst/>
          </a:prstGeom>
        </p:spPr>
      </p:pic>
      <p:pic>
        <p:nvPicPr>
          <p:cNvPr id="21" name="SK-16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5166271"/>
            <a:ext cx="5410200" cy="1195388"/>
          </a:xfrm>
          <a:prstGeom prst="rect">
            <a:avLst/>
          </a:prstGeom>
        </p:spPr>
      </p:pic>
      <p:pic>
        <p:nvPicPr>
          <p:cNvPr id="22" name="SK-16-img-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5299621"/>
            <a:ext cx="914400" cy="238125"/>
          </a:xfrm>
          <a:prstGeom prst="rect">
            <a:avLst/>
          </a:prstGeom>
        </p:spPr>
      </p:pic>
      <p:sp>
        <p:nvSpPr>
          <p:cNvPr id="23" name="SK-16-text-22"/>
          <p:cNvSpPr/>
          <p:nvPr/>
        </p:nvSpPr>
        <p:spPr>
          <a:xfrm>
            <a:off x="723900" y="381000"/>
            <a:ext cx="41757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 종합 결론</a:t>
            </a:r>
            <a:endParaRPr lang="en-US" sz="2400" dirty="0"/>
          </a:p>
        </p:txBody>
      </p:sp>
      <p:sp>
        <p:nvSpPr>
          <p:cNvPr id="24" name="SK-16-text-23"/>
          <p:cNvSpPr/>
          <p:nvPr/>
        </p:nvSpPr>
        <p:spPr>
          <a:xfrm>
            <a:off x="723900" y="914400"/>
            <a:ext cx="113328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분석 기법에서 도출된 공통적인 인과 구조와 4대 의제 축으로의 수렴 현상을 최종 정리합니다.</a:t>
            </a:r>
            <a:endParaRPr lang="en-US" sz="1350" dirty="0"/>
          </a:p>
        </p:txBody>
      </p:sp>
      <p:sp>
        <p:nvSpPr>
          <p:cNvPr id="25" name="SK-16-text-24"/>
          <p:cNvSpPr/>
          <p:nvPr/>
        </p:nvSpPr>
        <p:spPr>
          <a:xfrm>
            <a:off x="1333500" y="1667917"/>
            <a:ext cx="9525000" cy="11885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미-이란 전쟁 2026은 단순한 군사 충돌을 넘어,</a:t>
            </a:r>
            <a:endParaRPr lang="en-US" sz="2400" dirty="0"/>
          </a:p>
          <a:p>
            <a:pPr marL="0" indent="0" algn="ctr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에너지 공급망과 국제 외교 질서의 거대한 재편 </a:t>
            </a:r>
            <a:r>
              <a:rPr lang="en-US" sz="2400" b="1" dirty="0" err="1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과정</a:t>
            </a:r>
            <a:r>
              <a:rPr lang="en-US" sz="2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lnSpc>
                <a:spcPts val="3120"/>
              </a:lnSpc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구글 뉴스</a:t>
            </a:r>
            <a:r>
              <a:rPr lang="en-US" altLang="ko-KR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</a:t>
            </a:r>
            <a:r>
              <a:rPr lang="en-US" altLang="ko-KR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국외 </a:t>
            </a:r>
            <a:r>
              <a:rPr lang="en-US" sz="2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언론</a:t>
            </a: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</a:t>
            </a: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투영됨</a:t>
            </a:r>
            <a:endParaRPr lang="en-US" sz="2400" dirty="0"/>
          </a:p>
        </p:txBody>
      </p:sp>
      <p:sp>
        <p:nvSpPr>
          <p:cNvPr id="26" name="SK-16-text-25"/>
          <p:cNvSpPr/>
          <p:nvPr/>
        </p:nvSpPr>
        <p:spPr>
          <a:xfrm>
            <a:off x="1833563" y="3275558"/>
            <a:ext cx="190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해상 교전 및 물류</a:t>
            </a:r>
            <a:endParaRPr lang="en-US" sz="1200" dirty="0"/>
          </a:p>
        </p:txBody>
      </p:sp>
      <p:sp>
        <p:nvSpPr>
          <p:cNvPr id="27" name="SK-16-text-26"/>
          <p:cNvSpPr/>
          <p:nvPr/>
        </p:nvSpPr>
        <p:spPr>
          <a:xfrm>
            <a:off x="4271963" y="3275558"/>
            <a:ext cx="1722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 시장 충격</a:t>
            </a:r>
            <a:endParaRPr lang="en-US" sz="1200" dirty="0"/>
          </a:p>
        </p:txBody>
      </p:sp>
      <p:sp>
        <p:nvSpPr>
          <p:cNvPr id="28" name="SK-16-text-27"/>
          <p:cNvSpPr/>
          <p:nvPr/>
        </p:nvSpPr>
        <p:spPr>
          <a:xfrm>
            <a:off x="6710363" y="3275558"/>
            <a:ext cx="190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국제 안보 및 외교</a:t>
            </a:r>
            <a:endParaRPr lang="en-US" sz="1200" dirty="0"/>
          </a:p>
        </p:txBody>
      </p:sp>
      <p:sp>
        <p:nvSpPr>
          <p:cNvPr id="29" name="SK-16-text-28"/>
          <p:cNvSpPr/>
          <p:nvPr/>
        </p:nvSpPr>
        <p:spPr>
          <a:xfrm>
            <a:off x="9148763" y="3275558"/>
            <a:ext cx="1539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이란 체제 압박</a:t>
            </a:r>
            <a:endParaRPr lang="en-US" sz="1200" dirty="0"/>
          </a:p>
        </p:txBody>
      </p:sp>
      <p:sp>
        <p:nvSpPr>
          <p:cNvPr id="30" name="SK-16-text-29"/>
          <p:cNvSpPr/>
          <p:nvPr/>
        </p:nvSpPr>
        <p:spPr>
          <a:xfrm>
            <a:off x="838200" y="3961358"/>
            <a:ext cx="15875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FINDING 01</a:t>
            </a:r>
            <a:endParaRPr lang="en-US" sz="1050" dirty="0"/>
          </a:p>
        </p:txBody>
      </p:sp>
      <p:sp>
        <p:nvSpPr>
          <p:cNvPr id="31" name="SK-16-text-30"/>
          <p:cNvSpPr/>
          <p:nvPr/>
        </p:nvSpPr>
        <p:spPr>
          <a:xfrm>
            <a:off x="1752600" y="3951833"/>
            <a:ext cx="33775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인과적 연쇄 구조 규명</a:t>
            </a:r>
            <a:endParaRPr lang="en-US" sz="1350" dirty="0"/>
          </a:p>
        </p:txBody>
      </p:sp>
      <p:sp>
        <p:nvSpPr>
          <p:cNvPr id="32" name="SK-16-text-31"/>
          <p:cNvSpPr/>
          <p:nvPr/>
        </p:nvSpPr>
        <p:spPr>
          <a:xfrm>
            <a:off x="762000" y="4256633"/>
            <a:ext cx="50292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강경 대이란 노선이 </a:t>
            </a: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에픽 퓨리 작전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격발하고, IRGC의 호르무즈 봉쇄를 거쳐 글로벌 에너지 시장 마비로 이어지는 인과 구조가 모든 분석 기법에서 동일하게 도출됨.</a:t>
            </a:r>
            <a:endParaRPr lang="en-US" sz="1125" dirty="0"/>
          </a:p>
        </p:txBody>
      </p:sp>
      <p:sp>
        <p:nvSpPr>
          <p:cNvPr id="33" name="SK-16-text-32"/>
          <p:cNvSpPr/>
          <p:nvPr/>
        </p:nvSpPr>
        <p:spPr>
          <a:xfrm>
            <a:off x="6477000" y="3961358"/>
            <a:ext cx="15875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FINDING 02</a:t>
            </a:r>
            <a:endParaRPr lang="en-US" sz="1050" dirty="0"/>
          </a:p>
        </p:txBody>
      </p:sp>
      <p:sp>
        <p:nvSpPr>
          <p:cNvPr id="34" name="SK-16-text-33"/>
          <p:cNvSpPr/>
          <p:nvPr/>
        </p:nvSpPr>
        <p:spPr>
          <a:xfrm>
            <a:off x="7391400" y="3951833"/>
            <a:ext cx="378904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불확실성 지속에 따른 보도량 고지</a:t>
            </a:r>
            <a:endParaRPr lang="en-US" sz="1350" dirty="0"/>
          </a:p>
        </p:txBody>
      </p:sp>
      <p:sp>
        <p:nvSpPr>
          <p:cNvPr id="35" name="SK-16-text-34"/>
          <p:cNvSpPr/>
          <p:nvPr/>
        </p:nvSpPr>
        <p:spPr>
          <a:xfrm>
            <a:off x="6400800" y="4256633"/>
            <a:ext cx="50292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충격 사건보다 </a:t>
            </a: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협상-결렬-교전이 반복되는 예측 불가능한 상황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보도량이 높은 수준을 유지하며, 언론은 사건의 강도보다 지속되는 불안정성에 더 민감하게 반응함.</a:t>
            </a:r>
            <a:endParaRPr lang="en-US" sz="1125" dirty="0"/>
          </a:p>
        </p:txBody>
      </p:sp>
      <p:sp>
        <p:nvSpPr>
          <p:cNvPr id="36" name="SK-16-text-35"/>
          <p:cNvSpPr/>
          <p:nvPr/>
        </p:nvSpPr>
        <p:spPr>
          <a:xfrm>
            <a:off x="838200" y="5299621"/>
            <a:ext cx="15875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FINDING 03</a:t>
            </a:r>
            <a:endParaRPr lang="en-US" sz="1050" dirty="0"/>
          </a:p>
        </p:txBody>
      </p:sp>
      <p:sp>
        <p:nvSpPr>
          <p:cNvPr id="37" name="SK-16-text-36"/>
          <p:cNvSpPr/>
          <p:nvPr/>
        </p:nvSpPr>
        <p:spPr>
          <a:xfrm>
            <a:off x="1752600" y="5290096"/>
            <a:ext cx="35147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핵심 의제 축으로의 수렴</a:t>
            </a:r>
            <a:endParaRPr lang="en-US" sz="1350" dirty="0"/>
          </a:p>
        </p:txBody>
      </p:sp>
      <p:sp>
        <p:nvSpPr>
          <p:cNvPr id="38" name="SK-16-text-37"/>
          <p:cNvSpPr/>
          <p:nvPr/>
        </p:nvSpPr>
        <p:spPr>
          <a:xfrm>
            <a:off x="762000" y="5594896"/>
            <a:ext cx="50292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 분석(K-Means), 토픽 모델링(LDA), 네트워크 분석 결과가 모두 </a:t>
            </a: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해상·에너지·안보·체제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라는 4대 축으로 수렴하며, 데이터 간의 높은 내적 정합성과 분석의 타당성을 입증함.</a:t>
            </a:r>
            <a:endParaRPr lang="en-US" sz="1125" dirty="0"/>
          </a:p>
        </p:txBody>
      </p:sp>
      <p:sp>
        <p:nvSpPr>
          <p:cNvPr id="39" name="SK-16-text-38"/>
          <p:cNvSpPr/>
          <p:nvPr/>
        </p:nvSpPr>
        <p:spPr>
          <a:xfrm>
            <a:off x="6477000" y="5299621"/>
            <a:ext cx="15875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FINDING 04</a:t>
            </a:r>
            <a:endParaRPr lang="en-US" sz="1050" dirty="0"/>
          </a:p>
        </p:txBody>
      </p:sp>
      <p:sp>
        <p:nvSpPr>
          <p:cNvPr id="40" name="SK-16-text-39"/>
          <p:cNvSpPr/>
          <p:nvPr/>
        </p:nvSpPr>
        <p:spPr>
          <a:xfrm>
            <a:off x="7391400" y="5290096"/>
            <a:ext cx="337756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알고리즘의 유효성</a:t>
            </a:r>
            <a:endParaRPr lang="en-US" sz="1350" dirty="0"/>
          </a:p>
        </p:txBody>
      </p:sp>
      <p:sp>
        <p:nvSpPr>
          <p:cNvPr id="41" name="SK-16-text-40"/>
          <p:cNvSpPr/>
          <p:nvPr/>
        </p:nvSpPr>
        <p:spPr>
          <a:xfrm>
            <a:off x="6400800" y="5594896"/>
            <a:ext cx="5029200" cy="6429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시간 분할 알고리즘을 통해 </a:t>
            </a: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수집량을 268% 증가</a:t>
            </a: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시킴으로써, 통계적 유의미함을 확보하고 미세한 의제 변화까지 포착 가능한 고품질 분석 데이터셋을 구축함.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43075"/>
            <a:ext cx="4419600" cy="4733925"/>
          </a:xfrm>
          <a:prstGeom prst="rect">
            <a:avLst/>
          </a:prstGeom>
        </p:spPr>
      </p:pic>
      <p:pic>
        <p:nvPicPr>
          <p:cNvPr id="7" name="SK-1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377607"/>
            <a:ext cx="1828800" cy="352425"/>
          </a:xfrm>
          <a:prstGeom prst="rect">
            <a:avLst/>
          </a:prstGeom>
        </p:spPr>
      </p:pic>
      <p:pic>
        <p:nvPicPr>
          <p:cNvPr id="8" name="SK-1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4600" y="5377607"/>
            <a:ext cx="1600200" cy="352425"/>
          </a:xfrm>
          <a:prstGeom prst="rect">
            <a:avLst/>
          </a:prstGeom>
        </p:spPr>
      </p:pic>
      <p:pic>
        <p:nvPicPr>
          <p:cNvPr id="9" name="SK-1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844332"/>
            <a:ext cx="1524000" cy="352425"/>
          </a:xfrm>
          <a:prstGeom prst="rect">
            <a:avLst/>
          </a:prstGeom>
        </p:spPr>
      </p:pic>
      <p:pic>
        <p:nvPicPr>
          <p:cNvPr id="10" name="SK-1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2600" y="1743075"/>
            <a:ext cx="6057900" cy="1450925"/>
          </a:xfrm>
          <a:prstGeom prst="rect">
            <a:avLst/>
          </a:prstGeom>
        </p:spPr>
      </p:pic>
      <p:pic>
        <p:nvPicPr>
          <p:cNvPr id="11" name="SK-1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6900" y="2163663"/>
            <a:ext cx="609600" cy="609600"/>
          </a:xfrm>
          <a:prstGeom prst="rect">
            <a:avLst/>
          </a:prstGeom>
        </p:spPr>
      </p:pic>
      <p:pic>
        <p:nvPicPr>
          <p:cNvPr id="12" name="SK-1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5013" y="2335113"/>
            <a:ext cx="333375" cy="266700"/>
          </a:xfrm>
          <a:prstGeom prst="rect">
            <a:avLst/>
          </a:prstGeom>
        </p:spPr>
      </p:pic>
      <p:pic>
        <p:nvPicPr>
          <p:cNvPr id="13" name="SK-1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2600" y="3384500"/>
            <a:ext cx="6057900" cy="1450925"/>
          </a:xfrm>
          <a:prstGeom prst="rect">
            <a:avLst/>
          </a:prstGeom>
        </p:spPr>
      </p:pic>
      <p:pic>
        <p:nvPicPr>
          <p:cNvPr id="14" name="SK-17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6900" y="3805089"/>
            <a:ext cx="609600" cy="609600"/>
          </a:xfrm>
          <a:prstGeom prst="rect">
            <a:avLst/>
          </a:prstGeom>
        </p:spPr>
      </p:pic>
      <p:pic>
        <p:nvPicPr>
          <p:cNvPr id="15" name="SK-17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5013" y="3976539"/>
            <a:ext cx="333375" cy="266700"/>
          </a:xfrm>
          <a:prstGeom prst="rect">
            <a:avLst/>
          </a:prstGeom>
        </p:spPr>
      </p:pic>
      <p:pic>
        <p:nvPicPr>
          <p:cNvPr id="16" name="SK-17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62600" y="5025926"/>
            <a:ext cx="6057900" cy="1450925"/>
          </a:xfrm>
          <a:prstGeom prst="rect">
            <a:avLst/>
          </a:prstGeom>
        </p:spPr>
      </p:pic>
      <p:pic>
        <p:nvPicPr>
          <p:cNvPr id="17" name="SK-17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76900" y="5446514"/>
            <a:ext cx="609600" cy="609600"/>
          </a:xfrm>
          <a:prstGeom prst="rect">
            <a:avLst/>
          </a:prstGeom>
        </p:spPr>
      </p:pic>
      <p:pic>
        <p:nvPicPr>
          <p:cNvPr id="18" name="SK-17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15013" y="5617964"/>
            <a:ext cx="333375" cy="266700"/>
          </a:xfrm>
          <a:prstGeom prst="rect">
            <a:avLst/>
          </a:prstGeom>
        </p:spPr>
      </p:pic>
      <p:sp>
        <p:nvSpPr>
          <p:cNvPr id="19" name="SK-17-text-18"/>
          <p:cNvSpPr/>
          <p:nvPr/>
        </p:nvSpPr>
        <p:spPr>
          <a:xfrm>
            <a:off x="723900" y="381000"/>
            <a:ext cx="78333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결과의 정책 및 산업적 활용 방안</a:t>
            </a:r>
            <a:endParaRPr lang="en-US" sz="2400" dirty="0"/>
          </a:p>
        </p:txBody>
      </p:sp>
      <p:sp>
        <p:nvSpPr>
          <p:cNvPr id="20" name="SK-17-text-19"/>
          <p:cNvSpPr/>
          <p:nvPr/>
        </p:nvSpPr>
        <p:spPr>
          <a:xfrm>
            <a:off x="723900" y="914400"/>
            <a:ext cx="11468100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외교 안보 조기경보 시스템 구축, 에너지 물류 리스크 관리 및 금융 투자 모델 활용 등 정책적 제언을 제시합니다.</a:t>
            </a:r>
            <a:endParaRPr lang="en-US" sz="1350" dirty="0"/>
          </a:p>
        </p:txBody>
      </p:sp>
      <p:sp>
        <p:nvSpPr>
          <p:cNvPr id="21" name="SK-17-text-20"/>
          <p:cNvSpPr/>
          <p:nvPr/>
        </p:nvSpPr>
        <p:spPr>
          <a:xfrm>
            <a:off x="571500" y="2023170"/>
            <a:ext cx="41148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kern="0" spc="168" dirty="0">
                <a:solidFill>
                  <a:srgbClr val="00E5FF"/>
                </a:solidFill>
              </a:rPr>
              <a:t>STRATEGIC VISION</a:t>
            </a:r>
            <a:endParaRPr lang="en-US" sz="1050" dirty="0"/>
          </a:p>
        </p:txBody>
      </p:sp>
      <p:sp>
        <p:nvSpPr>
          <p:cNvPr id="22" name="SK-17-text-21"/>
          <p:cNvSpPr/>
          <p:nvPr/>
        </p:nvSpPr>
        <p:spPr>
          <a:xfrm>
            <a:off x="571500" y="2375595"/>
            <a:ext cx="4038600" cy="16457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기반의</a:t>
            </a:r>
            <a:endParaRPr lang="en-US" sz="3600" dirty="0"/>
          </a:p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리스크</a:t>
            </a:r>
            <a:endParaRPr lang="en-US" sz="3600" dirty="0"/>
          </a:p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체계 확립</a:t>
            </a:r>
            <a:endParaRPr lang="en-US" sz="3600" dirty="0"/>
          </a:p>
        </p:txBody>
      </p:sp>
      <p:sp>
        <p:nvSpPr>
          <p:cNvPr id="23" name="SK-17-text-22"/>
          <p:cNvSpPr/>
          <p:nvPr/>
        </p:nvSpPr>
        <p:spPr>
          <a:xfrm>
            <a:off x="571500" y="4249936"/>
            <a:ext cx="4038600" cy="8228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언론의 방대한 텍스트 데이터를 통해</a:t>
            </a:r>
            <a:endParaRPr lang="en-US" sz="1350" dirty="0"/>
          </a:p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지정학적 위기의 전이 경로를 선제적으로 파악하고,</a:t>
            </a:r>
            <a:endParaRPr lang="en-US" sz="1350" dirty="0"/>
          </a:p>
          <a:p>
            <a:pPr marL="0" indent="0">
              <a:lnSpc>
                <a:spcPts val="2160"/>
              </a:lnSpc>
              <a:buNone/>
            </a:pPr>
            <a:r>
              <a:rPr lang="en-US" sz="135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근거에 기반한 의사결정 모델을 구축합니다.</a:t>
            </a:r>
            <a:endParaRPr lang="en-US" sz="1350" dirty="0"/>
          </a:p>
        </p:txBody>
      </p:sp>
      <p:sp>
        <p:nvSpPr>
          <p:cNvPr id="24" name="SK-17-text-23"/>
          <p:cNvSpPr/>
          <p:nvPr/>
        </p:nvSpPr>
        <p:spPr>
          <a:xfrm>
            <a:off x="723900" y="5377607"/>
            <a:ext cx="283210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#REALTIME_MONITORING</a:t>
            </a:r>
            <a:endParaRPr lang="en-US" sz="1050" dirty="0"/>
          </a:p>
        </p:txBody>
      </p:sp>
      <p:sp>
        <p:nvSpPr>
          <p:cNvPr id="25" name="SK-17-text-24"/>
          <p:cNvSpPr/>
          <p:nvPr/>
        </p:nvSpPr>
        <p:spPr>
          <a:xfrm>
            <a:off x="2667000" y="5377607"/>
            <a:ext cx="236474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#NLP_INTELLIGENCE</a:t>
            </a:r>
            <a:endParaRPr lang="en-US" sz="1050" dirty="0"/>
          </a:p>
        </p:txBody>
      </p:sp>
      <p:sp>
        <p:nvSpPr>
          <p:cNvPr id="26" name="SK-17-text-25"/>
          <p:cNvSpPr/>
          <p:nvPr/>
        </p:nvSpPr>
        <p:spPr>
          <a:xfrm>
            <a:off x="723900" y="5844332"/>
            <a:ext cx="2209800" cy="352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E5FF"/>
                </a:solidFill>
              </a:rPr>
              <a:t>#RISK_MITIGATION</a:t>
            </a:r>
            <a:endParaRPr lang="en-US" sz="1050" dirty="0"/>
          </a:p>
        </p:txBody>
      </p:sp>
      <p:sp>
        <p:nvSpPr>
          <p:cNvPr id="27" name="SK-17-text-26"/>
          <p:cNvSpPr/>
          <p:nvPr/>
        </p:nvSpPr>
        <p:spPr>
          <a:xfrm>
            <a:off x="6515100" y="2044601"/>
            <a:ext cx="46482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외교 및 국가 안보 정책 지원</a:t>
            </a:r>
            <a:endParaRPr lang="en-US" sz="1500" dirty="0"/>
          </a:p>
        </p:txBody>
      </p:sp>
      <p:sp>
        <p:nvSpPr>
          <p:cNvPr id="28" name="SK-17-text-27"/>
          <p:cNvSpPr/>
          <p:nvPr/>
        </p:nvSpPr>
        <p:spPr>
          <a:xfrm>
            <a:off x="6686550" y="2425601"/>
            <a:ext cx="5505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언론 보도량 급증을 활용한 외교 조기경보 지표 수립</a:t>
            </a:r>
            <a:endParaRPr lang="en-US" sz="1125" dirty="0"/>
          </a:p>
        </p:txBody>
      </p:sp>
      <p:sp>
        <p:nvSpPr>
          <p:cNvPr id="29" name="SK-17-text-28"/>
          <p:cNvSpPr/>
          <p:nvPr/>
        </p:nvSpPr>
        <p:spPr>
          <a:xfrm>
            <a:off x="6686550" y="2658963"/>
            <a:ext cx="5505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 기반 의제 분석 데이터를 외교부·안보 부처 의사결정 지원에 통합</a:t>
            </a:r>
            <a:endParaRPr lang="en-US" sz="1125" dirty="0"/>
          </a:p>
        </p:txBody>
      </p:sp>
      <p:sp>
        <p:nvSpPr>
          <p:cNvPr id="30" name="SK-17-text-29"/>
          <p:cNvSpPr/>
          <p:nvPr/>
        </p:nvSpPr>
        <p:spPr>
          <a:xfrm>
            <a:off x="6515100" y="3686026"/>
            <a:ext cx="41148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 물류 산업 리스크 관리</a:t>
            </a:r>
            <a:endParaRPr lang="en-US" sz="1500" dirty="0"/>
          </a:p>
        </p:txBody>
      </p:sp>
      <p:sp>
        <p:nvSpPr>
          <p:cNvPr id="31" name="SK-17-text-30"/>
          <p:cNvSpPr/>
          <p:nvPr/>
        </p:nvSpPr>
        <p:spPr>
          <a:xfrm>
            <a:off x="6686550" y="4067026"/>
            <a:ext cx="5505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급변 시 선제적 재고 확보 및 물류 우회 경로 자동 탐색</a:t>
            </a:r>
            <a:endParaRPr lang="en-US" sz="1125" dirty="0"/>
          </a:p>
        </p:txBody>
      </p:sp>
      <p:sp>
        <p:nvSpPr>
          <p:cNvPr id="32" name="SK-17-text-31"/>
          <p:cNvSpPr/>
          <p:nvPr/>
        </p:nvSpPr>
        <p:spPr>
          <a:xfrm>
            <a:off x="6686550" y="4300389"/>
            <a:ext cx="5505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해운·보험 리스크 산정 모델에 뉴스 텍스트 마이닝 지수 반영</a:t>
            </a:r>
            <a:endParaRPr lang="en-US" sz="1125" dirty="0"/>
          </a:p>
        </p:txBody>
      </p:sp>
      <p:sp>
        <p:nvSpPr>
          <p:cNvPr id="33" name="SK-17-text-32"/>
          <p:cNvSpPr/>
          <p:nvPr/>
        </p:nvSpPr>
        <p:spPr>
          <a:xfrm>
            <a:off x="6515100" y="5327452"/>
            <a:ext cx="4467225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 투자 및 학술 고도화</a:t>
            </a:r>
            <a:endParaRPr lang="en-US" sz="1500" dirty="0"/>
          </a:p>
        </p:txBody>
      </p:sp>
      <p:sp>
        <p:nvSpPr>
          <p:cNvPr id="34" name="SK-17-text-33"/>
          <p:cNvSpPr/>
          <p:nvPr/>
        </p:nvSpPr>
        <p:spPr>
          <a:xfrm>
            <a:off x="6686550" y="5708452"/>
            <a:ext cx="5505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 선물 가격 변동 예측 모델에 언론 의제 변화 지표 결합</a:t>
            </a:r>
            <a:endParaRPr lang="en-US" sz="1125" dirty="0"/>
          </a:p>
        </p:txBody>
      </p:sp>
      <p:sp>
        <p:nvSpPr>
          <p:cNvPr id="35" name="SK-17-text-34"/>
          <p:cNvSpPr/>
          <p:nvPr/>
        </p:nvSpPr>
        <p:spPr>
          <a:xfrm>
            <a:off x="6686550" y="5941814"/>
            <a:ext cx="55054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다국어 뉴스 분석 파이프라인 표준화를 통한 중동 지정학 연구 확대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8-img-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8-img-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362075"/>
          </a:xfrm>
          <a:prstGeom prst="rect">
            <a:avLst/>
          </a:prstGeom>
        </p:spPr>
      </p:pic>
      <p:pic>
        <p:nvPicPr>
          <p:cNvPr id="5" name="SK-18-img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7200"/>
            <a:ext cx="38100" cy="304800"/>
          </a:xfrm>
          <a:prstGeom prst="rect">
            <a:avLst/>
          </a:prstGeom>
        </p:spPr>
      </p:pic>
      <p:pic>
        <p:nvPicPr>
          <p:cNvPr id="6" name="SK-18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19400"/>
            <a:ext cx="6126510" cy="790575"/>
          </a:xfrm>
          <a:prstGeom prst="rect">
            <a:avLst/>
          </a:prstGeom>
        </p:spPr>
      </p:pic>
      <p:pic>
        <p:nvPicPr>
          <p:cNvPr id="7" name="SK-18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878931"/>
            <a:ext cx="819150" cy="195263"/>
          </a:xfrm>
          <a:prstGeom prst="rect">
            <a:avLst/>
          </a:prstGeom>
        </p:spPr>
      </p:pic>
      <p:pic>
        <p:nvPicPr>
          <p:cNvPr id="8" name="SK-18-img-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95700"/>
            <a:ext cx="6126510" cy="790575"/>
          </a:xfrm>
          <a:prstGeom prst="rect">
            <a:avLst/>
          </a:prstGeom>
        </p:spPr>
      </p:pic>
      <p:pic>
        <p:nvPicPr>
          <p:cNvPr id="9" name="SK-18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755231"/>
            <a:ext cx="685800" cy="195263"/>
          </a:xfrm>
          <a:prstGeom prst="rect">
            <a:avLst/>
          </a:prstGeom>
        </p:spPr>
      </p:pic>
      <p:pic>
        <p:nvPicPr>
          <p:cNvPr id="10" name="SK-18-img-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72000"/>
            <a:ext cx="6126510" cy="790575"/>
          </a:xfrm>
          <a:prstGeom prst="rect">
            <a:avLst/>
          </a:prstGeom>
        </p:spPr>
      </p:pic>
      <p:pic>
        <p:nvPicPr>
          <p:cNvPr id="11" name="SK-18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631531"/>
            <a:ext cx="485775" cy="195263"/>
          </a:xfrm>
          <a:prstGeom prst="rect">
            <a:avLst/>
          </a:prstGeom>
        </p:spPr>
      </p:pic>
      <p:pic>
        <p:nvPicPr>
          <p:cNvPr id="12" name="SK-18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9010" y="1466850"/>
            <a:ext cx="4541490" cy="5248275"/>
          </a:xfrm>
          <a:prstGeom prst="rect">
            <a:avLst/>
          </a:prstGeom>
        </p:spPr>
      </p:pic>
      <p:pic>
        <p:nvPicPr>
          <p:cNvPr id="13" name="SK-18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7610" y="1593503"/>
            <a:ext cx="214313" cy="175320"/>
          </a:xfrm>
          <a:prstGeom prst="rect">
            <a:avLst/>
          </a:prstGeom>
        </p:spPr>
      </p:pic>
      <p:pic>
        <p:nvPicPr>
          <p:cNvPr id="14" name="SK-18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07610" y="1914525"/>
            <a:ext cx="4084290" cy="987623"/>
          </a:xfrm>
          <a:prstGeom prst="rect">
            <a:avLst/>
          </a:prstGeom>
        </p:spPr>
      </p:pic>
      <p:pic>
        <p:nvPicPr>
          <p:cNvPr id="15" name="SK-18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60010" y="2664023"/>
            <a:ext cx="342900" cy="180975"/>
          </a:xfrm>
          <a:prstGeom prst="rect">
            <a:avLst/>
          </a:prstGeom>
        </p:spPr>
      </p:pic>
      <p:pic>
        <p:nvPicPr>
          <p:cNvPr id="16" name="SK-18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60060" y="2664023"/>
            <a:ext cx="400050" cy="180975"/>
          </a:xfrm>
          <a:prstGeom prst="rect">
            <a:avLst/>
          </a:prstGeom>
        </p:spPr>
      </p:pic>
      <p:pic>
        <p:nvPicPr>
          <p:cNvPr id="17" name="SK-18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07610" y="2978348"/>
            <a:ext cx="4084290" cy="987623"/>
          </a:xfrm>
          <a:prstGeom prst="rect">
            <a:avLst/>
          </a:prstGeom>
        </p:spPr>
      </p:pic>
      <p:pic>
        <p:nvPicPr>
          <p:cNvPr id="18" name="SK-18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60010" y="3727847"/>
            <a:ext cx="571500" cy="180975"/>
          </a:xfrm>
          <a:prstGeom prst="rect">
            <a:avLst/>
          </a:prstGeom>
        </p:spPr>
      </p:pic>
      <p:pic>
        <p:nvPicPr>
          <p:cNvPr id="19" name="SK-18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88660" y="3727847"/>
            <a:ext cx="742950" cy="180975"/>
          </a:xfrm>
          <a:prstGeom prst="rect">
            <a:avLst/>
          </a:prstGeom>
        </p:spPr>
      </p:pic>
      <p:pic>
        <p:nvPicPr>
          <p:cNvPr id="20" name="SK-18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07610" y="4042172"/>
            <a:ext cx="4084290" cy="987623"/>
          </a:xfrm>
          <a:prstGeom prst="rect">
            <a:avLst/>
          </a:prstGeom>
        </p:spPr>
      </p:pic>
      <p:pic>
        <p:nvPicPr>
          <p:cNvPr id="21" name="SK-18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0010" y="4791670"/>
            <a:ext cx="285750" cy="180975"/>
          </a:xfrm>
          <a:prstGeom prst="rect">
            <a:avLst/>
          </a:prstGeom>
        </p:spPr>
      </p:pic>
      <p:pic>
        <p:nvPicPr>
          <p:cNvPr id="22" name="SK-18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02910" y="4791670"/>
            <a:ext cx="857250" cy="180975"/>
          </a:xfrm>
          <a:prstGeom prst="rect">
            <a:avLst/>
          </a:prstGeom>
        </p:spPr>
      </p:pic>
      <p:pic>
        <p:nvPicPr>
          <p:cNvPr id="23" name="SK-18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07610" y="5105995"/>
            <a:ext cx="4084290" cy="932259"/>
          </a:xfrm>
          <a:prstGeom prst="rect">
            <a:avLst/>
          </a:prstGeom>
        </p:spPr>
      </p:pic>
      <p:sp>
        <p:nvSpPr>
          <p:cNvPr id="24" name="SK-18-text-23"/>
          <p:cNvSpPr/>
          <p:nvPr/>
        </p:nvSpPr>
        <p:spPr>
          <a:xfrm>
            <a:off x="723900" y="381000"/>
            <a:ext cx="67360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b="1" kern="0" spc="-38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한계점 및 향후 보완 방향</a:t>
            </a:r>
            <a:endParaRPr lang="en-US" sz="2400" dirty="0"/>
          </a:p>
        </p:txBody>
      </p:sp>
      <p:sp>
        <p:nvSpPr>
          <p:cNvPr id="25" name="SK-18-text-24"/>
          <p:cNvSpPr/>
          <p:nvPr/>
        </p:nvSpPr>
        <p:spPr>
          <a:xfrm>
            <a:off x="723900" y="914400"/>
            <a:ext cx="1098232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E5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수집의 제약 사항 공유 및 분석 고도화를 위한 차세대 방법론 제언</a:t>
            </a:r>
            <a:endParaRPr lang="en-US" sz="1350" dirty="0"/>
          </a:p>
        </p:txBody>
      </p:sp>
      <p:sp>
        <p:nvSpPr>
          <p:cNvPr id="26" name="SK-18-text-25"/>
          <p:cNvSpPr/>
          <p:nvPr/>
        </p:nvSpPr>
        <p:spPr>
          <a:xfrm>
            <a:off x="838200" y="2878931"/>
            <a:ext cx="1099584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FF3B3B"/>
                </a:solidFill>
              </a:rPr>
              <a:t>COLLECTION</a:t>
            </a:r>
            <a:endParaRPr lang="en-US" sz="825" dirty="0"/>
          </a:p>
        </p:txBody>
      </p:sp>
      <p:sp>
        <p:nvSpPr>
          <p:cNvPr id="27" name="SK-18-text-26"/>
          <p:cNvSpPr/>
          <p:nvPr/>
        </p:nvSpPr>
        <p:spPr>
          <a:xfrm>
            <a:off x="1676400" y="2819400"/>
            <a:ext cx="362521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수집의 기술적 제약</a:t>
            </a:r>
            <a:endParaRPr lang="en-US" sz="1650" dirty="0"/>
          </a:p>
        </p:txBody>
      </p:sp>
      <p:sp>
        <p:nvSpPr>
          <p:cNvPr id="28" name="SK-18-text-27"/>
          <p:cNvSpPr/>
          <p:nvPr/>
        </p:nvSpPr>
        <p:spPr>
          <a:xfrm>
            <a:off x="762000" y="3162300"/>
            <a:ext cx="81343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 구독 장벽(Paywall)으로 인한 주요 언론사(NYT, WSJ 등) 본문 누락</a:t>
            </a:r>
            <a:endParaRPr lang="en-US" sz="1125" dirty="0"/>
          </a:p>
        </p:txBody>
      </p:sp>
      <p:sp>
        <p:nvSpPr>
          <p:cNvPr id="29" name="SK-18-text-28"/>
          <p:cNvSpPr/>
          <p:nvPr/>
        </p:nvSpPr>
        <p:spPr>
          <a:xfrm>
            <a:off x="762000" y="3395663"/>
            <a:ext cx="6934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구글 RSS 시간 필터링의 날짜 기반 작동으로 인한 세부 구간 분리 제약</a:t>
            </a:r>
            <a:endParaRPr lang="en-US" sz="1125" dirty="0"/>
          </a:p>
        </p:txBody>
      </p:sp>
      <p:sp>
        <p:nvSpPr>
          <p:cNvPr id="30" name="SK-18-text-29"/>
          <p:cNvSpPr/>
          <p:nvPr/>
        </p:nvSpPr>
        <p:spPr>
          <a:xfrm>
            <a:off x="838200" y="3755231"/>
            <a:ext cx="858520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FF3B3B"/>
                </a:solidFill>
              </a:rPr>
              <a:t>LANGUAGE</a:t>
            </a:r>
            <a:endParaRPr lang="en-US" sz="825" dirty="0"/>
          </a:p>
        </p:txBody>
      </p:sp>
      <p:sp>
        <p:nvSpPr>
          <p:cNvPr id="31" name="SK-18-text-30"/>
          <p:cNvSpPr/>
          <p:nvPr/>
        </p:nvSpPr>
        <p:spPr>
          <a:xfrm>
            <a:off x="1543050" y="3695700"/>
            <a:ext cx="412813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언어적 편향성 및 관점의 부재</a:t>
            </a:r>
            <a:endParaRPr lang="en-US" sz="1650" dirty="0"/>
          </a:p>
        </p:txBody>
      </p:sp>
      <p:sp>
        <p:nvSpPr>
          <p:cNvPr id="32" name="SK-18-text-31"/>
          <p:cNvSpPr/>
          <p:nvPr/>
        </p:nvSpPr>
        <p:spPr>
          <a:xfrm>
            <a:off x="762000" y="4038600"/>
            <a:ext cx="76200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영어권(US/Global) 매체 중심 수집으로 한국어·아랍어·중국어권 분석 배제</a:t>
            </a:r>
            <a:endParaRPr lang="en-US" sz="1125" dirty="0"/>
          </a:p>
        </p:txBody>
      </p:sp>
      <p:sp>
        <p:nvSpPr>
          <p:cNvPr id="33" name="SK-18-text-32"/>
          <p:cNvSpPr/>
          <p:nvPr/>
        </p:nvSpPr>
        <p:spPr>
          <a:xfrm>
            <a:off x="762000" y="4271963"/>
            <a:ext cx="67627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이해관계국 간의 미묘한 프레임 차이를 규명하기 위한 다국어 데이터 부족</a:t>
            </a:r>
            <a:endParaRPr lang="en-US" sz="1125" dirty="0"/>
          </a:p>
        </p:txBody>
      </p:sp>
      <p:sp>
        <p:nvSpPr>
          <p:cNvPr id="34" name="SK-18-text-33"/>
          <p:cNvSpPr/>
          <p:nvPr/>
        </p:nvSpPr>
        <p:spPr>
          <a:xfrm>
            <a:off x="838200" y="4631531"/>
            <a:ext cx="507626" cy="1952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8"/>
              </a:lnSpc>
              <a:buNone/>
            </a:pPr>
            <a:r>
              <a:rPr lang="en-US" sz="825" dirty="0">
                <a:solidFill>
                  <a:srgbClr val="FF3B3B"/>
                </a:solidFill>
              </a:rPr>
              <a:t>MODEL</a:t>
            </a:r>
            <a:endParaRPr lang="en-US" sz="825" dirty="0"/>
          </a:p>
        </p:txBody>
      </p:sp>
      <p:sp>
        <p:nvSpPr>
          <p:cNvPr id="35" name="SK-18-text-34"/>
          <p:cNvSpPr/>
          <p:nvPr/>
        </p:nvSpPr>
        <p:spPr>
          <a:xfrm>
            <a:off x="1343025" y="4572000"/>
            <a:ext cx="337375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기법의 고도화 미흡</a:t>
            </a:r>
            <a:endParaRPr lang="en-US" sz="1650" dirty="0"/>
          </a:p>
        </p:txBody>
      </p:sp>
      <p:sp>
        <p:nvSpPr>
          <p:cNvPr id="36" name="SK-18-text-35"/>
          <p:cNvSpPr/>
          <p:nvPr/>
        </p:nvSpPr>
        <p:spPr>
          <a:xfrm>
            <a:off x="762000" y="4914900"/>
            <a:ext cx="710565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논조의 정량화를 위한 감성 분석(Sentiment Analysis) 미수행</a:t>
            </a:r>
            <a:endParaRPr lang="en-US" sz="1125" dirty="0"/>
          </a:p>
        </p:txBody>
      </p:sp>
      <p:sp>
        <p:nvSpPr>
          <p:cNvPr id="37" name="SK-18-text-36"/>
          <p:cNvSpPr/>
          <p:nvPr/>
        </p:nvSpPr>
        <p:spPr>
          <a:xfrm>
            <a:off x="762000" y="5148263"/>
            <a:ext cx="69342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12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데이터의 희소성으로 인한 K-Means 실루엣 점수의 수치적 저하</a:t>
            </a:r>
            <a:endParaRPr lang="en-US" sz="1125" dirty="0"/>
          </a:p>
        </p:txBody>
      </p:sp>
      <p:sp>
        <p:nvSpPr>
          <p:cNvPr id="38" name="SK-18-text-37"/>
          <p:cNvSpPr/>
          <p:nvPr/>
        </p:nvSpPr>
        <p:spPr>
          <a:xfrm>
            <a:off x="7617172" y="1552575"/>
            <a:ext cx="2966085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b="1" kern="0" spc="54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FUTURE ROADMAP</a:t>
            </a:r>
            <a:endParaRPr lang="en-US" sz="1350" dirty="0"/>
          </a:p>
        </p:txBody>
      </p:sp>
      <p:sp>
        <p:nvSpPr>
          <p:cNvPr id="39" name="SK-18-text-38"/>
          <p:cNvSpPr/>
          <p:nvPr/>
        </p:nvSpPr>
        <p:spPr>
          <a:xfrm>
            <a:off x="7460010" y="1971675"/>
            <a:ext cx="40995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000FF"/>
                </a:solidFill>
              </a:rPr>
              <a:t>STEP 01. Sentiment Analytics</a:t>
            </a:r>
            <a:endParaRPr lang="en-US" sz="900" dirty="0"/>
          </a:p>
        </p:txBody>
      </p:sp>
      <p:sp>
        <p:nvSpPr>
          <p:cNvPr id="40" name="SK-18-text-39"/>
          <p:cNvSpPr/>
          <p:nvPr/>
        </p:nvSpPr>
        <p:spPr>
          <a:xfrm>
            <a:off x="7460010" y="2171700"/>
            <a:ext cx="386045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언론 논조 정량 분석</a:t>
            </a:r>
            <a:endParaRPr lang="en-US" sz="1275" dirty="0"/>
          </a:p>
        </p:txBody>
      </p:sp>
      <p:sp>
        <p:nvSpPr>
          <p:cNvPr id="41" name="SK-18-text-40"/>
          <p:cNvSpPr/>
          <p:nvPr/>
        </p:nvSpPr>
        <p:spPr>
          <a:xfrm>
            <a:off x="7460010" y="2443163"/>
            <a:ext cx="473199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VADER 및 BERT 기반 감성 분석을 통한 긍정·부정 프레임 시각화</a:t>
            </a:r>
            <a:endParaRPr lang="en-US" sz="975" dirty="0"/>
          </a:p>
        </p:txBody>
      </p:sp>
      <p:sp>
        <p:nvSpPr>
          <p:cNvPr id="42" name="SK-18-text-41"/>
          <p:cNvSpPr/>
          <p:nvPr/>
        </p:nvSpPr>
        <p:spPr>
          <a:xfrm>
            <a:off x="7517160" y="2664023"/>
            <a:ext cx="38100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BERT</a:t>
            </a:r>
            <a:endParaRPr lang="en-US" sz="750" dirty="0"/>
          </a:p>
        </p:txBody>
      </p:sp>
      <p:sp>
        <p:nvSpPr>
          <p:cNvPr id="43" name="SK-18-text-42"/>
          <p:cNvSpPr/>
          <p:nvPr/>
        </p:nvSpPr>
        <p:spPr>
          <a:xfrm>
            <a:off x="7917210" y="2664023"/>
            <a:ext cx="484414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VADER</a:t>
            </a:r>
            <a:endParaRPr lang="en-US" sz="750" dirty="0"/>
          </a:p>
        </p:txBody>
      </p:sp>
      <p:sp>
        <p:nvSpPr>
          <p:cNvPr id="44" name="SK-18-text-43"/>
          <p:cNvSpPr/>
          <p:nvPr/>
        </p:nvSpPr>
        <p:spPr>
          <a:xfrm>
            <a:off x="7460010" y="3035498"/>
            <a:ext cx="46482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000FF"/>
                </a:solidFill>
              </a:rPr>
              <a:t>STEP 02. Advanced Topic Modeling</a:t>
            </a:r>
            <a:endParaRPr lang="en-US" sz="900" dirty="0"/>
          </a:p>
        </p:txBody>
      </p:sp>
      <p:sp>
        <p:nvSpPr>
          <p:cNvPr id="45" name="SK-18-text-44"/>
          <p:cNvSpPr/>
          <p:nvPr/>
        </p:nvSpPr>
        <p:spPr>
          <a:xfrm>
            <a:off x="7460010" y="3235523"/>
            <a:ext cx="386045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 토픽 모델링 도입</a:t>
            </a:r>
            <a:endParaRPr lang="en-US" sz="1275" dirty="0"/>
          </a:p>
        </p:txBody>
      </p:sp>
      <p:sp>
        <p:nvSpPr>
          <p:cNvPr id="46" name="SK-18-text-45"/>
          <p:cNvSpPr/>
          <p:nvPr/>
        </p:nvSpPr>
        <p:spPr>
          <a:xfrm>
            <a:off x="7460010" y="3506986"/>
            <a:ext cx="473199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BERTopic 등 임베딩 기반 모델을 활용한 문맥 중심 토픽 클러스터링</a:t>
            </a:r>
            <a:endParaRPr lang="en-US" sz="975" dirty="0"/>
          </a:p>
        </p:txBody>
      </p:sp>
      <p:sp>
        <p:nvSpPr>
          <p:cNvPr id="47" name="SK-18-text-46"/>
          <p:cNvSpPr/>
          <p:nvPr/>
        </p:nvSpPr>
        <p:spPr>
          <a:xfrm>
            <a:off x="7517160" y="3727847"/>
            <a:ext cx="80772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BERTopic</a:t>
            </a:r>
            <a:endParaRPr lang="en-US" sz="750" dirty="0"/>
          </a:p>
        </p:txBody>
      </p:sp>
      <p:sp>
        <p:nvSpPr>
          <p:cNvPr id="48" name="SK-18-text-47"/>
          <p:cNvSpPr/>
          <p:nvPr/>
        </p:nvSpPr>
        <p:spPr>
          <a:xfrm>
            <a:off x="8145810" y="3727847"/>
            <a:ext cx="1140069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Transformer</a:t>
            </a:r>
            <a:endParaRPr lang="en-US" sz="750" dirty="0"/>
          </a:p>
        </p:txBody>
      </p:sp>
      <p:sp>
        <p:nvSpPr>
          <p:cNvPr id="49" name="SK-18-text-48"/>
          <p:cNvSpPr/>
          <p:nvPr/>
        </p:nvSpPr>
        <p:spPr>
          <a:xfrm>
            <a:off x="7460010" y="4099322"/>
            <a:ext cx="385569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000FF"/>
                </a:solidFill>
              </a:rPr>
              <a:t>STEP 03. Global Expansion</a:t>
            </a:r>
            <a:endParaRPr lang="en-US" sz="900" dirty="0"/>
          </a:p>
        </p:txBody>
      </p:sp>
      <p:sp>
        <p:nvSpPr>
          <p:cNvPr id="50" name="SK-18-text-49"/>
          <p:cNvSpPr/>
          <p:nvPr/>
        </p:nvSpPr>
        <p:spPr>
          <a:xfrm>
            <a:off x="7460010" y="4299347"/>
            <a:ext cx="386045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다국어 교차 분석</a:t>
            </a:r>
            <a:endParaRPr lang="en-US" sz="1275" dirty="0"/>
          </a:p>
        </p:txBody>
      </p:sp>
      <p:sp>
        <p:nvSpPr>
          <p:cNvPr id="51" name="SK-18-text-50"/>
          <p:cNvSpPr/>
          <p:nvPr/>
        </p:nvSpPr>
        <p:spPr>
          <a:xfrm>
            <a:off x="7460010" y="4570809"/>
            <a:ext cx="4731990" cy="1732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아랍어·중국어 언론 통합 분석을 통한 지정학적 이해관계 다각도 비교</a:t>
            </a:r>
            <a:endParaRPr lang="en-US" sz="975" dirty="0"/>
          </a:p>
        </p:txBody>
      </p:sp>
      <p:sp>
        <p:nvSpPr>
          <p:cNvPr id="52" name="SK-18-text-51"/>
          <p:cNvSpPr/>
          <p:nvPr/>
        </p:nvSpPr>
        <p:spPr>
          <a:xfrm>
            <a:off x="7517160" y="4791670"/>
            <a:ext cx="28194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NMT</a:t>
            </a:r>
            <a:endParaRPr lang="en-US" sz="750" dirty="0"/>
          </a:p>
        </p:txBody>
      </p:sp>
      <p:sp>
        <p:nvSpPr>
          <p:cNvPr id="53" name="SK-18-text-52"/>
          <p:cNvSpPr/>
          <p:nvPr/>
        </p:nvSpPr>
        <p:spPr>
          <a:xfrm>
            <a:off x="7860060" y="4791670"/>
            <a:ext cx="136398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Cross-Lingual</a:t>
            </a:r>
            <a:endParaRPr lang="en-US" sz="750" dirty="0"/>
          </a:p>
        </p:txBody>
      </p:sp>
      <p:sp>
        <p:nvSpPr>
          <p:cNvPr id="54" name="SK-18-text-53"/>
          <p:cNvSpPr/>
          <p:nvPr/>
        </p:nvSpPr>
        <p:spPr>
          <a:xfrm>
            <a:off x="7460010" y="5163145"/>
            <a:ext cx="385569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dirty="0">
                <a:solidFill>
                  <a:srgbClr val="7000FF"/>
                </a:solidFill>
              </a:rPr>
              <a:t>STEP 04. Automation</a:t>
            </a:r>
            <a:endParaRPr lang="en-US" sz="900" dirty="0"/>
          </a:p>
        </p:txBody>
      </p:sp>
      <p:sp>
        <p:nvSpPr>
          <p:cNvPr id="55" name="SK-18-text-54"/>
          <p:cNvSpPr/>
          <p:nvPr/>
        </p:nvSpPr>
        <p:spPr>
          <a:xfrm>
            <a:off x="7460010" y="5363170"/>
            <a:ext cx="3860453" cy="242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모니터링 시스템</a:t>
            </a:r>
            <a:endParaRPr lang="en-US" sz="1275" dirty="0"/>
          </a:p>
        </p:txBody>
      </p:sp>
      <p:sp>
        <p:nvSpPr>
          <p:cNvPr id="56" name="SK-18-text-55"/>
          <p:cNvSpPr/>
          <p:nvPr/>
        </p:nvSpPr>
        <p:spPr>
          <a:xfrm>
            <a:off x="7460010" y="5634633"/>
            <a:ext cx="3779490" cy="346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5"/>
              </a:lnSpc>
              <a:buNone/>
            </a:pPr>
            <a:r>
              <a:rPr lang="en-US" sz="975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파이프라인 자동화 및 지속 업데이트 가능한 리스크 대시보드 구축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3404</Words>
  <Application>Microsoft Office PowerPoint</Application>
  <PresentationFormat>와이드스크린</PresentationFormat>
  <Paragraphs>442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Arial</vt:lpstr>
      <vt:lpstr>맑은 고딕</vt:lpstr>
      <vt:lpstr>Wingdings</vt:lpstr>
      <vt:lpstr>Noto Sans KR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태하 황</cp:lastModifiedBy>
  <cp:revision>49</cp:revision>
  <dcterms:created xsi:type="dcterms:W3CDTF">2026-06-06T08:09:59Z</dcterms:created>
  <dcterms:modified xsi:type="dcterms:W3CDTF">2026-06-07T09:13:01Z</dcterms:modified>
</cp:coreProperties>
</file>